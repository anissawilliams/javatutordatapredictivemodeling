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74" r:id="rId10"/>
    <p:sldId id="265" r:id="rId11"/>
    <p:sldId id="263" r:id="rId12"/>
    <p:sldId id="271" r:id="rId13"/>
    <p:sldId id="270" r:id="rId14"/>
    <p:sldId id="272" r:id="rId15"/>
    <p:sldId id="273" r:id="rId16"/>
    <p:sldId id="266" r:id="rId17"/>
    <p:sldId id="267" r:id="rId18"/>
    <p:sldId id="268" r:id="rId19"/>
    <p:sldId id="275" r:id="rId20"/>
    <p:sldId id="269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A88D"/>
    <a:srgbClr val="7A9E82"/>
    <a:srgbClr val="3D6B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6110"/>
    <p:restoredTop sz="94610"/>
  </p:normalViewPr>
  <p:slideViewPr>
    <p:cSldViewPr snapToGrid="0" snapToObjects="1">
      <p:cViewPr>
        <p:scale>
          <a:sx n="133" d="100"/>
          <a:sy n="133" d="100"/>
        </p:scale>
        <p:origin x="12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36181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/>
              <a:t>What if we could have a strong prediction of whether we would pass or struggle - before even taking a quiz? </a:t>
            </a:r>
          </a:p>
          <a:p>
            <a:pPr>
              <a:lnSpc>
                <a:spcPts val="1400"/>
              </a:lnSpc>
            </a:pPr>
            <a:endParaRPr lang="en-US" sz="1200" dirty="0"/>
          </a:p>
          <a:p>
            <a:pPr>
              <a:lnSpc>
                <a:spcPts val="1400"/>
              </a:lnSpc>
            </a:pPr>
            <a:endParaRPr lang="en-US" sz="1200" dirty="0"/>
          </a:p>
          <a:p>
            <a:pPr>
              <a:lnSpc>
                <a:spcPts val="1400"/>
              </a:lnSpc>
            </a:pPr>
            <a:endParaRPr lang="en-US" sz="1200" dirty="0"/>
          </a:p>
          <a:p>
            <a:pPr>
              <a:lnSpc>
                <a:spcPts val="1400"/>
              </a:lnSpc>
            </a:pPr>
            <a:r>
              <a:rPr lang="en-US" sz="1200" dirty="0"/>
              <a:t>Welcome everyone.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My name is Anissa Williams and today I'm presenting my machine learning project for this course.</a:t>
            </a:r>
          </a:p>
          <a:p>
            <a:pPr>
              <a:lnSpc>
                <a:spcPts val="1400"/>
              </a:lnSpc>
            </a:pPr>
            <a:endParaRPr lang="en-US" sz="1200" dirty="0"/>
          </a:p>
          <a:p>
            <a:pPr>
              <a:lnSpc>
                <a:spcPts val="1400"/>
              </a:lnSpc>
            </a:pPr>
            <a:endParaRPr lang="en-US" sz="1200" dirty="0"/>
          </a:p>
          <a:p>
            <a:pPr>
              <a:lnSpc>
                <a:spcPts val="1400"/>
              </a:lnSpc>
            </a:pPr>
            <a:r>
              <a:rPr lang="en-US" sz="1200" dirty="0"/>
              <a:t>The core question I set out to answer: can we predict whether a student will pass or struggle — before we even see their quiz score — just from how they interacted with an AI tutor?.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00"/>
              </a:lnSpc>
            </a:pPr>
            <a:r>
              <a:rPr lang="en-US" sz="1200" dirty="0"/>
              <a:t>This semester, as part of a separate research study, I built an AI Java tutor and ran it with real students here at CofC.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Those sessions generated 28,600 lines of raw JSON interaction logs.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Each line captures a message, a timestamp, a response latency.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The question I brought to this ML class was: is there a learnable signal in that data? Can a machine find patterns in behavior that predict learning outcomes? No prior work has applied ML to this kind of controlled AI tutor study.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So this is genuinely new ground.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00"/>
              </a:lnSpc>
            </a:pPr>
            <a:r>
              <a:rPr lang="en-US" sz="1200" dirty="0"/>
              <a:t>Four objectives.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First — predict whether a student passes or struggles using only session-level behavioral features.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Second — engineer meaningful features from raw logs.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Third — compare four classifiers.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And fourth — identify which features actually drive predictions.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The last one turned out to be the most interesting part.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00"/>
              </a:lnSpc>
            </a:pPr>
            <a:r>
              <a:rPr lang="en-US" sz="1200" dirty="0"/>
              <a:t>104 sessions, 52 students, 2 topics — ArrayList and Recursion — across 3 instructional conditions.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One important preprocessing decision I made: I filtered to sessions where students completed both topics and had quiz data.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That brought us from roughly 136 sessions down to 104.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This filter is called has_both equals True and it's critical — without it you're training on incomplete records.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The target variable is quiz score binarized at 70 percent.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55 low performers, 49 high performers — a reasonably balanced split.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00"/>
              </a:lnSpc>
            </a:pPr>
            <a:r>
              <a:rPr lang="en-US" sz="1200" dirty="0"/>
              <a:t>The data was collected from a live controlled study — not a Kaggle dataset.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Every interaction log was generated by real CofC students this semester.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The system logged full message transcripts, timestamps, response latencies, and quiz responses with difficulty levels.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One honest challenge: small N of 104 and slight class imbalance.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I addressed both with stratified splits and 5-fold cross-validation to preserve class balance across every fold.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00"/>
              </a:lnSpc>
            </a:pPr>
            <a:r>
              <a:rPr lang="en-US" sz="1200" dirty="0"/>
              <a:t>This is where 28,600 lines of raw JSON became something usable.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I engineered features across three categories: message counts, response timing, and pacing and session metadata.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One important analytical decision: I identified that the difficulty-weighted features — avg_difficulty_correct and avg_difficulty_incorrect — were derived from quiz responses, which created potential data leakage.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Including quiz-adjacent features to predict quiz scores isn't clean science.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So I ran two analyses: one with all 16 features to explore the full signal, and a refined 5-feature behavioral-only model that avoids leakage entirely.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00"/>
              </a:lnSpc>
            </a:pPr>
            <a:r>
              <a:rPr lang="en-US" sz="1200" dirty="0"/>
              <a:t>Four models, all standard classifiers.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Logistic Regression as the linear baseline.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Random Forest for nonlinear interactions and feature importance.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Gradient Boosting which tends to excel on tabular data.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And SVM with RBF kernel which handles small datasets well.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Stratified 5-fold cross-validation throughout — critical with N equals 104.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Evaluation metrics: accuracy, weighted F1, AUC-ROC, and confusion matrices.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00"/>
              </a:lnSpc>
            </a:pPr>
            <a:r>
              <a:rPr lang="en-US" sz="1200" dirty="0"/>
              <a:t>Looking at the confusion matrices tells the real story.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Gradient Boosting catches 9 of 10 high performers — 90 percent recall — with only 1 miss.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In a tutoring context that matters enormously.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Missing a struggling student is far more costly than a false alarm.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SVM by contrast is conservative — strong at catching struggling students but only identified 3 of 10 high performers.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Logistic Regression and Random Forest are more balanced.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The borderline error zone is the 60 to 75 percent quiz range — students near the decision boundary are hardest to classify regardless of model.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92AD3-5ECF-0DAE-FF6E-64E38B62C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AC36E3-3037-F040-4247-C99D964B36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59F065D-F078-B716-46D0-7072D85B83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00"/>
              </a:lnSpc>
            </a:pPr>
            <a:r>
              <a:rPr lang="en-US" sz="1200" dirty="0"/>
              <a:t>Two interpretability methods, same conclusion.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Random Forest Gini importance on all 16 features and SHAP analysis on the 5-feature behavioral set both point to duration and session engagement as the top drivers.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That convergence matters — it's not an artifact of one method.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It tells us the signal is real.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The key insight: how students interact — their pacing, timing, cognitive effort — predicts outcomes as much as what they actually get right.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A69840-A687-BCDE-8618-E597AFB269C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2909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00"/>
              </a:lnSpc>
            </a:pPr>
            <a:r>
              <a:rPr lang="en-US" sz="1200" dirty="0"/>
              <a:t>Two interpretability methods, same conclusion.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Random Forest Gini importance on all 16 features and SHAP analysis on the 5-feature behavioral set both point to duration and session engagement as the top drivers.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That convergence matters — it's not an artifact of one method.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It tells us the signal is real.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The key insight: how students interact — their pacing, timing, cognitive effort — predicts outcomes as much as what they actually get right.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00"/>
              </a:lnSpc>
            </a:pPr>
            <a:r>
              <a:rPr lang="en-US" sz="1200" dirty="0"/>
              <a:t>Gradient Boosting won on the full 16-feature set — 0.78 test accuracy and 0.87 AUC-ROC.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But I want to flag two things.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First, those results include difficulty features which are quiz-adjacent — so some of that performance is leakage.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Second, I swapped min_response_time for avg_response_time after discovering that sustained behavioral patterns across a session are more predictive than a single peak moment.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That feature swap alone improved CV accuracy.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The cleaner result — the one I trust more — comes from the 5-feature behavioral model on the next slides.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7BE00-1C6E-53D9-A961-A0D4ACFBB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8CC9BA-9763-8BCB-6667-559824F48A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983C85-7336-FBAA-7860-F2619E97C1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00"/>
              </a:lnSpc>
            </a:pPr>
            <a:r>
              <a:rPr lang="en-US" sz="1200" dirty="0"/>
              <a:t>Gradient Boosting won on the full 16-feature set — 0.78 test accuracy and 0.87 AUC-ROC.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But I want to flag two things.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First, those results include difficulty features which are quiz-adjacent — so some of that performance is leakage.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Second, I swapped min_response_time for avg_response_time after discovering that sustained behavioral patterns across a session are more predictive than a single peak moment.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That feature swap alone improved CV accuracy.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The cleaner result — the one I trust more — comes from the 5-feature behavioral model on the next slides.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058D62-9F2A-7741-9495-9295921F0C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2078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0F8C2-BBB3-3C24-6482-BD760D1D7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32AFB4-E48E-2EC0-E1E8-7C9B9A9371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C564C7-2BFA-54A3-C0EB-2155A29366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00"/>
              </a:lnSpc>
            </a:pPr>
            <a:r>
              <a:rPr lang="en-US" sz="1200" dirty="0"/>
              <a:t>This is the ablation study — and this is where I caught the data leakage.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When I systematically removed the difficulty-weighted features, tree-based models dropped hard.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Gradient Boosting fell from minus 0.14 to minus 0.29.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Random Forest similar.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But Logistic Regression and SVM actually improved slightly without them.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That asymmetry revealed that tree models were exploiting the quiz-adjacent features heavily.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Linear and kernel models were finding real behavioral signal.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This confirmed my decision to run the clean 5-feature behavioral model — and it's why SVM, not Gradient Boosting, is the more defensible result for pure behavioral prediction.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2052CA-9EB7-807F-C541-3391A9ABB3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5995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28B005-B23E-08FB-98C1-95FEDA2DAF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95AAB8-8FE3-2F63-8445-768018224B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833FD2-9F93-B5DC-D611-25A7600586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00"/>
              </a:lnSpc>
            </a:pPr>
            <a:r>
              <a:rPr lang="en-US" sz="1200" dirty="0"/>
              <a:t>This is the ablation study — and this is where I caught the data leakage.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When I systematically removed the difficulty-weighted features, tree-based models dropped hard.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Gradient Boosting fell from minus 0.14 to minus 0.29.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Random Forest similar.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But Logistic Regression and SVM actually improved slightly without them.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That asymmetry revealed that tree models were exploiting the quiz-adjacent features heavily.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Linear and kernel models were finding real behavioral signal.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This confirmed my decision to run the clean 5-feature behavioral model — and it's why SVM, not Gradient Boosting, is the more defensible result for pure behavioral prediction.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0A5351-F46B-35EA-5F26-138B080AEA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8929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D138C-AD12-8F3B-5D9C-9E1CF470E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69B596-06D6-2B99-56E6-1D690289FA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BA529D-3EAF-F07D-F445-B4DD756526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00"/>
              </a:lnSpc>
            </a:pPr>
            <a:r>
              <a:rPr lang="en-US" sz="1200" dirty="0"/>
              <a:t>Two interpretability methods, same conclusion.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Random Forest Gini importance on all 16 features and SHAP analysis on the 5-feature behavioral set both point to duration and session engagement as the top drivers.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That convergence matters — it's not an artifact of one method.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It tells us the signal is real.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The key insight: how students interact — their pacing, timing, cognitive effort — predicts outcomes as much as what they actually get right.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524C56-63B6-5CCE-D4C5-62242D6606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16692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00"/>
              </a:lnSpc>
            </a:pPr>
            <a:r>
              <a:rPr lang="en-US" sz="1200" dirty="0"/>
              <a:t>This is the ablation study — and this is where I caught the data leakage.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When I systematically removed the difficulty-weighted features, tree-based models dropped hard.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Gradient Boosting fell from minus 0.14 to minus 0.29.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Random Forest similar.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But Logistic Regression and SVM actually improved slightly without them.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That asymmetry revealed that tree models were exploiting the quiz-adjacent features heavily.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Linear and kernel models were finding real behavioral signal.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This confirmed my decision to run the clean 5-feature behavioral model — and it's why SVM, not Gradient Boosting, is the more defensible result for pure behavioral prediction.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00"/>
              </a:lnSpc>
            </a:pPr>
            <a:r>
              <a:rPr lang="en-US" sz="1200" dirty="0"/>
              <a:t>Four things make this project unique.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First — this is primary data from a real IRB-informed study with live CofC students.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Not a benchmark dataset.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Second — we demonstrated that behavioral traces from live sessions can predict learning outcomes without any grade data.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Third — the ablation study isolated which feature categories actually drive each model type.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And fourth — the practical implication is real: with 5 bare-bones behavioral features logged automatically by any LMS, you can flag at-risk students during or right after a session, before you ever see a quiz score.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00"/>
              </a:lnSpc>
            </a:pPr>
            <a:r>
              <a:rPr lang="en-US" sz="1200" dirty="0"/>
              <a:t>Three takeaways.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One — 28,600 lines of raw interaction logs from real students reliably predict quiz performance.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The behavioral fingerprint of scaffolded learning is not just observable, it's predictable.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Two — Gradient Boosting achieves 0.78 accuracy and 0.87 AUC on the full feature set.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Three — when we strip to 5 clean behavioral features, SVM achieves 68 percent CV accuracy and 0.764 AUC — honest generalization with no leakage.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Future direction I'm most excited about: sequence models like LSTMs that capture the temporal order of interactions, not just aggregate statistics.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BA5F6-798B-B758-E68F-008EB08940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DEE526-2868-B9A2-9BC4-BF29DA548F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D8DE3A-DEC6-409F-3E3D-E1BAE9C810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00"/>
              </a:lnSpc>
            </a:pPr>
            <a:r>
              <a:rPr lang="en-US" sz="1200" dirty="0"/>
              <a:t>Three takeaways.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One — 28,600 lines of raw interaction logs from real students reliably predict quiz performance.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The behavioral fingerprint of scaffolded learning is not just observable, it's predictable.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Two — Gradient Boosting achieves 0.78 accuracy and 0.87 AUC on the full feature set.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Three — when we strip to 5 clean behavioral features, SVM achieves 68 percent CV accuracy and 0.764 AUC — honest generalization with no leakage.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Future direction I'm most excited about: sequence models like LSTMs that capture the temporal order of interactions, not just aggregate statistics.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331C00-03D3-4B2F-8FC8-C78A724D70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179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1400"/>
              </a:lnSpc>
            </a:pPr>
            <a:r>
              <a:rPr lang="en-US" sz="1200" dirty="0"/>
              <a:t>Thank you.</a:t>
            </a:r>
          </a:p>
          <a:p>
            <a:pPr>
              <a:lnSpc>
                <a:spcPts val="1400"/>
              </a:lnSpc>
            </a:pPr>
            <a:r>
              <a:rPr lang="en-US" sz="1200" dirty="0"/>
              <a:t>Happy to take questions on the methodology, the feature engineering decisions, the data leakage discovery, or the implications for real-time adaptive tutoring.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svg"/><Relationship Id="rId5" Type="http://schemas.openxmlformats.org/officeDocument/2006/relationships/image" Target="../media/image18.svg"/><Relationship Id="rId4" Type="http://schemas.openxmlformats.org/officeDocument/2006/relationships/image" Target="../media/image17.svg"/><Relationship Id="rId9" Type="http://schemas.openxmlformats.org/officeDocument/2006/relationships/image" Target="../media/image22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svg"/><Relationship Id="rId3" Type="http://schemas.openxmlformats.org/officeDocument/2006/relationships/image" Target="../media/image23.svg"/><Relationship Id="rId7" Type="http://schemas.openxmlformats.org/officeDocument/2006/relationships/image" Target="../media/image27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svg"/><Relationship Id="rId3" Type="http://schemas.openxmlformats.org/officeDocument/2006/relationships/image" Target="../media/image29.sv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svg"/><Relationship Id="rId11" Type="http://schemas.openxmlformats.org/officeDocument/2006/relationships/image" Target="../media/image37.svg"/><Relationship Id="rId5" Type="http://schemas.openxmlformats.org/officeDocument/2006/relationships/image" Target="../media/image31.svg"/><Relationship Id="rId10" Type="http://schemas.openxmlformats.org/officeDocument/2006/relationships/image" Target="../media/image36.svg"/><Relationship Id="rId4" Type="http://schemas.openxmlformats.org/officeDocument/2006/relationships/image" Target="../media/image30.svg"/><Relationship Id="rId9" Type="http://schemas.openxmlformats.org/officeDocument/2006/relationships/image" Target="../media/image35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svg"/><Relationship Id="rId7" Type="http://schemas.openxmlformats.org/officeDocument/2006/relationships/image" Target="../media/image4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1.svg"/><Relationship Id="rId11" Type="http://schemas.openxmlformats.org/officeDocument/2006/relationships/image" Target="../media/image46.png"/><Relationship Id="rId5" Type="http://schemas.openxmlformats.org/officeDocument/2006/relationships/image" Target="../media/image40.svg"/><Relationship Id="rId10" Type="http://schemas.openxmlformats.org/officeDocument/2006/relationships/image" Target="../media/image45.png"/><Relationship Id="rId4" Type="http://schemas.openxmlformats.org/officeDocument/2006/relationships/image" Target="../media/image39.svg"/><Relationship Id="rId9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5.png"/><Relationship Id="rId4" Type="http://schemas.openxmlformats.org/officeDocument/2006/relationships/image" Target="../media/image52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svg"/><Relationship Id="rId4" Type="http://schemas.openxmlformats.org/officeDocument/2006/relationships/image" Target="../media/image57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svg"/><Relationship Id="rId5" Type="http://schemas.openxmlformats.org/officeDocument/2006/relationships/image" Target="../media/image59.png"/><Relationship Id="rId4" Type="http://schemas.openxmlformats.org/officeDocument/2006/relationships/image" Target="../media/image57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47.svg"/><Relationship Id="rId4" Type="http://schemas.openxmlformats.org/officeDocument/2006/relationships/image" Target="../media/image61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8.svg"/><Relationship Id="rId5" Type="http://schemas.openxmlformats.org/officeDocument/2006/relationships/image" Target="../media/image59.png"/><Relationship Id="rId4" Type="http://schemas.openxmlformats.org/officeDocument/2006/relationships/image" Target="../media/image57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svg"/><Relationship Id="rId5" Type="http://schemas.openxmlformats.org/officeDocument/2006/relationships/image" Target="../media/image65.svg"/><Relationship Id="rId4" Type="http://schemas.openxmlformats.org/officeDocument/2006/relationships/image" Target="../media/image64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svg"/><Relationship Id="rId5" Type="http://schemas.openxmlformats.org/officeDocument/2006/relationships/image" Target="../media/image69.svg"/><Relationship Id="rId4" Type="http://schemas.openxmlformats.org/officeDocument/2006/relationships/image" Target="../media/image68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svg"/><Relationship Id="rId5" Type="http://schemas.openxmlformats.org/officeDocument/2006/relationships/image" Target="../media/image69.svg"/><Relationship Id="rId4" Type="http://schemas.openxmlformats.org/officeDocument/2006/relationships/image" Target="../media/image68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4.png"/><Relationship Id="rId5" Type="http://schemas.openxmlformats.org/officeDocument/2006/relationships/image" Target="../media/image73.svg"/><Relationship Id="rId4" Type="http://schemas.openxmlformats.org/officeDocument/2006/relationships/image" Target="../media/image7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5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4188" b="4188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2B5233">
                  <a:alpha val="94000"/>
                </a:srgbClr>
              </a:gs>
              <a:gs pos="40000">
                <a:srgbClr val="2B5233">
                  <a:alpha val="88000"/>
                </a:srgbClr>
              </a:gs>
              <a:gs pos="70000">
                <a:srgbClr val="2B5233">
                  <a:alpha val="82000"/>
                </a:srgbClr>
              </a:gs>
              <a:gs pos="100000">
                <a:srgbClr val="2B5233">
                  <a:alpha val="75000"/>
                </a:srgbClr>
              </a:gs>
            </a:gsLst>
            <a:lin ang="420000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74778" y="1337518"/>
            <a:ext cx="150465" cy="15046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96693" y="1337518"/>
            <a:ext cx="150465" cy="150465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>
            <a:alphaModFix amt="5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18608" y="1337518"/>
            <a:ext cx="150465" cy="150465"/>
          </a:xfrm>
          <a:prstGeom prst="rect">
            <a:avLst/>
          </a:prstGeom>
        </p:spPr>
      </p:pic>
      <p:sp>
        <p:nvSpPr>
          <p:cNvPr id="7" name="Text 1"/>
          <p:cNvSpPr/>
          <p:nvPr/>
        </p:nvSpPr>
        <p:spPr>
          <a:xfrm>
            <a:off x="4286250" y="1745754"/>
            <a:ext cx="571500" cy="29170"/>
          </a:xfrm>
          <a:prstGeom prst="roundRect">
            <a:avLst>
              <a:gd name="adj" fmla="val 47892"/>
            </a:avLst>
          </a:prstGeom>
          <a:solidFill>
            <a:srgbClr val="BC900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2"/>
          <p:cNvSpPr/>
          <p:nvPr/>
        </p:nvSpPr>
        <p:spPr>
          <a:xfrm>
            <a:off x="928688" y="2060674"/>
            <a:ext cx="7286625" cy="1140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2"/>
              </a:lnSpc>
              <a:spcAft>
                <a:spcPts val="1800"/>
              </a:spcAft>
              <a:buNone/>
            </a:pPr>
            <a:r>
              <a:rPr lang="en-US" sz="2480" b="1" kern="0" spc="-3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Predicting Performance from Real-World </a:t>
            </a:r>
          </a:p>
          <a:p>
            <a:pPr marL="0" indent="0" algn="ctr">
              <a:lnSpc>
                <a:spcPts val="2852"/>
              </a:lnSpc>
              <a:spcAft>
                <a:spcPts val="1800"/>
              </a:spcAft>
              <a:buNone/>
            </a:pPr>
            <a:r>
              <a:rPr lang="en-US" sz="2480" b="1" kern="0" spc="-3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AI-Tutor Interaction Logs</a:t>
            </a:r>
            <a:endParaRPr lang="en-US" sz="2480" dirty="0"/>
          </a:p>
        </p:txBody>
      </p:sp>
      <p:sp>
        <p:nvSpPr>
          <p:cNvPr id="9" name="Text 3"/>
          <p:cNvSpPr/>
          <p:nvPr/>
        </p:nvSpPr>
        <p:spPr>
          <a:xfrm>
            <a:off x="2021378" y="3375571"/>
            <a:ext cx="5101245" cy="451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695"/>
              </a:lnSpc>
              <a:buNone/>
            </a:pPr>
            <a:r>
              <a:rPr lang="en-US" sz="1130" kern="0" spc="2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Anissa Williams  —  MS Data Science &amp; Analytics, College of Charleston  —  2026</a:t>
            </a:r>
            <a:endParaRPr lang="en-US" sz="1130" dirty="0"/>
          </a:p>
        </p:txBody>
      </p:sp>
      <p:sp>
        <p:nvSpPr>
          <p:cNvPr id="10" name="Text 4"/>
          <p:cNvSpPr/>
          <p:nvPr/>
        </p:nvSpPr>
        <p:spPr>
          <a:xfrm>
            <a:off x="8896350" y="4572000"/>
            <a:ext cx="19050" cy="342900"/>
          </a:xfrm>
          <a:prstGeom prst="rect">
            <a:avLst/>
          </a:prstGeom>
          <a:solidFill>
            <a:srgbClr val="BC900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5"/>
          <p:cNvSpPr/>
          <p:nvPr/>
        </p:nvSpPr>
        <p:spPr>
          <a:xfrm>
            <a:off x="0" y="5114330"/>
            <a:ext cx="9144000" cy="29170"/>
          </a:xfrm>
          <a:prstGeom prst="rect">
            <a:avLst/>
          </a:prstGeom>
          <a:gradFill rotWithShape="1">
            <a:gsLst>
              <a:gs pos="0">
                <a:srgbClr val="BC9000"/>
              </a:gs>
              <a:gs pos="50000">
                <a:srgbClr val="BC9000"/>
              </a:gs>
              <a:gs pos="100000">
                <a:srgbClr val="BC900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0492"/>
    </mc:Choice>
    <mc:Fallback>
      <p:transition spd="slow" advTm="3049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B5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2286000" cy="2428280"/>
          </a:xfrm>
          <a:prstGeom prst="rect">
            <a:avLst/>
          </a:prstGeom>
          <a:gradFill rotWithShape="1">
            <a:gsLst>
              <a:gs pos="0">
                <a:srgbClr val="BC9000">
                  <a:alpha val="6000"/>
                </a:srgbClr>
              </a:gs>
              <a:gs pos="70000">
                <a:srgbClr val="1A1A1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5121920"/>
            <a:ext cx="9144000" cy="21580"/>
          </a:xfrm>
          <a:prstGeom prst="rect">
            <a:avLst/>
          </a:prstGeom>
          <a:gradFill rotWithShape="1">
            <a:gsLst>
              <a:gs pos="0">
                <a:srgbClr val="BC9000"/>
              </a:gs>
              <a:gs pos="60000">
                <a:srgbClr val="1A1A1A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23875" y="1353889"/>
            <a:ext cx="29170" cy="1037034"/>
          </a:xfrm>
          <a:custGeom>
            <a:avLst/>
            <a:gdLst/>
            <a:ahLst/>
            <a:cxnLst/>
            <a:rect l="l" t="t" r="r" b="b"/>
            <a:pathLst>
              <a:path w="29170" h="1037034">
                <a:moveTo>
                  <a:pt x="0" y="114300"/>
                </a:moveTo>
                <a:lnTo>
                  <a:pt x="3646" y="85660"/>
                </a:lnTo>
                <a:lnTo>
                  <a:pt x="7293" y="74127"/>
                </a:lnTo>
                <a:lnTo>
                  <a:pt x="10939" y="65505"/>
                </a:lnTo>
                <a:lnTo>
                  <a:pt x="14585" y="58430"/>
                </a:lnTo>
                <a:lnTo>
                  <a:pt x="18231" y="52370"/>
                </a:lnTo>
                <a:lnTo>
                  <a:pt x="21878" y="47050"/>
                </a:lnTo>
                <a:lnTo>
                  <a:pt x="25524" y="42305"/>
                </a:lnTo>
                <a:lnTo>
                  <a:pt x="29170" y="38028"/>
                </a:lnTo>
                <a:lnTo>
                  <a:pt x="29170" y="999006"/>
                </a:lnTo>
                <a:lnTo>
                  <a:pt x="25524" y="994730"/>
                </a:lnTo>
                <a:lnTo>
                  <a:pt x="21878" y="989985"/>
                </a:lnTo>
                <a:lnTo>
                  <a:pt x="18231" y="984664"/>
                </a:lnTo>
                <a:lnTo>
                  <a:pt x="14585" y="978604"/>
                </a:lnTo>
                <a:lnTo>
                  <a:pt x="10939" y="971530"/>
                </a:lnTo>
                <a:lnTo>
                  <a:pt x="7293" y="962908"/>
                </a:lnTo>
                <a:lnTo>
                  <a:pt x="3646" y="951374"/>
                </a:lnTo>
                <a:lnTo>
                  <a:pt x="0" y="922734"/>
                </a:lnTo>
                <a:close/>
              </a:path>
            </a:pathLst>
          </a:custGeom>
          <a:solidFill>
            <a:srgbClr val="BC900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23875" y="2553444"/>
            <a:ext cx="29170" cy="857250"/>
          </a:xfrm>
          <a:custGeom>
            <a:avLst/>
            <a:gdLst/>
            <a:ahLst/>
            <a:cxnLst/>
            <a:rect l="l" t="t" r="r" b="b"/>
            <a:pathLst>
              <a:path w="29170" h="857250">
                <a:moveTo>
                  <a:pt x="0" y="114300"/>
                </a:moveTo>
                <a:lnTo>
                  <a:pt x="3646" y="85660"/>
                </a:lnTo>
                <a:lnTo>
                  <a:pt x="7293" y="74127"/>
                </a:lnTo>
                <a:lnTo>
                  <a:pt x="10939" y="65505"/>
                </a:lnTo>
                <a:lnTo>
                  <a:pt x="14585" y="58430"/>
                </a:lnTo>
                <a:lnTo>
                  <a:pt x="18231" y="52370"/>
                </a:lnTo>
                <a:lnTo>
                  <a:pt x="21878" y="47050"/>
                </a:lnTo>
                <a:lnTo>
                  <a:pt x="25524" y="42305"/>
                </a:lnTo>
                <a:lnTo>
                  <a:pt x="29170" y="38028"/>
                </a:lnTo>
                <a:lnTo>
                  <a:pt x="29170" y="819222"/>
                </a:lnTo>
                <a:lnTo>
                  <a:pt x="25524" y="814945"/>
                </a:lnTo>
                <a:lnTo>
                  <a:pt x="21878" y="810200"/>
                </a:lnTo>
                <a:lnTo>
                  <a:pt x="18231" y="804880"/>
                </a:lnTo>
                <a:lnTo>
                  <a:pt x="14585" y="798820"/>
                </a:lnTo>
                <a:lnTo>
                  <a:pt x="10939" y="791745"/>
                </a:lnTo>
                <a:lnTo>
                  <a:pt x="7293" y="783123"/>
                </a:lnTo>
                <a:lnTo>
                  <a:pt x="3646" y="771590"/>
                </a:lnTo>
                <a:lnTo>
                  <a:pt x="0" y="742950"/>
                </a:lnTo>
                <a:close/>
              </a:path>
            </a:pathLst>
          </a:custGeom>
          <a:solidFill>
            <a:srgbClr val="BC900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23875" y="3573214"/>
            <a:ext cx="29170" cy="857250"/>
          </a:xfrm>
          <a:custGeom>
            <a:avLst/>
            <a:gdLst/>
            <a:ahLst/>
            <a:cxnLst/>
            <a:rect l="l" t="t" r="r" b="b"/>
            <a:pathLst>
              <a:path w="29170" h="857250">
                <a:moveTo>
                  <a:pt x="0" y="114300"/>
                </a:moveTo>
                <a:lnTo>
                  <a:pt x="3646" y="85660"/>
                </a:lnTo>
                <a:lnTo>
                  <a:pt x="7293" y="74127"/>
                </a:lnTo>
                <a:lnTo>
                  <a:pt x="10939" y="65505"/>
                </a:lnTo>
                <a:lnTo>
                  <a:pt x="14585" y="58430"/>
                </a:lnTo>
                <a:lnTo>
                  <a:pt x="18231" y="52370"/>
                </a:lnTo>
                <a:lnTo>
                  <a:pt x="21878" y="47050"/>
                </a:lnTo>
                <a:lnTo>
                  <a:pt x="25524" y="42305"/>
                </a:lnTo>
                <a:lnTo>
                  <a:pt x="29170" y="38028"/>
                </a:lnTo>
                <a:lnTo>
                  <a:pt x="29170" y="819222"/>
                </a:lnTo>
                <a:lnTo>
                  <a:pt x="25524" y="814945"/>
                </a:lnTo>
                <a:lnTo>
                  <a:pt x="21878" y="810200"/>
                </a:lnTo>
                <a:lnTo>
                  <a:pt x="18231" y="804880"/>
                </a:lnTo>
                <a:lnTo>
                  <a:pt x="14585" y="798820"/>
                </a:lnTo>
                <a:lnTo>
                  <a:pt x="10939" y="791745"/>
                </a:lnTo>
                <a:lnTo>
                  <a:pt x="7293" y="783123"/>
                </a:lnTo>
                <a:lnTo>
                  <a:pt x="3646" y="771590"/>
                </a:lnTo>
                <a:lnTo>
                  <a:pt x="0" y="742950"/>
                </a:lnTo>
                <a:close/>
              </a:path>
            </a:pathLst>
          </a:custGeom>
          <a:solidFill>
            <a:srgbClr val="BC900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4350" y="400050"/>
            <a:ext cx="892683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70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514350" y="639366"/>
            <a:ext cx="8521065" cy="362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2"/>
              </a:lnSpc>
              <a:buNone/>
            </a:pPr>
            <a:r>
              <a:rPr lang="en-US" sz="248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Why This Matters</a:t>
            </a:r>
            <a:endParaRPr lang="en-US" sz="2480" dirty="0"/>
          </a:p>
        </p:txBody>
      </p:sp>
      <p:sp>
        <p:nvSpPr>
          <p:cNvPr id="9" name="Text 7"/>
          <p:cNvSpPr/>
          <p:nvPr/>
        </p:nvSpPr>
        <p:spPr>
          <a:xfrm>
            <a:off x="514350" y="1344364"/>
            <a:ext cx="8115300" cy="1056084"/>
          </a:xfrm>
          <a:prstGeom prst="roundRect">
            <a:avLst>
              <a:gd name="adj" fmla="val 10823"/>
            </a:avLst>
          </a:prstGeom>
          <a:solidFill>
            <a:srgbClr val="3D6B4A"/>
          </a:solidFill>
          <a:ln w="9525">
            <a:solidFill>
              <a:srgbClr val="A8C4AF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1645" y="1582489"/>
            <a:ext cx="400050" cy="400050"/>
          </a:xfrm>
          <a:prstGeom prst="roundRect">
            <a:avLst>
              <a:gd name="adj" fmla="val 25079"/>
            </a:avLst>
          </a:prstGeom>
          <a:solidFill>
            <a:srgbClr val="BC9000">
              <a:alpha val="10000"/>
            </a:srgbClr>
          </a:solidFill>
          <a:ln w="9525">
            <a:solidFill>
              <a:srgbClr val="BC9000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6363" y="1707207"/>
            <a:ext cx="150465" cy="15046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82316" y="1582489"/>
            <a:ext cx="767804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10" dirty="0">
                <a:solidFill>
                  <a:srgbClr val="BC9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CONTEXT</a:t>
            </a:r>
            <a:endParaRPr lang="en-US" sz="730" dirty="0"/>
          </a:p>
        </p:txBody>
      </p:sp>
      <p:sp>
        <p:nvSpPr>
          <p:cNvPr id="13" name="Text 10"/>
          <p:cNvSpPr/>
          <p:nvPr/>
        </p:nvSpPr>
        <p:spPr>
          <a:xfrm>
            <a:off x="1382316" y="1702296"/>
            <a:ext cx="7119640" cy="41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565"/>
              </a:lnSpc>
              <a:buNone/>
            </a:pPr>
            <a:r>
              <a:rPr lang="en-US" sz="10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AI Tutor logs every interaction: messages, timestamps, steps completed, that lead to derived features including response time. This creates a detailed behavioral snapshot of how student work through programming instruction.</a:t>
            </a:r>
            <a:endParaRPr lang="en-US" sz="1010" dirty="0"/>
          </a:p>
        </p:txBody>
      </p:sp>
      <p:sp>
        <p:nvSpPr>
          <p:cNvPr id="14" name="Text 11"/>
          <p:cNvSpPr/>
          <p:nvPr/>
        </p:nvSpPr>
        <p:spPr>
          <a:xfrm>
            <a:off x="504825" y="2553444"/>
            <a:ext cx="8115300" cy="876300"/>
          </a:xfrm>
          <a:prstGeom prst="roundRect">
            <a:avLst>
              <a:gd name="adj" fmla="val 13043"/>
            </a:avLst>
          </a:prstGeom>
          <a:solidFill>
            <a:srgbClr val="3D6B4A"/>
          </a:solidFill>
          <a:ln w="9525">
            <a:solidFill>
              <a:srgbClr val="A8C4AF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2"/>
          <p:cNvSpPr/>
          <p:nvPr/>
        </p:nvSpPr>
        <p:spPr>
          <a:xfrm>
            <a:off x="781645" y="2782044"/>
            <a:ext cx="400050" cy="400050"/>
          </a:xfrm>
          <a:prstGeom prst="roundRect">
            <a:avLst>
              <a:gd name="adj" fmla="val 25079"/>
            </a:avLst>
          </a:prstGeom>
          <a:solidFill>
            <a:srgbClr val="BC9000">
              <a:alpha val="10000"/>
            </a:srgbClr>
          </a:solidFill>
          <a:ln w="9525">
            <a:solidFill>
              <a:srgbClr val="BC9000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06363" y="2906762"/>
            <a:ext cx="150465" cy="15046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382316" y="2782044"/>
            <a:ext cx="669823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10" dirty="0">
                <a:solidFill>
                  <a:srgbClr val="BC9000"/>
                </a:solidFill>
                <a:latin typeface="Calibri Light" pitchFamily="34" charset="0"/>
                <a:cs typeface="Calibri Light" pitchFamily="34" charset="-120"/>
              </a:rPr>
              <a:t>MOTIVATION</a:t>
            </a:r>
            <a:endParaRPr lang="en-US" sz="730" dirty="0"/>
          </a:p>
        </p:txBody>
      </p:sp>
      <p:sp>
        <p:nvSpPr>
          <p:cNvPr id="18" name="Text 14"/>
          <p:cNvSpPr/>
          <p:nvPr/>
        </p:nvSpPr>
        <p:spPr>
          <a:xfrm>
            <a:off x="1382316" y="2991594"/>
            <a:ext cx="6698233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5"/>
              </a:lnSpc>
              <a:buNone/>
            </a:pPr>
            <a:r>
              <a:rPr lang="en-US" sz="10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these interaction patterns contain early signals of success or struggle, we can predict performance </a:t>
            </a:r>
            <a:r>
              <a:rPr lang="en-US" sz="101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r>
              <a:rPr lang="en-US" sz="10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quiz and support </a:t>
            </a:r>
          </a:p>
          <a:p>
            <a:pPr marL="0" indent="0" algn="l">
              <a:lnSpc>
                <a:spcPts val="1565"/>
              </a:lnSpc>
              <a:buNone/>
            </a:pPr>
            <a:r>
              <a:rPr lang="en-US" sz="101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in real time during the session. This has large implications for instructional design of AI Tutors.</a:t>
            </a:r>
          </a:p>
        </p:txBody>
      </p:sp>
      <p:sp>
        <p:nvSpPr>
          <p:cNvPr id="19" name="Text 15"/>
          <p:cNvSpPr/>
          <p:nvPr/>
        </p:nvSpPr>
        <p:spPr>
          <a:xfrm>
            <a:off x="514350" y="3563689"/>
            <a:ext cx="8115300" cy="876300"/>
          </a:xfrm>
          <a:prstGeom prst="roundRect">
            <a:avLst>
              <a:gd name="adj" fmla="val 13043"/>
            </a:avLst>
          </a:prstGeom>
          <a:solidFill>
            <a:srgbClr val="3D6B4A"/>
          </a:solidFill>
          <a:ln w="9525">
            <a:solidFill>
              <a:srgbClr val="A8C4AF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781645" y="3801814"/>
            <a:ext cx="400050" cy="400050"/>
          </a:xfrm>
          <a:prstGeom prst="roundRect">
            <a:avLst>
              <a:gd name="adj" fmla="val 25079"/>
            </a:avLst>
          </a:prstGeom>
          <a:solidFill>
            <a:srgbClr val="BC9000">
              <a:alpha val="10000"/>
            </a:srgbClr>
          </a:solidFill>
          <a:ln w="9525">
            <a:solidFill>
              <a:srgbClr val="BC9000">
                <a:alpha val="2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06363" y="3926532"/>
            <a:ext cx="150465" cy="15046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382316" y="3801814"/>
            <a:ext cx="683460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10" dirty="0">
                <a:solidFill>
                  <a:srgbClr val="BC9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GAP</a:t>
            </a:r>
            <a:endParaRPr lang="en-US" sz="730" dirty="0"/>
          </a:p>
        </p:txBody>
      </p:sp>
      <p:sp>
        <p:nvSpPr>
          <p:cNvPr id="23" name="Text 18"/>
          <p:cNvSpPr/>
          <p:nvPr/>
        </p:nvSpPr>
        <p:spPr>
          <a:xfrm>
            <a:off x="1382316" y="4021039"/>
            <a:ext cx="6834604" cy="1988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565"/>
              </a:lnSpc>
              <a:buNone/>
            </a:pPr>
            <a:r>
              <a:rPr lang="en-US" sz="101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Very little work has tested whether AI Tutor interaction logs can predict learning outcomes in a controlled Java programming study. </a:t>
            </a:r>
          </a:p>
          <a:p>
            <a:pPr marL="0" indent="0" algn="l">
              <a:lnSpc>
                <a:spcPts val="1565"/>
              </a:lnSpc>
              <a:buNone/>
            </a:pPr>
            <a:r>
              <a:rPr lang="en-US" sz="1010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Our data comes directly from real CofC students using our AI Tutor this semester, providing a unique opportunity to study this question.</a:t>
            </a:r>
            <a:endParaRPr lang="en-US" sz="101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2123"/>
    </mc:Choice>
    <mc:Fallback>
      <p:transition spd="slow" advTm="7212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B5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485626"/>
            <a:ext cx="1616482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40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OBJECTIVES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457200" y="681782"/>
            <a:ext cx="8805672" cy="344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14"/>
              </a:lnSpc>
              <a:buNone/>
            </a:pPr>
            <a:r>
              <a:rPr lang="en-US" sz="2360" kern="0" spc="-3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We Set Out To Do</a:t>
            </a:r>
            <a:endParaRPr lang="en-US" sz="2360" dirty="0"/>
          </a:p>
        </p:txBody>
      </p:sp>
      <p:sp>
        <p:nvSpPr>
          <p:cNvPr id="4" name="Text 2"/>
          <p:cNvSpPr/>
          <p:nvPr/>
        </p:nvSpPr>
        <p:spPr>
          <a:xfrm>
            <a:off x="457200" y="1284238"/>
            <a:ext cx="4029075" cy="1672382"/>
          </a:xfrm>
          <a:prstGeom prst="roundRect">
            <a:avLst>
              <a:gd name="adj" fmla="val 6835"/>
            </a:avLst>
          </a:prstGeom>
          <a:solidFill>
            <a:srgbClr val="3D6B4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73578" y="1412379"/>
            <a:ext cx="257764" cy="166688"/>
          </a:xfrm>
          <a:prstGeom prst="roundRect">
            <a:avLst>
              <a:gd name="adj" fmla="val 34286"/>
            </a:avLst>
          </a:prstGeom>
          <a:solidFill>
            <a:srgbClr val="BC9000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657820" y="1512838"/>
            <a:ext cx="372070" cy="372070"/>
          </a:xfrm>
          <a:prstGeom prst="roundRect">
            <a:avLst>
              <a:gd name="adj" fmla="val 26965"/>
            </a:avLst>
          </a:prstGeom>
          <a:solidFill>
            <a:srgbClr val="BC9000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548" y="1623566"/>
            <a:ext cx="150465" cy="15046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7820" y="2013049"/>
            <a:ext cx="3990618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spcAft>
                <a:spcPts val="560"/>
              </a:spcAft>
              <a:buNone/>
            </a:pPr>
            <a:r>
              <a:rPr lang="en-US" sz="1130" b="1" dirty="0">
                <a:solidFill>
                  <a:srgbClr val="BC9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Predict Performance</a:t>
            </a:r>
            <a:endParaRPr lang="en-US" sz="1130" dirty="0"/>
          </a:p>
        </p:txBody>
      </p:sp>
      <p:sp>
        <p:nvSpPr>
          <p:cNvPr id="9" name="Text 6"/>
          <p:cNvSpPr/>
          <p:nvPr/>
        </p:nvSpPr>
        <p:spPr>
          <a:xfrm>
            <a:off x="657820" y="2256086"/>
            <a:ext cx="3700391" cy="524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students as High (≥70%) or Low (&lt;70%) performers using features extracted from their AI Tutor sessions. 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657725" y="1284238"/>
            <a:ext cx="4029075" cy="1672382"/>
          </a:xfrm>
          <a:prstGeom prst="roundRect">
            <a:avLst>
              <a:gd name="adj" fmla="val 6835"/>
            </a:avLst>
          </a:prstGeom>
          <a:solidFill>
            <a:srgbClr val="3D6B4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8"/>
          <p:cNvSpPr/>
          <p:nvPr/>
        </p:nvSpPr>
        <p:spPr>
          <a:xfrm>
            <a:off x="8274103" y="1412379"/>
            <a:ext cx="257764" cy="166688"/>
          </a:xfrm>
          <a:prstGeom prst="roundRect">
            <a:avLst>
              <a:gd name="adj" fmla="val 34286"/>
            </a:avLst>
          </a:prstGeom>
          <a:solidFill>
            <a:srgbClr val="BC9000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30" dirty="0"/>
          </a:p>
        </p:txBody>
      </p:sp>
      <p:sp>
        <p:nvSpPr>
          <p:cNvPr id="12" name="Text 9"/>
          <p:cNvSpPr/>
          <p:nvPr/>
        </p:nvSpPr>
        <p:spPr>
          <a:xfrm>
            <a:off x="4858345" y="1512838"/>
            <a:ext cx="372070" cy="372070"/>
          </a:xfrm>
          <a:prstGeom prst="roundRect">
            <a:avLst>
              <a:gd name="adj" fmla="val 26965"/>
            </a:avLst>
          </a:prstGeom>
          <a:solidFill>
            <a:srgbClr val="BC9000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9073" y="1623566"/>
            <a:ext cx="150465" cy="15046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58345" y="2013049"/>
            <a:ext cx="3990618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spcAft>
                <a:spcPts val="560"/>
              </a:spcAft>
              <a:buNone/>
            </a:pPr>
            <a:r>
              <a:rPr lang="en-US" sz="1130" b="1" dirty="0">
                <a:solidFill>
                  <a:srgbClr val="BC9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Engineer Features</a:t>
            </a:r>
            <a:endParaRPr lang="en-US" sz="1130" dirty="0"/>
          </a:p>
        </p:txBody>
      </p:sp>
      <p:sp>
        <p:nvSpPr>
          <p:cNvPr id="15" name="Text 11"/>
          <p:cNvSpPr/>
          <p:nvPr/>
        </p:nvSpPr>
        <p:spPr>
          <a:xfrm>
            <a:off x="4858345" y="2256086"/>
            <a:ext cx="3700391" cy="5249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28,600 raw log lines into behavioral, temporal, and difficulty-weighted features that capture how students interacted with the tutor.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457200" y="3128070"/>
            <a:ext cx="4029075" cy="1672530"/>
          </a:xfrm>
          <a:prstGeom prst="roundRect">
            <a:avLst>
              <a:gd name="adj" fmla="val 6834"/>
            </a:avLst>
          </a:prstGeom>
          <a:solidFill>
            <a:srgbClr val="3D6B4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4073578" y="3256211"/>
            <a:ext cx="257764" cy="166688"/>
          </a:xfrm>
          <a:prstGeom prst="roundRect">
            <a:avLst>
              <a:gd name="adj" fmla="val 34286"/>
            </a:avLst>
          </a:prstGeom>
          <a:solidFill>
            <a:srgbClr val="BC9000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30" dirty="0"/>
          </a:p>
        </p:txBody>
      </p:sp>
      <p:sp>
        <p:nvSpPr>
          <p:cNvPr id="18" name="Text 14"/>
          <p:cNvSpPr/>
          <p:nvPr/>
        </p:nvSpPr>
        <p:spPr>
          <a:xfrm>
            <a:off x="657820" y="3356670"/>
            <a:ext cx="372070" cy="372070"/>
          </a:xfrm>
          <a:prstGeom prst="roundRect">
            <a:avLst>
              <a:gd name="adj" fmla="val 26965"/>
            </a:avLst>
          </a:prstGeom>
          <a:solidFill>
            <a:srgbClr val="BC9000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8548" y="3467398"/>
            <a:ext cx="150465" cy="15046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57820" y="3856881"/>
            <a:ext cx="3990618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spcAft>
                <a:spcPts val="560"/>
              </a:spcAft>
              <a:buNone/>
            </a:pPr>
            <a:r>
              <a:rPr lang="en-US" sz="1130" b="1" dirty="0">
                <a:solidFill>
                  <a:srgbClr val="BC9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Compare Models</a:t>
            </a:r>
            <a:endParaRPr lang="en-US" sz="1130" dirty="0"/>
          </a:p>
        </p:txBody>
      </p:sp>
      <p:sp>
        <p:nvSpPr>
          <p:cNvPr id="21" name="Text 16"/>
          <p:cNvSpPr/>
          <p:nvPr/>
        </p:nvSpPr>
        <p:spPr>
          <a:xfrm>
            <a:off x="657820" y="4099917"/>
            <a:ext cx="3700391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multiple Machine Learning approaches: Logistic Regression, Random Forest, Gradient Boosting, and SVM, using stratified train/test splits and 5-fold cross-validation.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4657725" y="3128070"/>
            <a:ext cx="4029075" cy="1672530"/>
          </a:xfrm>
          <a:prstGeom prst="roundRect">
            <a:avLst>
              <a:gd name="adj" fmla="val 6834"/>
            </a:avLst>
          </a:prstGeom>
          <a:solidFill>
            <a:srgbClr val="3D6B4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8"/>
          <p:cNvSpPr/>
          <p:nvPr/>
        </p:nvSpPr>
        <p:spPr>
          <a:xfrm>
            <a:off x="8274103" y="3256211"/>
            <a:ext cx="257764" cy="166688"/>
          </a:xfrm>
          <a:prstGeom prst="roundRect">
            <a:avLst>
              <a:gd name="adj" fmla="val 34286"/>
            </a:avLst>
          </a:prstGeom>
          <a:solidFill>
            <a:srgbClr val="BC9000">
              <a:alpha val="12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30" dirty="0"/>
          </a:p>
        </p:txBody>
      </p:sp>
      <p:sp>
        <p:nvSpPr>
          <p:cNvPr id="24" name="Text 19"/>
          <p:cNvSpPr/>
          <p:nvPr/>
        </p:nvSpPr>
        <p:spPr>
          <a:xfrm>
            <a:off x="4858345" y="3356670"/>
            <a:ext cx="372070" cy="372070"/>
          </a:xfrm>
          <a:prstGeom prst="roundRect">
            <a:avLst>
              <a:gd name="adj" fmla="val 26965"/>
            </a:avLst>
          </a:prstGeom>
          <a:solidFill>
            <a:srgbClr val="BC9000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9073" y="3467398"/>
            <a:ext cx="150465" cy="15046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858345" y="3856881"/>
            <a:ext cx="3990618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spcAft>
                <a:spcPts val="560"/>
              </a:spcAft>
              <a:buNone/>
            </a:pPr>
            <a:r>
              <a:rPr lang="en-US" sz="1130" b="1" dirty="0">
                <a:solidFill>
                  <a:srgbClr val="BC9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Identify Key Predictors</a:t>
            </a:r>
            <a:endParaRPr lang="en-US" sz="1130" dirty="0"/>
          </a:p>
        </p:txBody>
      </p:sp>
      <p:sp>
        <p:nvSpPr>
          <p:cNvPr id="27" name="Text 21"/>
          <p:cNvSpPr/>
          <p:nvPr/>
        </p:nvSpPr>
        <p:spPr>
          <a:xfrm>
            <a:off x="4858345" y="4099917"/>
            <a:ext cx="3700391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 which interaction patterns (timing, pacing, difficulty, message behavior) most strongly influence quiz outcomes.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457200" y="1284238"/>
            <a:ext cx="4029075" cy="29170"/>
          </a:xfrm>
          <a:custGeom>
            <a:avLst/>
            <a:gdLst/>
            <a:ahLst/>
            <a:cxnLst/>
            <a:rect l="l" t="t" r="r" b="b"/>
            <a:pathLst>
              <a:path w="4029075" h="29170">
                <a:moveTo>
                  <a:pt x="114300" y="0"/>
                </a:moveTo>
                <a:lnTo>
                  <a:pt x="3914775" y="0"/>
                </a:lnTo>
                <a:lnTo>
                  <a:pt x="3943415" y="3646"/>
                </a:lnTo>
                <a:lnTo>
                  <a:pt x="3954948" y="7293"/>
                </a:lnTo>
                <a:lnTo>
                  <a:pt x="3963570" y="10939"/>
                </a:lnTo>
                <a:lnTo>
                  <a:pt x="3970645" y="14585"/>
                </a:lnTo>
                <a:lnTo>
                  <a:pt x="3976705" y="18231"/>
                </a:lnTo>
                <a:lnTo>
                  <a:pt x="3982025" y="21878"/>
                </a:lnTo>
                <a:lnTo>
                  <a:pt x="3986770" y="25524"/>
                </a:lnTo>
                <a:lnTo>
                  <a:pt x="3991047" y="29170"/>
                </a:lnTo>
                <a:lnTo>
                  <a:pt x="38028" y="29170"/>
                </a:lnTo>
                <a:lnTo>
                  <a:pt x="42305" y="25524"/>
                </a:lnTo>
                <a:lnTo>
                  <a:pt x="47050" y="21878"/>
                </a:lnTo>
                <a:lnTo>
                  <a:pt x="52370" y="18231"/>
                </a:lnTo>
                <a:lnTo>
                  <a:pt x="58430" y="14585"/>
                </a:lnTo>
                <a:lnTo>
                  <a:pt x="65505" y="10939"/>
                </a:lnTo>
                <a:lnTo>
                  <a:pt x="74127" y="7293"/>
                </a:lnTo>
                <a:lnTo>
                  <a:pt x="85660" y="3646"/>
                </a:lnTo>
                <a:close/>
              </a:path>
            </a:pathLst>
          </a:custGeom>
          <a:solidFill>
            <a:srgbClr val="BC900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3"/>
          <p:cNvSpPr/>
          <p:nvPr/>
        </p:nvSpPr>
        <p:spPr>
          <a:xfrm>
            <a:off x="4657725" y="1284238"/>
            <a:ext cx="4029075" cy="29170"/>
          </a:xfrm>
          <a:custGeom>
            <a:avLst/>
            <a:gdLst/>
            <a:ahLst/>
            <a:cxnLst/>
            <a:rect l="l" t="t" r="r" b="b"/>
            <a:pathLst>
              <a:path w="4029075" h="29170">
                <a:moveTo>
                  <a:pt x="114300" y="0"/>
                </a:moveTo>
                <a:lnTo>
                  <a:pt x="3914775" y="0"/>
                </a:lnTo>
                <a:lnTo>
                  <a:pt x="3943415" y="3646"/>
                </a:lnTo>
                <a:lnTo>
                  <a:pt x="3954948" y="7293"/>
                </a:lnTo>
                <a:lnTo>
                  <a:pt x="3963570" y="10939"/>
                </a:lnTo>
                <a:lnTo>
                  <a:pt x="3970645" y="14585"/>
                </a:lnTo>
                <a:lnTo>
                  <a:pt x="3976705" y="18231"/>
                </a:lnTo>
                <a:lnTo>
                  <a:pt x="3982025" y="21878"/>
                </a:lnTo>
                <a:lnTo>
                  <a:pt x="3986770" y="25524"/>
                </a:lnTo>
                <a:lnTo>
                  <a:pt x="3991047" y="29170"/>
                </a:lnTo>
                <a:lnTo>
                  <a:pt x="38028" y="29170"/>
                </a:lnTo>
                <a:lnTo>
                  <a:pt x="42305" y="25524"/>
                </a:lnTo>
                <a:lnTo>
                  <a:pt x="47050" y="21878"/>
                </a:lnTo>
                <a:lnTo>
                  <a:pt x="52370" y="18231"/>
                </a:lnTo>
                <a:lnTo>
                  <a:pt x="58430" y="14585"/>
                </a:lnTo>
                <a:lnTo>
                  <a:pt x="65505" y="10939"/>
                </a:lnTo>
                <a:lnTo>
                  <a:pt x="74127" y="7293"/>
                </a:lnTo>
                <a:lnTo>
                  <a:pt x="85660" y="3646"/>
                </a:lnTo>
                <a:close/>
              </a:path>
            </a:pathLst>
          </a:custGeom>
          <a:solidFill>
            <a:srgbClr val="BC900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4"/>
          <p:cNvSpPr/>
          <p:nvPr/>
        </p:nvSpPr>
        <p:spPr>
          <a:xfrm>
            <a:off x="457200" y="3128070"/>
            <a:ext cx="4029075" cy="29170"/>
          </a:xfrm>
          <a:custGeom>
            <a:avLst/>
            <a:gdLst/>
            <a:ahLst/>
            <a:cxnLst/>
            <a:rect l="l" t="t" r="r" b="b"/>
            <a:pathLst>
              <a:path w="4029075" h="29170">
                <a:moveTo>
                  <a:pt x="114300" y="0"/>
                </a:moveTo>
                <a:lnTo>
                  <a:pt x="3914775" y="0"/>
                </a:lnTo>
                <a:lnTo>
                  <a:pt x="3943415" y="3646"/>
                </a:lnTo>
                <a:lnTo>
                  <a:pt x="3954948" y="7293"/>
                </a:lnTo>
                <a:lnTo>
                  <a:pt x="3963570" y="10939"/>
                </a:lnTo>
                <a:lnTo>
                  <a:pt x="3970645" y="14585"/>
                </a:lnTo>
                <a:lnTo>
                  <a:pt x="3976705" y="18231"/>
                </a:lnTo>
                <a:lnTo>
                  <a:pt x="3982025" y="21878"/>
                </a:lnTo>
                <a:lnTo>
                  <a:pt x="3986770" y="25524"/>
                </a:lnTo>
                <a:lnTo>
                  <a:pt x="3991047" y="29170"/>
                </a:lnTo>
                <a:lnTo>
                  <a:pt x="38028" y="29170"/>
                </a:lnTo>
                <a:lnTo>
                  <a:pt x="42305" y="25524"/>
                </a:lnTo>
                <a:lnTo>
                  <a:pt x="47050" y="21878"/>
                </a:lnTo>
                <a:lnTo>
                  <a:pt x="52370" y="18231"/>
                </a:lnTo>
                <a:lnTo>
                  <a:pt x="58430" y="14585"/>
                </a:lnTo>
                <a:lnTo>
                  <a:pt x="65505" y="10939"/>
                </a:lnTo>
                <a:lnTo>
                  <a:pt x="74127" y="7293"/>
                </a:lnTo>
                <a:lnTo>
                  <a:pt x="85660" y="3646"/>
                </a:lnTo>
                <a:close/>
              </a:path>
            </a:pathLst>
          </a:custGeom>
          <a:solidFill>
            <a:srgbClr val="BC900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4657725" y="3128070"/>
            <a:ext cx="4029075" cy="29170"/>
          </a:xfrm>
          <a:custGeom>
            <a:avLst/>
            <a:gdLst/>
            <a:ahLst/>
            <a:cxnLst/>
            <a:rect l="l" t="t" r="r" b="b"/>
            <a:pathLst>
              <a:path w="4029075" h="29170">
                <a:moveTo>
                  <a:pt x="114300" y="0"/>
                </a:moveTo>
                <a:lnTo>
                  <a:pt x="3914775" y="0"/>
                </a:lnTo>
                <a:lnTo>
                  <a:pt x="3943415" y="3646"/>
                </a:lnTo>
                <a:lnTo>
                  <a:pt x="3954948" y="7293"/>
                </a:lnTo>
                <a:lnTo>
                  <a:pt x="3963570" y="10939"/>
                </a:lnTo>
                <a:lnTo>
                  <a:pt x="3970645" y="14585"/>
                </a:lnTo>
                <a:lnTo>
                  <a:pt x="3976705" y="18231"/>
                </a:lnTo>
                <a:lnTo>
                  <a:pt x="3982025" y="21878"/>
                </a:lnTo>
                <a:lnTo>
                  <a:pt x="3986770" y="25524"/>
                </a:lnTo>
                <a:lnTo>
                  <a:pt x="3991047" y="29170"/>
                </a:lnTo>
                <a:lnTo>
                  <a:pt x="38028" y="29170"/>
                </a:lnTo>
                <a:lnTo>
                  <a:pt x="42305" y="25524"/>
                </a:lnTo>
                <a:lnTo>
                  <a:pt x="47050" y="21878"/>
                </a:lnTo>
                <a:lnTo>
                  <a:pt x="52370" y="18231"/>
                </a:lnTo>
                <a:lnTo>
                  <a:pt x="58430" y="14585"/>
                </a:lnTo>
                <a:lnTo>
                  <a:pt x="65505" y="10939"/>
                </a:lnTo>
                <a:lnTo>
                  <a:pt x="74127" y="7293"/>
                </a:lnTo>
                <a:lnTo>
                  <a:pt x="85660" y="3646"/>
                </a:lnTo>
                <a:close/>
              </a:path>
            </a:pathLst>
          </a:custGeom>
          <a:solidFill>
            <a:srgbClr val="BC900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457200" y="548208"/>
            <a:ext cx="171450" cy="13841"/>
          </a:xfrm>
          <a:prstGeom prst="roundRect">
            <a:avLst>
              <a:gd name="adj" fmla="val 100932"/>
            </a:avLst>
          </a:prstGeom>
          <a:solidFill>
            <a:srgbClr val="BC900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0963"/>
    </mc:Choice>
    <mc:Fallback>
      <p:transition spd="slow" advTm="2096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B5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199" y="483370"/>
            <a:ext cx="9144000" cy="5143500"/>
          </a:xfrm>
          <a:prstGeom prst="rect">
            <a:avLst/>
          </a:prstGeom>
          <a:gradFill rotWithShape="1">
            <a:gsLst>
              <a:gs pos="0">
                <a:srgbClr val="BC9000">
                  <a:alpha val="3000"/>
                </a:srgbClr>
              </a:gs>
              <a:gs pos="100000">
                <a:srgbClr val="1A1A1A">
                  <a:alpha val="0"/>
                </a:srgbClr>
              </a:gs>
            </a:gsLst>
            <a:lin ang="0" scaled="1"/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7">
            <a:extLst>
              <a:ext uri="{FF2B5EF4-FFF2-40B4-BE49-F238E27FC236}">
                <a16:creationId xmlns:a16="http://schemas.microsoft.com/office/drawing/2014/main" id="{C931ED5D-DAFF-28B9-EC82-ADEBCF5C6138}"/>
              </a:ext>
            </a:extLst>
          </p:cNvPr>
          <p:cNvSpPr/>
          <p:nvPr/>
        </p:nvSpPr>
        <p:spPr>
          <a:xfrm>
            <a:off x="4105183" y="282790"/>
            <a:ext cx="4632095" cy="704448"/>
          </a:xfrm>
          <a:prstGeom prst="roundRect">
            <a:avLst>
              <a:gd name="adj" fmla="val 10823"/>
            </a:avLst>
          </a:prstGeom>
          <a:solidFill>
            <a:srgbClr val="3D6B4A"/>
          </a:solidFill>
          <a:ln w="9525">
            <a:solidFill>
              <a:srgbClr val="A8C4AF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7286030" y="0"/>
            <a:ext cx="1857970" cy="1572220"/>
          </a:xfrm>
          <a:prstGeom prst="ellipse">
            <a:avLst/>
          </a:prstGeom>
          <a:gradFill rotWithShape="1">
            <a:gsLst>
              <a:gs pos="0">
                <a:srgbClr val="BC9000">
                  <a:alpha val="8000"/>
                </a:srgbClr>
              </a:gs>
              <a:gs pos="70000">
                <a:srgbClr val="1A1A1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6725" y="1334095"/>
            <a:ext cx="1909762" cy="29170"/>
          </a:xfrm>
          <a:custGeom>
            <a:avLst/>
            <a:gdLst/>
            <a:ahLst/>
            <a:cxnLst/>
            <a:rect l="l" t="t" r="r" b="b"/>
            <a:pathLst>
              <a:path w="1909762" h="29170">
                <a:moveTo>
                  <a:pt x="128270" y="0"/>
                </a:moveTo>
                <a:lnTo>
                  <a:pt x="1781492" y="0"/>
                </a:lnTo>
                <a:lnTo>
                  <a:pt x="1811859" y="3646"/>
                </a:lnTo>
                <a:lnTo>
                  <a:pt x="1824126" y="7293"/>
                </a:lnTo>
                <a:lnTo>
                  <a:pt x="1833325" y="10939"/>
                </a:lnTo>
                <a:lnTo>
                  <a:pt x="1840897" y="14585"/>
                </a:lnTo>
                <a:lnTo>
                  <a:pt x="1847407" y="18231"/>
                </a:lnTo>
                <a:lnTo>
                  <a:pt x="1853143" y="21878"/>
                </a:lnTo>
                <a:lnTo>
                  <a:pt x="1858281" y="25524"/>
                </a:lnTo>
                <a:lnTo>
                  <a:pt x="1862932" y="29170"/>
                </a:lnTo>
                <a:lnTo>
                  <a:pt x="46830" y="29170"/>
                </a:lnTo>
                <a:lnTo>
                  <a:pt x="51482" y="25524"/>
                </a:lnTo>
                <a:lnTo>
                  <a:pt x="56619" y="21878"/>
                </a:lnTo>
                <a:lnTo>
                  <a:pt x="62356" y="18231"/>
                </a:lnTo>
                <a:lnTo>
                  <a:pt x="68865" y="14585"/>
                </a:lnTo>
                <a:lnTo>
                  <a:pt x="76438" y="10939"/>
                </a:lnTo>
                <a:lnTo>
                  <a:pt x="85636" y="7293"/>
                </a:lnTo>
                <a:lnTo>
                  <a:pt x="97904" y="3646"/>
                </a:lnTo>
                <a:close/>
              </a:path>
            </a:pathLst>
          </a:custGeom>
          <a:gradFill rotWithShape="1">
            <a:gsLst>
              <a:gs pos="0">
                <a:srgbClr val="BC9000"/>
              </a:gs>
              <a:gs pos="100000">
                <a:srgbClr val="BC9000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566988" y="1334095"/>
            <a:ext cx="1909762" cy="29170"/>
          </a:xfrm>
          <a:custGeom>
            <a:avLst/>
            <a:gdLst/>
            <a:ahLst/>
            <a:cxnLst/>
            <a:rect l="l" t="t" r="r" b="b"/>
            <a:pathLst>
              <a:path w="1909762" h="29170">
                <a:moveTo>
                  <a:pt x="128270" y="0"/>
                </a:moveTo>
                <a:lnTo>
                  <a:pt x="1781492" y="0"/>
                </a:lnTo>
                <a:lnTo>
                  <a:pt x="1811859" y="3646"/>
                </a:lnTo>
                <a:lnTo>
                  <a:pt x="1824126" y="7293"/>
                </a:lnTo>
                <a:lnTo>
                  <a:pt x="1833325" y="10939"/>
                </a:lnTo>
                <a:lnTo>
                  <a:pt x="1840897" y="14585"/>
                </a:lnTo>
                <a:lnTo>
                  <a:pt x="1847407" y="18231"/>
                </a:lnTo>
                <a:lnTo>
                  <a:pt x="1853143" y="21878"/>
                </a:lnTo>
                <a:lnTo>
                  <a:pt x="1858281" y="25524"/>
                </a:lnTo>
                <a:lnTo>
                  <a:pt x="1862932" y="29170"/>
                </a:lnTo>
                <a:lnTo>
                  <a:pt x="46830" y="29170"/>
                </a:lnTo>
                <a:lnTo>
                  <a:pt x="51482" y="25524"/>
                </a:lnTo>
                <a:lnTo>
                  <a:pt x="56619" y="21878"/>
                </a:lnTo>
                <a:lnTo>
                  <a:pt x="62356" y="18231"/>
                </a:lnTo>
                <a:lnTo>
                  <a:pt x="68865" y="14585"/>
                </a:lnTo>
                <a:lnTo>
                  <a:pt x="76438" y="10939"/>
                </a:lnTo>
                <a:lnTo>
                  <a:pt x="85636" y="7293"/>
                </a:lnTo>
                <a:lnTo>
                  <a:pt x="97904" y="3646"/>
                </a:lnTo>
                <a:close/>
              </a:path>
            </a:pathLst>
          </a:custGeom>
          <a:gradFill rotWithShape="1">
            <a:gsLst>
              <a:gs pos="0">
                <a:srgbClr val="BC9000"/>
              </a:gs>
              <a:gs pos="100000">
                <a:srgbClr val="BC9000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4667250" y="1334095"/>
            <a:ext cx="1909762" cy="29170"/>
          </a:xfrm>
          <a:custGeom>
            <a:avLst/>
            <a:gdLst/>
            <a:ahLst/>
            <a:cxnLst/>
            <a:rect l="l" t="t" r="r" b="b"/>
            <a:pathLst>
              <a:path w="1909762" h="29170">
                <a:moveTo>
                  <a:pt x="128270" y="0"/>
                </a:moveTo>
                <a:lnTo>
                  <a:pt x="1781492" y="0"/>
                </a:lnTo>
                <a:lnTo>
                  <a:pt x="1811859" y="3646"/>
                </a:lnTo>
                <a:lnTo>
                  <a:pt x="1824126" y="7293"/>
                </a:lnTo>
                <a:lnTo>
                  <a:pt x="1833325" y="10939"/>
                </a:lnTo>
                <a:lnTo>
                  <a:pt x="1840897" y="14585"/>
                </a:lnTo>
                <a:lnTo>
                  <a:pt x="1847407" y="18231"/>
                </a:lnTo>
                <a:lnTo>
                  <a:pt x="1853143" y="21878"/>
                </a:lnTo>
                <a:lnTo>
                  <a:pt x="1858281" y="25524"/>
                </a:lnTo>
                <a:lnTo>
                  <a:pt x="1862932" y="29170"/>
                </a:lnTo>
                <a:lnTo>
                  <a:pt x="46830" y="29170"/>
                </a:lnTo>
                <a:lnTo>
                  <a:pt x="51482" y="25524"/>
                </a:lnTo>
                <a:lnTo>
                  <a:pt x="56619" y="21878"/>
                </a:lnTo>
                <a:lnTo>
                  <a:pt x="62356" y="18231"/>
                </a:lnTo>
                <a:lnTo>
                  <a:pt x="68865" y="14585"/>
                </a:lnTo>
                <a:lnTo>
                  <a:pt x="76438" y="10939"/>
                </a:lnTo>
                <a:lnTo>
                  <a:pt x="85636" y="7293"/>
                </a:lnTo>
                <a:lnTo>
                  <a:pt x="97904" y="3646"/>
                </a:lnTo>
                <a:close/>
              </a:path>
            </a:pathLst>
          </a:custGeom>
          <a:gradFill rotWithShape="1">
            <a:gsLst>
              <a:gs pos="0">
                <a:srgbClr val="BC9000"/>
              </a:gs>
              <a:gs pos="100000">
                <a:srgbClr val="BC9000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767513" y="1334095"/>
            <a:ext cx="1909762" cy="29170"/>
          </a:xfrm>
          <a:custGeom>
            <a:avLst/>
            <a:gdLst/>
            <a:ahLst/>
            <a:cxnLst/>
            <a:rect l="l" t="t" r="r" b="b"/>
            <a:pathLst>
              <a:path w="1909762" h="29170">
                <a:moveTo>
                  <a:pt x="128270" y="0"/>
                </a:moveTo>
                <a:lnTo>
                  <a:pt x="1781492" y="0"/>
                </a:lnTo>
                <a:lnTo>
                  <a:pt x="1811859" y="3646"/>
                </a:lnTo>
                <a:lnTo>
                  <a:pt x="1824126" y="7293"/>
                </a:lnTo>
                <a:lnTo>
                  <a:pt x="1833325" y="10939"/>
                </a:lnTo>
                <a:lnTo>
                  <a:pt x="1840897" y="14585"/>
                </a:lnTo>
                <a:lnTo>
                  <a:pt x="1847407" y="18231"/>
                </a:lnTo>
                <a:lnTo>
                  <a:pt x="1853143" y="21878"/>
                </a:lnTo>
                <a:lnTo>
                  <a:pt x="1858281" y="25524"/>
                </a:lnTo>
                <a:lnTo>
                  <a:pt x="1862932" y="29170"/>
                </a:lnTo>
                <a:lnTo>
                  <a:pt x="46830" y="29170"/>
                </a:lnTo>
                <a:lnTo>
                  <a:pt x="51482" y="25524"/>
                </a:lnTo>
                <a:lnTo>
                  <a:pt x="56619" y="21878"/>
                </a:lnTo>
                <a:lnTo>
                  <a:pt x="62356" y="18231"/>
                </a:lnTo>
                <a:lnTo>
                  <a:pt x="68865" y="14585"/>
                </a:lnTo>
                <a:lnTo>
                  <a:pt x="76438" y="10939"/>
                </a:lnTo>
                <a:lnTo>
                  <a:pt x="85636" y="7293"/>
                </a:lnTo>
                <a:lnTo>
                  <a:pt x="97904" y="3646"/>
                </a:lnTo>
                <a:close/>
              </a:path>
            </a:pathLst>
          </a:custGeom>
          <a:gradFill rotWithShape="1">
            <a:gsLst>
              <a:gs pos="0">
                <a:srgbClr val="BC9000"/>
              </a:gs>
              <a:gs pos="100000">
                <a:srgbClr val="BC9000">
                  <a:alpha val="3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372070"/>
            <a:ext cx="905256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620" b="1" kern="0" spc="112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547241"/>
            <a:ext cx="8641080" cy="362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2"/>
              </a:lnSpc>
              <a:buNone/>
            </a:pPr>
            <a:r>
              <a:rPr lang="en-US" sz="248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Data at a Glance</a:t>
            </a:r>
            <a:endParaRPr lang="en-US" sz="2480" dirty="0"/>
          </a:p>
        </p:txBody>
      </p:sp>
      <p:sp>
        <p:nvSpPr>
          <p:cNvPr id="12" name="Text 10"/>
          <p:cNvSpPr/>
          <p:nvPr/>
        </p:nvSpPr>
        <p:spPr>
          <a:xfrm>
            <a:off x="457200" y="1009650"/>
            <a:ext cx="429220" cy="291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BC9000"/>
              </a:gs>
              <a:gs pos="100000">
                <a:srgbClr val="BC9000">
                  <a:alpha val="2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57200" y="1324570"/>
            <a:ext cx="1928813" cy="1624907"/>
          </a:xfrm>
          <a:prstGeom prst="roundRect">
            <a:avLst>
              <a:gd name="adj" fmla="val 7044"/>
            </a:avLst>
          </a:prstGeom>
          <a:solidFill>
            <a:srgbClr val="3D6B4A"/>
          </a:solidFill>
          <a:ln w="9525">
            <a:solidFill>
              <a:srgbClr val="BC9000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264146" y="1562695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BC9000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55238" y="1653787"/>
            <a:ext cx="132588" cy="13258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99003" y="1991916"/>
            <a:ext cx="164520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4050" b="1" kern="0" spc="-81" dirty="0">
                <a:solidFill>
                  <a:srgbClr val="BC9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104</a:t>
            </a:r>
            <a:endParaRPr lang="en-US" sz="4050" dirty="0"/>
          </a:p>
        </p:txBody>
      </p:sp>
      <p:sp>
        <p:nvSpPr>
          <p:cNvPr id="17" name="Text 14"/>
          <p:cNvSpPr/>
          <p:nvPr/>
        </p:nvSpPr>
        <p:spPr>
          <a:xfrm>
            <a:off x="559832" y="2592586"/>
            <a:ext cx="172354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kern="0" spc="72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SESSIONS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2557463" y="1324570"/>
            <a:ext cx="1928813" cy="1624907"/>
          </a:xfrm>
          <a:prstGeom prst="roundRect">
            <a:avLst>
              <a:gd name="adj" fmla="val 7044"/>
            </a:avLst>
          </a:prstGeom>
          <a:solidFill>
            <a:srgbClr val="3D6B4A"/>
          </a:solidFill>
          <a:ln w="9525">
            <a:solidFill>
              <a:srgbClr val="BC9000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6"/>
          <p:cNvSpPr/>
          <p:nvPr/>
        </p:nvSpPr>
        <p:spPr>
          <a:xfrm>
            <a:off x="3364409" y="1562695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BC9000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5500" y="1653787"/>
            <a:ext cx="132588" cy="13258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2699266" y="1991916"/>
            <a:ext cx="164520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4050" b="1" kern="0" spc="-81" dirty="0">
                <a:solidFill>
                  <a:srgbClr val="BC9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52</a:t>
            </a:r>
            <a:endParaRPr lang="en-US" sz="4050" dirty="0"/>
          </a:p>
        </p:txBody>
      </p:sp>
      <p:sp>
        <p:nvSpPr>
          <p:cNvPr id="22" name="Text 18"/>
          <p:cNvSpPr/>
          <p:nvPr/>
        </p:nvSpPr>
        <p:spPr>
          <a:xfrm>
            <a:off x="2660094" y="2592586"/>
            <a:ext cx="1723549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kern="0" spc="72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4657725" y="1324570"/>
            <a:ext cx="1928813" cy="1659583"/>
          </a:xfrm>
          <a:prstGeom prst="roundRect">
            <a:avLst>
              <a:gd name="adj" fmla="val 7044"/>
            </a:avLst>
          </a:prstGeom>
          <a:solidFill>
            <a:srgbClr val="3D6B4A"/>
          </a:solidFill>
          <a:ln w="9525">
            <a:solidFill>
              <a:srgbClr val="BC9000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5464671" y="1562695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BC9000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55763" y="1653787"/>
            <a:ext cx="132588" cy="13258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799528" y="1991916"/>
            <a:ext cx="164520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4050" b="1" kern="0" spc="-81" dirty="0">
                <a:solidFill>
                  <a:srgbClr val="BC9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</a:t>
            </a:r>
            <a:endParaRPr lang="en-US" sz="4050" dirty="0"/>
          </a:p>
        </p:txBody>
      </p:sp>
      <p:sp>
        <p:nvSpPr>
          <p:cNvPr id="27" name="Text 22"/>
          <p:cNvSpPr/>
          <p:nvPr/>
        </p:nvSpPr>
        <p:spPr>
          <a:xfrm>
            <a:off x="4823031" y="2592586"/>
            <a:ext cx="1598200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kern="0" spc="72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</a:t>
            </a:r>
            <a:br>
              <a:rPr dirty="0"/>
            </a:br>
            <a:r>
              <a:rPr lang="en-US" sz="680" kern="0" spc="27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(ARRAYLIST &amp; RECURSION)</a:t>
            </a:r>
            <a:endParaRPr lang="en-US" sz="900" dirty="0"/>
          </a:p>
        </p:txBody>
      </p:sp>
      <p:sp>
        <p:nvSpPr>
          <p:cNvPr id="28" name="Text 23"/>
          <p:cNvSpPr/>
          <p:nvPr/>
        </p:nvSpPr>
        <p:spPr>
          <a:xfrm>
            <a:off x="6757988" y="1324570"/>
            <a:ext cx="1928813" cy="1659583"/>
          </a:xfrm>
          <a:prstGeom prst="roundRect">
            <a:avLst>
              <a:gd name="adj" fmla="val 7044"/>
            </a:avLst>
          </a:prstGeom>
          <a:solidFill>
            <a:srgbClr val="3D6B4A"/>
          </a:solidFill>
          <a:ln w="9525">
            <a:solidFill>
              <a:srgbClr val="BC9000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4"/>
          <p:cNvSpPr/>
          <p:nvPr/>
        </p:nvSpPr>
        <p:spPr>
          <a:xfrm>
            <a:off x="7564934" y="1562695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BC9000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656025" y="1653787"/>
            <a:ext cx="132588" cy="13258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899791" y="1991916"/>
            <a:ext cx="1645206" cy="514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50"/>
              </a:lnSpc>
              <a:buNone/>
            </a:pPr>
            <a:r>
              <a:rPr lang="en-US" sz="4050" b="1" kern="0" spc="-81" dirty="0">
                <a:solidFill>
                  <a:srgbClr val="BC9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</a:t>
            </a:r>
            <a:endParaRPr lang="en-US" sz="4050" dirty="0"/>
          </a:p>
        </p:txBody>
      </p:sp>
      <p:sp>
        <p:nvSpPr>
          <p:cNvPr id="32" name="Text 26"/>
          <p:cNvSpPr/>
          <p:nvPr/>
        </p:nvSpPr>
        <p:spPr>
          <a:xfrm>
            <a:off x="6923294" y="2592586"/>
            <a:ext cx="1598200" cy="3600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50"/>
              </a:lnSpc>
              <a:buNone/>
            </a:pPr>
            <a:r>
              <a:rPr lang="en-US" sz="900" kern="0" spc="72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INSTRUCTIONAL</a:t>
            </a:r>
            <a:br/>
            <a:r>
              <a:rPr lang="en-US" sz="900" kern="0" spc="72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</a:t>
            </a:r>
            <a:endParaRPr lang="en-US" sz="900" dirty="0"/>
          </a:p>
        </p:txBody>
      </p:sp>
      <p:sp>
        <p:nvSpPr>
          <p:cNvPr id="33" name="Text 27"/>
          <p:cNvSpPr/>
          <p:nvPr/>
        </p:nvSpPr>
        <p:spPr>
          <a:xfrm>
            <a:off x="457200" y="3139838"/>
            <a:ext cx="8526544" cy="899815"/>
          </a:xfrm>
          <a:prstGeom prst="roundRect">
            <a:avLst>
              <a:gd name="adj" fmla="val 11150"/>
            </a:avLst>
          </a:prstGeom>
          <a:solidFill>
            <a:srgbClr val="BC9000">
              <a:alpha val="6000"/>
            </a:srgbClr>
          </a:solidFill>
          <a:ln w="9525">
            <a:solidFill>
              <a:srgbClr val="BC9000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665465" y="3236884"/>
            <a:ext cx="852868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74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 &amp; DISTRIBUTION</a:t>
            </a:r>
            <a:endParaRPr lang="en-US" sz="620" dirty="0"/>
          </a:p>
        </p:txBody>
      </p:sp>
      <p:sp>
        <p:nvSpPr>
          <p:cNvPr id="35" name="Text 29"/>
          <p:cNvSpPr/>
          <p:nvPr/>
        </p:nvSpPr>
        <p:spPr>
          <a:xfrm>
            <a:off x="665464" y="3429681"/>
            <a:ext cx="8528685" cy="1888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88"/>
              </a:lnSpc>
              <a:buNone/>
            </a:pPr>
            <a:r>
              <a:rPr lang="en-US" sz="960" dirty="0">
                <a:solidFill>
                  <a:schemeClr val="accent6">
                    <a:lumMod val="60000"/>
                    <a:lumOff val="4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</a:t>
            </a:r>
            <a:r>
              <a:rPr lang="en-US" sz="96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score binarized at </a:t>
            </a: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threshold</a:t>
            </a:r>
            <a:r>
              <a:rPr lang="en-US" sz="96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96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Low</a:t>
            </a:r>
            <a:r>
              <a:rPr lang="en-US" sz="96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960" b="1" dirty="0">
                <a:solidFill>
                  <a:srgbClr val="7AC9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High</a:t>
            </a:r>
            <a:r>
              <a:rPr lang="en-US" sz="96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Filtered to complete records only (has_both = True): 104 of ~136 sessions | Mean: </a:t>
            </a: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66.9%</a:t>
            </a:r>
            <a:r>
              <a:rPr lang="en-US" sz="96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| Median: </a:t>
            </a: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960" dirty="0"/>
          </a:p>
        </p:txBody>
      </p:sp>
      <p:sp>
        <p:nvSpPr>
          <p:cNvPr id="36" name="Text 30"/>
          <p:cNvSpPr/>
          <p:nvPr/>
        </p:nvSpPr>
        <p:spPr>
          <a:xfrm>
            <a:off x="643898" y="3670847"/>
            <a:ext cx="29893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lnSpc>
                <a:spcPts val="1020"/>
              </a:lnSpc>
              <a:buNone/>
            </a:pPr>
            <a:r>
              <a:rPr lang="en-US" sz="68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680" dirty="0"/>
          </a:p>
        </p:txBody>
      </p:sp>
      <p:sp>
        <p:nvSpPr>
          <p:cNvPr id="38" name="Text 32"/>
          <p:cNvSpPr/>
          <p:nvPr/>
        </p:nvSpPr>
        <p:spPr>
          <a:xfrm>
            <a:off x="1028110" y="3690471"/>
            <a:ext cx="3737372" cy="70991"/>
          </a:xfrm>
          <a:prstGeom prst="roundRect">
            <a:avLst>
              <a:gd name="adj" fmla="val 50091"/>
            </a:avLst>
          </a:prstGeom>
          <a:gradFill rotWithShape="1">
            <a:gsLst>
              <a:gs pos="0">
                <a:srgbClr val="F87171"/>
              </a:gs>
              <a:gs pos="100000">
                <a:srgbClr val="C0392B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3"/>
          <p:cNvSpPr/>
          <p:nvPr/>
        </p:nvSpPr>
        <p:spPr>
          <a:xfrm>
            <a:off x="4756067" y="3681242"/>
            <a:ext cx="3330327" cy="70991"/>
          </a:xfrm>
          <a:prstGeom prst="rect">
            <a:avLst/>
          </a:prstGeom>
          <a:gradFill rotWithShape="1">
            <a:gsLst>
              <a:gs pos="0">
                <a:srgbClr val="7AC992"/>
              </a:gs>
              <a:gs pos="100000">
                <a:srgbClr val="BC900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4"/>
          <p:cNvSpPr/>
          <p:nvPr/>
        </p:nvSpPr>
        <p:spPr>
          <a:xfrm>
            <a:off x="8167727" y="3651993"/>
            <a:ext cx="298936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68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DD37A7F-AA59-CDEB-2E8B-7F26C9A0F71A}"/>
              </a:ext>
            </a:extLst>
          </p:cNvPr>
          <p:cNvSpPr txBox="1"/>
          <p:nvPr/>
        </p:nvSpPr>
        <p:spPr>
          <a:xfrm>
            <a:off x="4248057" y="434861"/>
            <a:ext cx="5526169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Dataset</a:t>
            </a:r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 104 AI Tutor sessions from CofC students in 2</a:t>
            </a:r>
            <a:r>
              <a:rPr lang="en-US" sz="1100" baseline="300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nd</a:t>
            </a:r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semester Java</a:t>
            </a:r>
          </a:p>
          <a:p>
            <a:r>
              <a:rPr lang="en-US" sz="11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Includes: </a:t>
            </a:r>
            <a:r>
              <a:rPr lang="en-US" sz="11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full interaction logs (messages, timing, pacing, and quiz outcomes)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8771"/>
    </mc:Choice>
    <mc:Fallback>
      <p:transition spd="slow" advTm="7877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B5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342900"/>
            <a:ext cx="917829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spcAft>
                <a:spcPts val="450"/>
              </a:spcAft>
              <a:buNone/>
            </a:pPr>
            <a:r>
              <a:rPr lang="en-US" sz="730" b="1" kern="0" spc="170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730" dirty="0"/>
          </a:p>
        </p:txBody>
      </p:sp>
      <p:sp>
        <p:nvSpPr>
          <p:cNvPr id="3" name="Text 1"/>
          <p:cNvSpPr/>
          <p:nvPr/>
        </p:nvSpPr>
        <p:spPr>
          <a:xfrm>
            <a:off x="400050" y="539055"/>
            <a:ext cx="8927973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87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How the Data Was Collected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1042541" y="2836366"/>
            <a:ext cx="7058918" cy="21580"/>
          </a:xfrm>
          <a:prstGeom prst="rect">
            <a:avLst/>
          </a:prstGeom>
          <a:gradFill rotWithShape="1">
            <a:gsLst>
              <a:gs pos="0">
                <a:srgbClr val="BC9000"/>
              </a:gs>
              <a:gs pos="100000">
                <a:srgbClr val="BC9000">
                  <a:alpha val="15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00050" y="4781252"/>
            <a:ext cx="2678609" cy="13841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BC9000"/>
              </a:gs>
              <a:gs pos="100000">
                <a:srgbClr val="1A1A1A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223081" y="4609653"/>
            <a:ext cx="3033891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sourced from a live controlled study with real CofC students — not a public benchmark dataset. Every interaction log was generated this semester.</a:t>
            </a:r>
            <a:endParaRPr lang="en-US" sz="730" dirty="0"/>
          </a:p>
        </p:txBody>
      </p:sp>
      <p:sp>
        <p:nvSpPr>
          <p:cNvPr id="7" name="Text 5"/>
          <p:cNvSpPr/>
          <p:nvPr/>
        </p:nvSpPr>
        <p:spPr>
          <a:xfrm>
            <a:off x="6065341" y="4781252"/>
            <a:ext cx="2678609" cy="13841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BC9000"/>
              </a:gs>
              <a:gs pos="100000">
                <a:srgbClr val="1A1A1A">
                  <a:alpha val="0"/>
                </a:srgbClr>
              </a:gs>
            </a:gsLst>
            <a:lin ang="1080000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24321" y="1884462"/>
            <a:ext cx="1753752" cy="2186031"/>
          </a:xfrm>
          <a:prstGeom prst="roundRect">
            <a:avLst>
              <a:gd name="adj" fmla="val 4875"/>
            </a:avLst>
          </a:prstGeom>
          <a:solidFill>
            <a:srgbClr val="3D6B4A"/>
          </a:solidFill>
          <a:ln w="9525">
            <a:solidFill>
              <a:srgbClr val="A8C4AF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61988" y="2037457"/>
            <a:ext cx="257770" cy="283547"/>
          </a:xfrm>
          <a:prstGeom prst="ellipse">
            <a:avLst/>
          </a:prstGeom>
          <a:solidFill>
            <a:srgbClr val="BC9000"/>
          </a:solidFill>
          <a:ln/>
          <a:effectLst>
            <a:outerShdw blurRad="114300" dist="50800" dir="16200000" algn="bl" rotWithShape="0">
              <a:srgbClr val="BC9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5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1988" y="2395538"/>
            <a:ext cx="314920" cy="314920"/>
          </a:xfrm>
          <a:prstGeom prst="ellipse">
            <a:avLst/>
          </a:prstGeom>
          <a:solidFill>
            <a:srgbClr val="BC9000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53154" y="2486704"/>
            <a:ext cx="132588" cy="1325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61988" y="2796778"/>
            <a:ext cx="164595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5"/>
              </a:lnSpc>
              <a:spcAft>
                <a:spcPts val="450"/>
              </a:spcAft>
              <a:buNone/>
            </a:pPr>
            <a:r>
              <a:rPr lang="en-US" sz="1010" b="1" kern="0" spc="10" dirty="0">
                <a:solidFill>
                  <a:srgbClr val="BC9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AI Java Tutor</a:t>
            </a:r>
            <a:endParaRPr lang="en-US" sz="1010" dirty="0"/>
          </a:p>
        </p:txBody>
      </p:sp>
      <p:sp>
        <p:nvSpPr>
          <p:cNvPr id="13" name="Text 10"/>
          <p:cNvSpPr/>
          <p:nvPr/>
        </p:nvSpPr>
        <p:spPr>
          <a:xfrm>
            <a:off x="661988" y="3046363"/>
            <a:ext cx="1526244" cy="63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OpenAI LLM; generates all interaction logs through structured, scaffolded prompts.</a:t>
            </a:r>
            <a:endParaRPr lang="en-US" sz="82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97779" y="2301189"/>
            <a:ext cx="132588" cy="1325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32174" y="1884462"/>
            <a:ext cx="1806648" cy="2186031"/>
          </a:xfrm>
          <a:prstGeom prst="roundRect">
            <a:avLst>
              <a:gd name="adj" fmla="val 4875"/>
            </a:avLst>
          </a:prstGeom>
          <a:solidFill>
            <a:srgbClr val="3D6B4A"/>
          </a:solidFill>
          <a:ln w="9525">
            <a:solidFill>
              <a:srgbClr val="A8C4AF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2769840" y="2037457"/>
            <a:ext cx="257770" cy="283547"/>
          </a:xfrm>
          <a:prstGeom prst="ellipse">
            <a:avLst/>
          </a:prstGeom>
          <a:solidFill>
            <a:srgbClr val="BC9000"/>
          </a:solidFill>
          <a:ln/>
          <a:effectLst>
            <a:outerShdw blurRad="114300" dist="50800" dir="16200000" algn="bl" rotWithShape="0">
              <a:srgbClr val="BC9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5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2769840" y="2395538"/>
            <a:ext cx="314920" cy="314920"/>
          </a:xfrm>
          <a:prstGeom prst="ellipse">
            <a:avLst/>
          </a:prstGeom>
          <a:solidFill>
            <a:srgbClr val="BC9000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61006" y="2486704"/>
            <a:ext cx="132588" cy="13258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769840" y="2796778"/>
            <a:ext cx="164595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5"/>
              </a:lnSpc>
              <a:spcAft>
                <a:spcPts val="450"/>
              </a:spcAft>
              <a:buNone/>
            </a:pPr>
            <a:r>
              <a:rPr lang="en-US" sz="1010" b="1" kern="0" spc="10" dirty="0">
                <a:solidFill>
                  <a:srgbClr val="BC9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Study Design</a:t>
            </a:r>
            <a:endParaRPr lang="en-US" sz="1010" dirty="0"/>
          </a:p>
        </p:txBody>
      </p:sp>
      <p:sp>
        <p:nvSpPr>
          <p:cNvPr id="20" name="Text 15"/>
          <p:cNvSpPr/>
          <p:nvPr/>
        </p:nvSpPr>
        <p:spPr>
          <a:xfrm>
            <a:off x="2769840" y="3046363"/>
            <a:ext cx="1526244" cy="63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students across 3 conditions (Persona Scaffolded, Non-Persona Scaffolded, Direct Chat) produced the session data. </a:t>
            </a:r>
            <a:endParaRPr lang="en-US" sz="82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05632" y="2301189"/>
            <a:ext cx="132588" cy="13258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40027" y="1884462"/>
            <a:ext cx="1753751" cy="2186031"/>
          </a:xfrm>
          <a:prstGeom prst="roundRect">
            <a:avLst>
              <a:gd name="adj" fmla="val 4875"/>
            </a:avLst>
          </a:prstGeom>
          <a:solidFill>
            <a:srgbClr val="3D6B4A"/>
          </a:solidFill>
          <a:ln w="9525">
            <a:solidFill>
              <a:srgbClr val="A8C4AF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17"/>
          <p:cNvSpPr/>
          <p:nvPr/>
        </p:nvSpPr>
        <p:spPr>
          <a:xfrm>
            <a:off x="4877693" y="2037457"/>
            <a:ext cx="257770" cy="283547"/>
          </a:xfrm>
          <a:prstGeom prst="ellipse">
            <a:avLst/>
          </a:prstGeom>
          <a:solidFill>
            <a:srgbClr val="BC9000"/>
          </a:solidFill>
          <a:ln/>
          <a:effectLst>
            <a:outerShdw blurRad="114300" dist="50800" dir="16200000" algn="bl" rotWithShape="0">
              <a:srgbClr val="BC9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5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4877693" y="2395538"/>
            <a:ext cx="314920" cy="314920"/>
          </a:xfrm>
          <a:prstGeom prst="ellipse">
            <a:avLst/>
          </a:prstGeom>
          <a:solidFill>
            <a:srgbClr val="BC9000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68859" y="2486704"/>
            <a:ext cx="132588" cy="13258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4877693" y="2796778"/>
            <a:ext cx="164595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5"/>
              </a:lnSpc>
              <a:spcAft>
                <a:spcPts val="450"/>
              </a:spcAft>
              <a:buNone/>
            </a:pPr>
            <a:r>
              <a:rPr lang="en-US" sz="1010" b="1" kern="0" spc="10" dirty="0">
                <a:solidFill>
                  <a:srgbClr val="BC9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Session Capture</a:t>
            </a:r>
            <a:endParaRPr lang="en-US" sz="1010" dirty="0"/>
          </a:p>
        </p:txBody>
      </p:sp>
      <p:sp>
        <p:nvSpPr>
          <p:cNvPr id="27" name="Text 20"/>
          <p:cNvSpPr/>
          <p:nvPr/>
        </p:nvSpPr>
        <p:spPr>
          <a:xfrm>
            <a:off x="4877693" y="3046363"/>
            <a:ext cx="1526244" cy="634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session logs: full message transcripts, timestamps, response latencies, quiz responses with difficulty levels</a:t>
            </a:r>
            <a:endParaRPr lang="en-US" sz="820" dirty="0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>
            <a:alphaModFix amt="60000"/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3484" y="2301189"/>
            <a:ext cx="132588" cy="132588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6847880" y="1884463"/>
            <a:ext cx="1806648" cy="2186030"/>
          </a:xfrm>
          <a:prstGeom prst="roundRect">
            <a:avLst>
              <a:gd name="adj" fmla="val 4927"/>
            </a:avLst>
          </a:prstGeom>
          <a:solidFill>
            <a:srgbClr val="3D6B4A"/>
          </a:solidFill>
          <a:ln w="9525">
            <a:solidFill>
              <a:srgbClr val="A8C4AF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2"/>
          <p:cNvSpPr/>
          <p:nvPr/>
        </p:nvSpPr>
        <p:spPr>
          <a:xfrm>
            <a:off x="6985546" y="2037457"/>
            <a:ext cx="257770" cy="283547"/>
          </a:xfrm>
          <a:prstGeom prst="ellipse">
            <a:avLst/>
          </a:prstGeom>
          <a:solidFill>
            <a:srgbClr val="BC9000"/>
          </a:solidFill>
          <a:ln/>
          <a:effectLst>
            <a:outerShdw blurRad="114300" dist="50800" dir="16200000" algn="bl" rotWithShape="0">
              <a:srgbClr val="BC9000">
                <a:alpha val="35000"/>
              </a:srgbClr>
            </a:outerShdw>
          </a:effectLst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B5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6985546" y="2395538"/>
            <a:ext cx="314920" cy="314920"/>
          </a:xfrm>
          <a:prstGeom prst="ellipse">
            <a:avLst/>
          </a:prstGeom>
          <a:solidFill>
            <a:srgbClr val="BC9000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76712" y="2486704"/>
            <a:ext cx="132588" cy="132588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6985546" y="2796778"/>
            <a:ext cx="164595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5"/>
              </a:lnSpc>
              <a:spcAft>
                <a:spcPts val="450"/>
              </a:spcAft>
              <a:buNone/>
            </a:pPr>
            <a:r>
              <a:rPr lang="en-US" sz="1010" b="1" kern="0" spc="10" dirty="0">
                <a:solidFill>
                  <a:srgbClr val="BC9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Challenges</a:t>
            </a:r>
            <a:endParaRPr lang="en-US" sz="1010" dirty="0"/>
          </a:p>
        </p:txBody>
      </p:sp>
      <p:sp>
        <p:nvSpPr>
          <p:cNvPr id="34" name="Text 25"/>
          <p:cNvSpPr/>
          <p:nvPr/>
        </p:nvSpPr>
        <p:spPr>
          <a:xfrm>
            <a:off x="6985546" y="3046363"/>
            <a:ext cx="1526244" cy="475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89"/>
              </a:lnSpc>
              <a:buNone/>
            </a:pPr>
            <a:r>
              <a:rPr lang="en-US" sz="82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sample size (</a:t>
            </a: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N=104</a:t>
            </a:r>
            <a:r>
              <a:rPr lang="en-US" sz="82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class imbalance (</a:t>
            </a:r>
            <a:r>
              <a:rPr lang="en-US" sz="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55/49</a:t>
            </a:r>
            <a:r>
              <a:rPr lang="en-US" sz="82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split), variable session lengths. Addressed via stratified splits and 5-fold cross-validation to preserve class balance.</a:t>
            </a:r>
            <a:endParaRPr lang="en-US" sz="82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2064"/>
    </mc:Choice>
    <mc:Fallback>
      <p:transition spd="slow" advTm="72064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B5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71780" y="0"/>
            <a:ext cx="1572220" cy="1286470"/>
          </a:xfrm>
          <a:prstGeom prst="ellipse">
            <a:avLst/>
          </a:prstGeom>
          <a:gradFill rotWithShape="1">
            <a:gsLst>
              <a:gs pos="0">
                <a:srgbClr val="BC9000">
                  <a:alpha val="8000"/>
                </a:srgbClr>
              </a:gs>
              <a:gs pos="70000">
                <a:srgbClr val="1A1A1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714750"/>
            <a:ext cx="1714500" cy="1428750"/>
          </a:xfrm>
          <a:prstGeom prst="ellipse">
            <a:avLst/>
          </a:prstGeom>
          <a:gradFill rotWithShape="1">
            <a:gsLst>
              <a:gs pos="0">
                <a:srgbClr val="5C8A65">
                  <a:alpha val="6000"/>
                </a:srgbClr>
              </a:gs>
              <a:gs pos="70000">
                <a:srgbClr val="1A1A1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29220" y="342900"/>
            <a:ext cx="911411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620" b="1" kern="0" spc="93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29220" y="518071"/>
            <a:ext cx="8865549" cy="30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36"/>
              </a:lnSpc>
              <a:buNone/>
            </a:pPr>
            <a:r>
              <a:rPr lang="en-US" sz="203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28,600 Lines of Raw JSON to </a:t>
            </a:r>
            <a:r>
              <a:rPr lang="en-US" sz="2030" b="1" dirty="0">
                <a:solidFill>
                  <a:srgbClr val="BC9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16</a:t>
            </a:r>
            <a:r>
              <a:rPr lang="en-US" sz="203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Raw and Engineered Features</a:t>
            </a:r>
            <a:endParaRPr lang="en-US" sz="2030" dirty="0"/>
          </a:p>
        </p:txBody>
      </p:sp>
      <p:sp>
        <p:nvSpPr>
          <p:cNvPr id="6" name="Text 4"/>
          <p:cNvSpPr/>
          <p:nvPr/>
        </p:nvSpPr>
        <p:spPr>
          <a:xfrm>
            <a:off x="429220" y="898327"/>
            <a:ext cx="429220" cy="21580"/>
          </a:xfrm>
          <a:prstGeom prst="roundRect">
            <a:avLst>
              <a:gd name="adj" fmla="val 64736"/>
            </a:avLst>
          </a:prstGeom>
          <a:solidFill>
            <a:srgbClr val="BC900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29220" y="1120527"/>
            <a:ext cx="4267200" cy="3259782"/>
          </a:xfrm>
          <a:prstGeom prst="roundRect">
            <a:avLst>
              <a:gd name="adj" fmla="val 3506"/>
            </a:avLst>
          </a:prstGeom>
          <a:solidFill>
            <a:srgbClr val="3D6B4A"/>
          </a:solidFill>
          <a:ln w="9525">
            <a:solidFill>
              <a:srgbClr val="A8C4AF">
                <a:alpha val="15000"/>
              </a:srgbClr>
            </a:solidFill>
          </a:ln>
          <a:effectLst>
            <a:outerShdw blurRad="214630" dist="71120" dir="5400000" algn="bl" rotWithShape="0">
              <a:srgbClr val="1A1A1A">
                <a:alpha val="2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39366" y="1372642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BC9000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882" y="1435159"/>
            <a:ext cx="132588" cy="1325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8127" y="1301502"/>
            <a:ext cx="1360274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Behavioral &amp; Temporal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968127" y="1558677"/>
            <a:ext cx="474271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features</a:t>
            </a:r>
            <a:endParaRPr lang="en-US" sz="680" dirty="0"/>
          </a:p>
        </p:txBody>
      </p:sp>
      <p:sp>
        <p:nvSpPr>
          <p:cNvPr id="12" name="Text 9"/>
          <p:cNvSpPr/>
          <p:nvPr/>
        </p:nvSpPr>
        <p:spPr>
          <a:xfrm>
            <a:off x="639366" y="1815852"/>
            <a:ext cx="4231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620" b="1" kern="0" spc="5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COUNTS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39366" y="2137172"/>
            <a:ext cx="887462" cy="220355"/>
          </a:xfrm>
          <a:prstGeom prst="roundRect">
            <a:avLst>
              <a:gd name="adj" fmla="val 19596"/>
            </a:avLst>
          </a:prstGeom>
          <a:solidFill>
            <a:srgbClr val="BC9000">
              <a:alpha val="10000"/>
            </a:srgbClr>
          </a:solidFill>
          <a:ln w="9525">
            <a:solidFill>
              <a:srgbClr val="BC9000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DDB8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total_messages</a:t>
            </a:r>
            <a:endParaRPr lang="en-US" sz="680" dirty="0"/>
          </a:p>
        </p:txBody>
      </p:sp>
      <p:sp>
        <p:nvSpPr>
          <p:cNvPr id="14" name="Text 11"/>
          <p:cNvSpPr/>
          <p:nvPr/>
        </p:nvSpPr>
        <p:spPr>
          <a:xfrm>
            <a:off x="1590824" y="2137172"/>
            <a:ext cx="835521" cy="220355"/>
          </a:xfrm>
          <a:prstGeom prst="roundRect">
            <a:avLst>
              <a:gd name="adj" fmla="val 19596"/>
            </a:avLst>
          </a:prstGeom>
          <a:solidFill>
            <a:srgbClr val="BC9000">
              <a:alpha val="10000"/>
            </a:srgbClr>
          </a:solidFill>
          <a:ln w="9525">
            <a:solidFill>
              <a:srgbClr val="BC9000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DDB8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user_messages</a:t>
            </a:r>
            <a:endParaRPr lang="en-US" sz="680" dirty="0"/>
          </a:p>
        </p:txBody>
      </p:sp>
      <p:sp>
        <p:nvSpPr>
          <p:cNvPr id="15" name="Text 12"/>
          <p:cNvSpPr/>
          <p:nvPr/>
        </p:nvSpPr>
        <p:spPr>
          <a:xfrm>
            <a:off x="2490341" y="2137172"/>
            <a:ext cx="1094929" cy="220355"/>
          </a:xfrm>
          <a:prstGeom prst="roundRect">
            <a:avLst>
              <a:gd name="adj" fmla="val 19596"/>
            </a:avLst>
          </a:prstGeom>
          <a:solidFill>
            <a:srgbClr val="BC9000">
              <a:alpha val="10000"/>
            </a:srgbClr>
          </a:solidFill>
          <a:ln w="9525">
            <a:solidFill>
              <a:srgbClr val="BC9000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DDB8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assistant_messages</a:t>
            </a:r>
            <a:endParaRPr lang="en-US" sz="680" dirty="0"/>
          </a:p>
        </p:txBody>
      </p:sp>
      <p:sp>
        <p:nvSpPr>
          <p:cNvPr id="16" name="Text 13"/>
          <p:cNvSpPr/>
          <p:nvPr/>
        </p:nvSpPr>
        <p:spPr>
          <a:xfrm>
            <a:off x="639366" y="2430066"/>
            <a:ext cx="4231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620" b="1" kern="0" spc="5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TIMING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39366" y="2751386"/>
            <a:ext cx="1042988" cy="220355"/>
          </a:xfrm>
          <a:prstGeom prst="roundRect">
            <a:avLst>
              <a:gd name="adj" fmla="val 19596"/>
            </a:avLst>
          </a:prstGeom>
          <a:solidFill>
            <a:srgbClr val="BC9000">
              <a:alpha val="10000"/>
            </a:srgbClr>
          </a:solidFill>
          <a:ln w="9525">
            <a:solidFill>
              <a:srgbClr val="BC9000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DDB8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avg_response_time</a:t>
            </a:r>
            <a:endParaRPr lang="en-US" sz="680" dirty="0"/>
          </a:p>
        </p:txBody>
      </p:sp>
      <p:sp>
        <p:nvSpPr>
          <p:cNvPr id="18" name="Text 15"/>
          <p:cNvSpPr/>
          <p:nvPr/>
        </p:nvSpPr>
        <p:spPr>
          <a:xfrm>
            <a:off x="1746349" y="2751386"/>
            <a:ext cx="1198662" cy="220355"/>
          </a:xfrm>
          <a:prstGeom prst="roundRect">
            <a:avLst>
              <a:gd name="adj" fmla="val 19596"/>
            </a:avLst>
          </a:prstGeom>
          <a:solidFill>
            <a:srgbClr val="BC9000">
              <a:alpha val="10000"/>
            </a:srgbClr>
          </a:solidFill>
          <a:ln w="9525">
            <a:solidFill>
              <a:srgbClr val="BC9000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DDB8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median_response_time</a:t>
            </a:r>
            <a:endParaRPr lang="en-US" sz="680" dirty="0"/>
          </a:p>
        </p:txBody>
      </p:sp>
      <p:sp>
        <p:nvSpPr>
          <p:cNvPr id="19" name="Text 16"/>
          <p:cNvSpPr/>
          <p:nvPr/>
        </p:nvSpPr>
        <p:spPr>
          <a:xfrm>
            <a:off x="3009007" y="2751386"/>
            <a:ext cx="1042988" cy="220355"/>
          </a:xfrm>
          <a:prstGeom prst="roundRect">
            <a:avLst>
              <a:gd name="adj" fmla="val 19596"/>
            </a:avLst>
          </a:prstGeom>
          <a:solidFill>
            <a:srgbClr val="BC9000">
              <a:alpha val="10000"/>
            </a:srgbClr>
          </a:solidFill>
          <a:ln w="9525">
            <a:solidFill>
              <a:srgbClr val="BC9000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DDB8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std_response_time</a:t>
            </a:r>
            <a:endParaRPr lang="en-US" sz="680" dirty="0"/>
          </a:p>
        </p:txBody>
      </p:sp>
      <p:sp>
        <p:nvSpPr>
          <p:cNvPr id="20" name="Text 17"/>
          <p:cNvSpPr/>
          <p:nvPr/>
        </p:nvSpPr>
        <p:spPr>
          <a:xfrm>
            <a:off x="639366" y="3008858"/>
            <a:ext cx="1042988" cy="220355"/>
          </a:xfrm>
          <a:prstGeom prst="roundRect">
            <a:avLst>
              <a:gd name="adj" fmla="val 19596"/>
            </a:avLst>
          </a:prstGeom>
          <a:solidFill>
            <a:srgbClr val="BC9000">
              <a:alpha val="10000"/>
            </a:srgbClr>
          </a:solidFill>
          <a:ln w="9525">
            <a:solidFill>
              <a:srgbClr val="BC9000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DDB8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min_response_time</a:t>
            </a:r>
            <a:endParaRPr lang="en-US" sz="680" dirty="0"/>
          </a:p>
        </p:txBody>
      </p:sp>
      <p:sp>
        <p:nvSpPr>
          <p:cNvPr id="21" name="Text 18"/>
          <p:cNvSpPr/>
          <p:nvPr/>
        </p:nvSpPr>
        <p:spPr>
          <a:xfrm>
            <a:off x="1746349" y="3008858"/>
            <a:ext cx="1042988" cy="220355"/>
          </a:xfrm>
          <a:prstGeom prst="roundRect">
            <a:avLst>
              <a:gd name="adj" fmla="val 19596"/>
            </a:avLst>
          </a:prstGeom>
          <a:solidFill>
            <a:srgbClr val="BC9000">
              <a:alpha val="10000"/>
            </a:srgbClr>
          </a:solidFill>
          <a:ln w="9525">
            <a:solidFill>
              <a:srgbClr val="BC9000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DDB8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max_response_time</a:t>
            </a:r>
            <a:endParaRPr lang="en-US" sz="680" dirty="0"/>
          </a:p>
        </p:txBody>
      </p:sp>
      <p:sp>
        <p:nvSpPr>
          <p:cNvPr id="22" name="Text 19"/>
          <p:cNvSpPr/>
          <p:nvPr/>
        </p:nvSpPr>
        <p:spPr>
          <a:xfrm>
            <a:off x="639366" y="3301752"/>
            <a:ext cx="42316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620" b="1" kern="0" spc="5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PACING &amp; SESSION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639366" y="3623072"/>
            <a:ext cx="1198662" cy="220355"/>
          </a:xfrm>
          <a:prstGeom prst="roundRect">
            <a:avLst>
              <a:gd name="adj" fmla="val 19596"/>
            </a:avLst>
          </a:prstGeom>
          <a:solidFill>
            <a:srgbClr val="BC9000">
              <a:alpha val="10000"/>
            </a:srgbClr>
          </a:solidFill>
          <a:ln w="9525">
            <a:solidFill>
              <a:srgbClr val="BC9000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DDB8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rapid_response_count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>
            <a:off x="1902023" y="3623072"/>
            <a:ext cx="1094929" cy="220355"/>
          </a:xfrm>
          <a:prstGeom prst="roundRect">
            <a:avLst>
              <a:gd name="adj" fmla="val 19596"/>
            </a:avLst>
          </a:prstGeom>
          <a:solidFill>
            <a:srgbClr val="BC9000">
              <a:alpha val="10000"/>
            </a:srgbClr>
          </a:solidFill>
          <a:ln w="9525">
            <a:solidFill>
              <a:srgbClr val="BC9000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DDB8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rapid_response_pct</a:t>
            </a:r>
            <a:endParaRPr lang="en-US" sz="680" dirty="0"/>
          </a:p>
        </p:txBody>
      </p:sp>
      <p:sp>
        <p:nvSpPr>
          <p:cNvPr id="25" name="Text 22"/>
          <p:cNvSpPr/>
          <p:nvPr/>
        </p:nvSpPr>
        <p:spPr>
          <a:xfrm>
            <a:off x="3060948" y="3623072"/>
            <a:ext cx="991195" cy="220355"/>
          </a:xfrm>
          <a:prstGeom prst="roundRect">
            <a:avLst>
              <a:gd name="adj" fmla="val 19596"/>
            </a:avLst>
          </a:prstGeom>
          <a:solidFill>
            <a:srgbClr val="BC9000">
              <a:alpha val="10000"/>
            </a:srgbClr>
          </a:solidFill>
          <a:ln w="9525">
            <a:solidFill>
              <a:srgbClr val="BC9000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DDB8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duration_seconds</a:t>
            </a:r>
            <a:endParaRPr lang="en-US" sz="680" dirty="0"/>
          </a:p>
        </p:txBody>
      </p:sp>
      <p:sp>
        <p:nvSpPr>
          <p:cNvPr id="26" name="Text 23"/>
          <p:cNvSpPr/>
          <p:nvPr/>
        </p:nvSpPr>
        <p:spPr>
          <a:xfrm>
            <a:off x="639366" y="3880545"/>
            <a:ext cx="628055" cy="220355"/>
          </a:xfrm>
          <a:prstGeom prst="roundRect">
            <a:avLst>
              <a:gd name="adj" fmla="val 19596"/>
            </a:avLst>
          </a:prstGeom>
          <a:solidFill>
            <a:srgbClr val="BC9000">
              <a:alpha val="10000"/>
            </a:srgbClr>
          </a:solidFill>
          <a:ln w="9525">
            <a:solidFill>
              <a:srgbClr val="BC9000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DDB8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condition</a:t>
            </a:r>
            <a:endParaRPr lang="en-US" sz="680" dirty="0"/>
          </a:p>
        </p:txBody>
      </p:sp>
      <p:sp>
        <p:nvSpPr>
          <p:cNvPr id="27" name="Text 24"/>
          <p:cNvSpPr/>
          <p:nvPr/>
        </p:nvSpPr>
        <p:spPr>
          <a:xfrm>
            <a:off x="1331416" y="3880545"/>
            <a:ext cx="991195" cy="220355"/>
          </a:xfrm>
          <a:prstGeom prst="roundRect">
            <a:avLst>
              <a:gd name="adj" fmla="val 19596"/>
            </a:avLst>
          </a:prstGeom>
          <a:solidFill>
            <a:srgbClr val="BC9000">
              <a:alpha val="10000"/>
            </a:srgbClr>
          </a:solidFill>
          <a:ln w="9525">
            <a:solidFill>
              <a:srgbClr val="BC9000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DDB8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session_type_enc</a:t>
            </a:r>
            <a:endParaRPr lang="en-US" sz="680" dirty="0"/>
          </a:p>
        </p:txBody>
      </p:sp>
      <p:sp>
        <p:nvSpPr>
          <p:cNvPr id="28" name="Text 25"/>
          <p:cNvSpPr/>
          <p:nvPr/>
        </p:nvSpPr>
        <p:spPr>
          <a:xfrm>
            <a:off x="2386608" y="3880545"/>
            <a:ext cx="783729" cy="220355"/>
          </a:xfrm>
          <a:prstGeom prst="roundRect">
            <a:avLst>
              <a:gd name="adj" fmla="val 19596"/>
            </a:avLst>
          </a:prstGeom>
          <a:solidFill>
            <a:srgbClr val="BC9000">
              <a:alpha val="10000"/>
            </a:srgbClr>
          </a:solidFill>
          <a:ln w="9525">
            <a:solidFill>
              <a:srgbClr val="BC9000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80" dirty="0">
                <a:solidFill>
                  <a:srgbClr val="DDB8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has_both_enc</a:t>
            </a:r>
            <a:endParaRPr lang="en-US" sz="680" dirty="0"/>
          </a:p>
        </p:txBody>
      </p:sp>
      <p:sp>
        <p:nvSpPr>
          <p:cNvPr id="29" name="Text 26"/>
          <p:cNvSpPr/>
          <p:nvPr/>
        </p:nvSpPr>
        <p:spPr>
          <a:xfrm>
            <a:off x="4867870" y="1120527"/>
            <a:ext cx="3846909" cy="1157585"/>
          </a:xfrm>
          <a:prstGeom prst="roundRect">
            <a:avLst>
              <a:gd name="adj" fmla="val 9874"/>
            </a:avLst>
          </a:prstGeom>
          <a:solidFill>
            <a:srgbClr val="3D6B4A"/>
          </a:solidFill>
          <a:ln w="9525">
            <a:solidFill>
              <a:srgbClr val="A8C4AF">
                <a:alpha val="15000"/>
              </a:srgbClr>
            </a:solidFill>
          </a:ln>
          <a:effectLst>
            <a:outerShdw blurRad="214630" dist="71120" dir="5400000" algn="bl" rotWithShape="0">
              <a:srgbClr val="1A1A1A">
                <a:alpha val="2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7"/>
          <p:cNvSpPr/>
          <p:nvPr/>
        </p:nvSpPr>
        <p:spPr>
          <a:xfrm>
            <a:off x="5078016" y="1372642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FB923C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40532" y="1435159"/>
            <a:ext cx="132588" cy="13258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5406777" y="1301502"/>
            <a:ext cx="114319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Difficulty-Weighted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5406777" y="1558677"/>
            <a:ext cx="421556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features</a:t>
            </a:r>
            <a:endParaRPr lang="en-US" sz="680" dirty="0"/>
          </a:p>
        </p:txBody>
      </p:sp>
      <p:sp>
        <p:nvSpPr>
          <p:cNvPr id="34" name="Text 30"/>
          <p:cNvSpPr/>
          <p:nvPr/>
        </p:nvSpPr>
        <p:spPr>
          <a:xfrm>
            <a:off x="5078016" y="1837432"/>
            <a:ext cx="1445865" cy="261938"/>
          </a:xfrm>
          <a:prstGeom prst="roundRect">
            <a:avLst>
              <a:gd name="adj" fmla="val 16485"/>
            </a:avLst>
          </a:prstGeom>
          <a:solidFill>
            <a:srgbClr val="FB923C">
              <a:alpha val="10000"/>
            </a:srgbClr>
          </a:solidFill>
          <a:ln w="9525">
            <a:solidFill>
              <a:srgbClr val="FB923C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avg_difficulty_correct</a:t>
            </a:r>
            <a:endParaRPr lang="en-US" sz="730" dirty="0"/>
          </a:p>
        </p:txBody>
      </p:sp>
      <p:sp>
        <p:nvSpPr>
          <p:cNvPr id="35" name="Text 31"/>
          <p:cNvSpPr/>
          <p:nvPr/>
        </p:nvSpPr>
        <p:spPr>
          <a:xfrm>
            <a:off x="6602611" y="1837432"/>
            <a:ext cx="1557338" cy="261938"/>
          </a:xfrm>
          <a:prstGeom prst="roundRect">
            <a:avLst>
              <a:gd name="adj" fmla="val 16485"/>
            </a:avLst>
          </a:prstGeom>
          <a:solidFill>
            <a:srgbClr val="FB923C">
              <a:alpha val="10000"/>
            </a:srgbClr>
          </a:solidFill>
          <a:ln w="9525">
            <a:solidFill>
              <a:srgbClr val="FB923C">
                <a:alpha val="20000"/>
              </a:srgbClr>
            </a:solidFill>
          </a:ln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FDBA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avg_difficulty_incorrect</a:t>
            </a:r>
            <a:endParaRPr lang="en-US" sz="730" dirty="0"/>
          </a:p>
        </p:txBody>
      </p:sp>
      <p:sp>
        <p:nvSpPr>
          <p:cNvPr id="36" name="Text 32"/>
          <p:cNvSpPr/>
          <p:nvPr/>
        </p:nvSpPr>
        <p:spPr>
          <a:xfrm>
            <a:off x="4867870" y="2392412"/>
            <a:ext cx="3846909" cy="1987897"/>
          </a:xfrm>
          <a:prstGeom prst="roundRect">
            <a:avLst>
              <a:gd name="adj" fmla="val 5047"/>
            </a:avLst>
          </a:prstGeom>
          <a:solidFill>
            <a:srgbClr val="3D6B4A"/>
          </a:solidFill>
          <a:ln w="9525">
            <a:solidFill>
              <a:srgbClr val="A8C4AF">
                <a:alpha val="15000"/>
              </a:srgbClr>
            </a:solidFill>
          </a:ln>
          <a:effectLst>
            <a:outerShdw blurRad="214630" dist="71120" dir="5400000" algn="bl" rotWithShape="0">
              <a:srgbClr val="1A1A1A">
                <a:alpha val="25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62980" y="2486629"/>
            <a:ext cx="132588" cy="13258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5124004" y="2488257"/>
            <a:ext cx="1735172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CORRELATION MATRIX</a:t>
            </a:r>
            <a:endParaRPr lang="en-US" sz="680" dirty="0"/>
          </a:p>
        </p:txBody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48386" y="2660898"/>
            <a:ext cx="3685877" cy="1638895"/>
          </a:xfrm>
          <a:prstGeom prst="roundRect">
            <a:avLst>
              <a:gd name="adj" fmla="val 6122"/>
            </a:avLst>
          </a:prstGeom>
        </p:spPr>
      </p:pic>
      <p:sp>
        <p:nvSpPr>
          <p:cNvPr id="40" name="Text 34"/>
          <p:cNvSpPr/>
          <p:nvPr/>
        </p:nvSpPr>
        <p:spPr>
          <a:xfrm>
            <a:off x="429220" y="4494609"/>
            <a:ext cx="8285559" cy="363141"/>
          </a:xfrm>
          <a:prstGeom prst="roundRect">
            <a:avLst>
              <a:gd name="adj" fmla="val 23781"/>
            </a:avLst>
          </a:prstGeom>
          <a:solidFill>
            <a:srgbClr val="BC9000">
              <a:alpha val="6000"/>
            </a:srgbClr>
          </a:solidFill>
          <a:ln w="9525">
            <a:solidFill>
              <a:srgbClr val="BC9000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6764" y="4609886"/>
            <a:ext cx="132588" cy="13258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753070" y="4606677"/>
            <a:ext cx="485075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Preprocessing: StandardScaler normalization · Median imputation for nulls · LabelEncoder for categoricals</a:t>
            </a:r>
            <a:endParaRPr lang="en-US" sz="730" dirty="0"/>
          </a:p>
        </p:txBody>
      </p:sp>
      <p:sp>
        <p:nvSpPr>
          <p:cNvPr id="43" name="Text 36"/>
          <p:cNvSpPr/>
          <p:nvPr/>
        </p:nvSpPr>
        <p:spPr>
          <a:xfrm>
            <a:off x="5391448" y="4604445"/>
            <a:ext cx="7590" cy="143470"/>
          </a:xfrm>
          <a:prstGeom prst="rect">
            <a:avLst/>
          </a:prstGeom>
          <a:solidFill>
            <a:srgbClr val="A8C4AF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04206" y="4609886"/>
            <a:ext cx="132588" cy="132588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5770513" y="4606677"/>
            <a:ext cx="204360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PCA: 7–8 components capture 90% variance</a:t>
            </a:r>
            <a:endParaRPr lang="en-US" sz="73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1958"/>
    </mc:Choice>
    <mc:Fallback>
      <p:transition spd="slow" advTm="7195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B5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481905"/>
            <a:ext cx="150465" cy="15046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3986" y="342900"/>
            <a:ext cx="447704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3375"/>
              </a:lnSpc>
              <a:buNone/>
            </a:pPr>
            <a:r>
              <a:rPr lang="en-US" sz="2250" kern="0" spc="-3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ML Pipeline &amp; Evaluation Strategy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457200" y="842516"/>
            <a:ext cx="457200" cy="291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BC9000"/>
              </a:gs>
              <a:gs pos="100000">
                <a:srgbClr val="5C8A65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457200" y="1058317"/>
            <a:ext cx="4043065" cy="1572816"/>
          </a:xfrm>
          <a:prstGeom prst="roundRect">
            <a:avLst>
              <a:gd name="adj" fmla="val 6379"/>
            </a:avLst>
          </a:prstGeom>
          <a:solidFill>
            <a:srgbClr val="3D6B4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57200" y="1058317"/>
            <a:ext cx="28575" cy="1572816"/>
          </a:xfrm>
          <a:custGeom>
            <a:avLst/>
            <a:gdLst/>
            <a:ahLst/>
            <a:cxnLst/>
            <a:rect l="l" t="t" r="r" b="b"/>
            <a:pathLst>
              <a:path w="28575" h="1572816">
                <a:moveTo>
                  <a:pt x="0" y="100330"/>
                </a:moveTo>
                <a:lnTo>
                  <a:pt x="3572" y="73797"/>
                </a:lnTo>
                <a:lnTo>
                  <a:pt x="7144" y="63149"/>
                </a:lnTo>
                <a:lnTo>
                  <a:pt x="10716" y="55215"/>
                </a:lnTo>
                <a:lnTo>
                  <a:pt x="14288" y="48727"/>
                </a:lnTo>
                <a:lnTo>
                  <a:pt x="17859" y="43192"/>
                </a:lnTo>
                <a:lnTo>
                  <a:pt x="21431" y="38353"/>
                </a:lnTo>
                <a:lnTo>
                  <a:pt x="25003" y="34058"/>
                </a:lnTo>
                <a:lnTo>
                  <a:pt x="28575" y="30206"/>
                </a:lnTo>
                <a:lnTo>
                  <a:pt x="28575" y="1542609"/>
                </a:lnTo>
                <a:lnTo>
                  <a:pt x="25003" y="1538758"/>
                </a:lnTo>
                <a:lnTo>
                  <a:pt x="21431" y="1534462"/>
                </a:lnTo>
                <a:lnTo>
                  <a:pt x="17859" y="1529623"/>
                </a:lnTo>
                <a:lnTo>
                  <a:pt x="14288" y="1524088"/>
                </a:lnTo>
                <a:lnTo>
                  <a:pt x="10716" y="1517601"/>
                </a:lnTo>
                <a:lnTo>
                  <a:pt x="7144" y="1509667"/>
                </a:lnTo>
                <a:lnTo>
                  <a:pt x="3572" y="1499018"/>
                </a:lnTo>
                <a:lnTo>
                  <a:pt x="0" y="1472486"/>
                </a:lnTo>
                <a:close/>
              </a:path>
            </a:pathLst>
          </a:custGeom>
          <a:solidFill>
            <a:srgbClr val="BC900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4370636" y="987326"/>
            <a:ext cx="200620" cy="220682"/>
          </a:xfrm>
          <a:prstGeom prst="ellipse">
            <a:avLst/>
          </a:prstGeom>
          <a:solidFill>
            <a:srgbClr val="BC900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2B5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30" dirty="0"/>
          </a:p>
        </p:txBody>
      </p:sp>
      <p:sp>
        <p:nvSpPr>
          <p:cNvPr id="8" name="Text 5"/>
          <p:cNvSpPr/>
          <p:nvPr/>
        </p:nvSpPr>
        <p:spPr>
          <a:xfrm>
            <a:off x="714375" y="1258937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BC9000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30907" y="1375470"/>
            <a:ext cx="139005" cy="13900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57895" y="1258937"/>
            <a:ext cx="331514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80" dirty="0">
                <a:solidFill>
                  <a:srgbClr val="BC9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MODELS</a:t>
            </a:r>
            <a:endParaRPr lang="en-US" sz="730" dirty="0"/>
          </a:p>
        </p:txBody>
      </p:sp>
      <p:sp>
        <p:nvSpPr>
          <p:cNvPr id="11" name="Text 7"/>
          <p:cNvSpPr/>
          <p:nvPr/>
        </p:nvSpPr>
        <p:spPr>
          <a:xfrm>
            <a:off x="1257895" y="1441103"/>
            <a:ext cx="3074045" cy="5756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</a:t>
            </a:r>
            <a:r>
              <a:rPr lang="en-US" sz="96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(raw + PCA)</a:t>
            </a:r>
            <a:b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</a:t>
            </a:r>
            <a:r>
              <a:rPr lang="en-US" sz="96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 trees, max_depth=5)</a:t>
            </a:r>
            <a:b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</a:t>
            </a:r>
            <a:r>
              <a:rPr lang="en-US" sz="96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(100 estimators, max_depth=3)</a:t>
            </a:r>
            <a:b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</a:t>
            </a:r>
            <a:r>
              <a:rPr lang="en-US" sz="96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(RBF kernel)</a:t>
            </a:r>
            <a:endParaRPr lang="en-US" sz="960" dirty="0"/>
          </a:p>
        </p:txBody>
      </p:sp>
      <p:sp>
        <p:nvSpPr>
          <p:cNvPr id="12" name="Text 8"/>
          <p:cNvSpPr/>
          <p:nvPr/>
        </p:nvSpPr>
        <p:spPr>
          <a:xfrm>
            <a:off x="4643735" y="1058317"/>
            <a:ext cx="4043065" cy="1572816"/>
          </a:xfrm>
          <a:prstGeom prst="roundRect">
            <a:avLst>
              <a:gd name="adj" fmla="val 6379"/>
            </a:avLst>
          </a:prstGeom>
          <a:solidFill>
            <a:srgbClr val="3D6B4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4643735" y="1058317"/>
            <a:ext cx="28575" cy="1572816"/>
          </a:xfrm>
          <a:custGeom>
            <a:avLst/>
            <a:gdLst/>
            <a:ahLst/>
            <a:cxnLst/>
            <a:rect l="l" t="t" r="r" b="b"/>
            <a:pathLst>
              <a:path w="28575" h="1572816">
                <a:moveTo>
                  <a:pt x="0" y="100330"/>
                </a:moveTo>
                <a:lnTo>
                  <a:pt x="3572" y="73797"/>
                </a:lnTo>
                <a:lnTo>
                  <a:pt x="7144" y="63149"/>
                </a:lnTo>
                <a:lnTo>
                  <a:pt x="10716" y="55215"/>
                </a:lnTo>
                <a:lnTo>
                  <a:pt x="14288" y="48727"/>
                </a:lnTo>
                <a:lnTo>
                  <a:pt x="17859" y="43192"/>
                </a:lnTo>
                <a:lnTo>
                  <a:pt x="21431" y="38353"/>
                </a:lnTo>
                <a:lnTo>
                  <a:pt x="25003" y="34058"/>
                </a:lnTo>
                <a:lnTo>
                  <a:pt x="28575" y="30206"/>
                </a:lnTo>
                <a:lnTo>
                  <a:pt x="28575" y="1542609"/>
                </a:lnTo>
                <a:lnTo>
                  <a:pt x="25003" y="1538758"/>
                </a:lnTo>
                <a:lnTo>
                  <a:pt x="21431" y="1534462"/>
                </a:lnTo>
                <a:lnTo>
                  <a:pt x="17859" y="1529623"/>
                </a:lnTo>
                <a:lnTo>
                  <a:pt x="14288" y="1524088"/>
                </a:lnTo>
                <a:lnTo>
                  <a:pt x="10716" y="1517601"/>
                </a:lnTo>
                <a:lnTo>
                  <a:pt x="7144" y="1509667"/>
                </a:lnTo>
                <a:lnTo>
                  <a:pt x="3572" y="1499018"/>
                </a:lnTo>
                <a:lnTo>
                  <a:pt x="0" y="1472486"/>
                </a:lnTo>
                <a:close/>
              </a:path>
            </a:pathLst>
          </a:custGeom>
          <a:solidFill>
            <a:srgbClr val="5C8A65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8557171" y="987326"/>
            <a:ext cx="200620" cy="220682"/>
          </a:xfrm>
          <a:prstGeom prst="ellipse">
            <a:avLst/>
          </a:prstGeom>
          <a:solidFill>
            <a:srgbClr val="5C8A65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2B5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30" dirty="0"/>
          </a:p>
        </p:txBody>
      </p:sp>
      <p:sp>
        <p:nvSpPr>
          <p:cNvPr id="15" name="Text 11"/>
          <p:cNvSpPr/>
          <p:nvPr/>
        </p:nvSpPr>
        <p:spPr>
          <a:xfrm>
            <a:off x="4900910" y="1258937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5C8A65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17443" y="1375470"/>
            <a:ext cx="139005" cy="13900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44430" y="1258937"/>
            <a:ext cx="331514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80" dirty="0">
                <a:solidFill>
                  <a:srgbClr val="5C8A6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TRAIN-TEST SPLIT</a:t>
            </a:r>
            <a:endParaRPr lang="en-US" sz="730" dirty="0"/>
          </a:p>
        </p:txBody>
      </p:sp>
      <p:sp>
        <p:nvSpPr>
          <p:cNvPr id="18" name="Text 13"/>
          <p:cNvSpPr/>
          <p:nvPr/>
        </p:nvSpPr>
        <p:spPr>
          <a:xfrm>
            <a:off x="5444430" y="1441103"/>
            <a:ext cx="3074045" cy="383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</a:t>
            </a: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stratified train-test split ensuring class balance is preserved across partitions</a:t>
            </a:r>
            <a:endParaRPr lang="en-US" sz="960" dirty="0"/>
          </a:p>
        </p:txBody>
      </p:sp>
      <p:sp>
        <p:nvSpPr>
          <p:cNvPr id="19" name="Text 14"/>
          <p:cNvSpPr/>
          <p:nvPr/>
        </p:nvSpPr>
        <p:spPr>
          <a:xfrm>
            <a:off x="457200" y="2774603"/>
            <a:ext cx="4043065" cy="1572816"/>
          </a:xfrm>
          <a:prstGeom prst="roundRect">
            <a:avLst>
              <a:gd name="adj" fmla="val 6379"/>
            </a:avLst>
          </a:prstGeom>
          <a:solidFill>
            <a:srgbClr val="3D6B4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5"/>
          <p:cNvSpPr/>
          <p:nvPr/>
        </p:nvSpPr>
        <p:spPr>
          <a:xfrm>
            <a:off x="457200" y="2774603"/>
            <a:ext cx="28575" cy="1572816"/>
          </a:xfrm>
          <a:custGeom>
            <a:avLst/>
            <a:gdLst/>
            <a:ahLst/>
            <a:cxnLst/>
            <a:rect l="l" t="t" r="r" b="b"/>
            <a:pathLst>
              <a:path w="28575" h="1572816">
                <a:moveTo>
                  <a:pt x="0" y="100330"/>
                </a:moveTo>
                <a:lnTo>
                  <a:pt x="3572" y="73797"/>
                </a:lnTo>
                <a:lnTo>
                  <a:pt x="7144" y="63149"/>
                </a:lnTo>
                <a:lnTo>
                  <a:pt x="10716" y="55215"/>
                </a:lnTo>
                <a:lnTo>
                  <a:pt x="14288" y="48727"/>
                </a:lnTo>
                <a:lnTo>
                  <a:pt x="17859" y="43192"/>
                </a:lnTo>
                <a:lnTo>
                  <a:pt x="21431" y="38353"/>
                </a:lnTo>
                <a:lnTo>
                  <a:pt x="25003" y="34058"/>
                </a:lnTo>
                <a:lnTo>
                  <a:pt x="28575" y="30206"/>
                </a:lnTo>
                <a:lnTo>
                  <a:pt x="28575" y="1542609"/>
                </a:lnTo>
                <a:lnTo>
                  <a:pt x="25003" y="1538758"/>
                </a:lnTo>
                <a:lnTo>
                  <a:pt x="21431" y="1534462"/>
                </a:lnTo>
                <a:lnTo>
                  <a:pt x="17859" y="1529623"/>
                </a:lnTo>
                <a:lnTo>
                  <a:pt x="14288" y="1524088"/>
                </a:lnTo>
                <a:lnTo>
                  <a:pt x="10716" y="1517601"/>
                </a:lnTo>
                <a:lnTo>
                  <a:pt x="7144" y="1509667"/>
                </a:lnTo>
                <a:lnTo>
                  <a:pt x="3572" y="1499018"/>
                </a:lnTo>
                <a:lnTo>
                  <a:pt x="0" y="1472486"/>
                </a:lnTo>
                <a:close/>
              </a:path>
            </a:pathLst>
          </a:custGeom>
          <a:solidFill>
            <a:srgbClr val="6A9E73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6"/>
          <p:cNvSpPr/>
          <p:nvPr/>
        </p:nvSpPr>
        <p:spPr>
          <a:xfrm>
            <a:off x="4370636" y="2703612"/>
            <a:ext cx="200620" cy="220682"/>
          </a:xfrm>
          <a:prstGeom prst="ellipse">
            <a:avLst/>
          </a:prstGeom>
          <a:solidFill>
            <a:srgbClr val="6A9E73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2B5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30" dirty="0"/>
          </a:p>
        </p:txBody>
      </p:sp>
      <p:sp>
        <p:nvSpPr>
          <p:cNvPr id="22" name="Text 17"/>
          <p:cNvSpPr/>
          <p:nvPr/>
        </p:nvSpPr>
        <p:spPr>
          <a:xfrm>
            <a:off x="714375" y="2975223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6A9E73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907" y="3091755"/>
            <a:ext cx="139005" cy="13900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57895" y="2975223"/>
            <a:ext cx="331514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80" dirty="0">
                <a:solidFill>
                  <a:srgbClr val="6A9E73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CROSS-VALIDATION</a:t>
            </a:r>
            <a:endParaRPr lang="en-US" sz="730" dirty="0"/>
          </a:p>
        </p:txBody>
      </p:sp>
      <p:sp>
        <p:nvSpPr>
          <p:cNvPr id="25" name="Text 19"/>
          <p:cNvSpPr/>
          <p:nvPr/>
        </p:nvSpPr>
        <p:spPr>
          <a:xfrm>
            <a:off x="1257895" y="3157389"/>
            <a:ext cx="3074045" cy="383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</a:t>
            </a:r>
            <a:r>
              <a:rPr lang="en-US" sz="96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</a:t>
            </a: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cross-validation to assess generalization and guard against overfitting</a:t>
            </a:r>
            <a:endParaRPr lang="en-US" sz="960" dirty="0"/>
          </a:p>
        </p:txBody>
      </p:sp>
      <p:sp>
        <p:nvSpPr>
          <p:cNvPr id="26" name="Text 20"/>
          <p:cNvSpPr/>
          <p:nvPr/>
        </p:nvSpPr>
        <p:spPr>
          <a:xfrm>
            <a:off x="4643735" y="2774603"/>
            <a:ext cx="4043065" cy="1572816"/>
          </a:xfrm>
          <a:prstGeom prst="roundRect">
            <a:avLst>
              <a:gd name="adj" fmla="val 6379"/>
            </a:avLst>
          </a:prstGeom>
          <a:solidFill>
            <a:srgbClr val="3D6B4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1"/>
          <p:cNvSpPr/>
          <p:nvPr/>
        </p:nvSpPr>
        <p:spPr>
          <a:xfrm>
            <a:off x="4643735" y="2774603"/>
            <a:ext cx="28575" cy="1572816"/>
          </a:xfrm>
          <a:custGeom>
            <a:avLst/>
            <a:gdLst/>
            <a:ahLst/>
            <a:cxnLst/>
            <a:rect l="l" t="t" r="r" b="b"/>
            <a:pathLst>
              <a:path w="28575" h="1572816">
                <a:moveTo>
                  <a:pt x="0" y="100330"/>
                </a:moveTo>
                <a:lnTo>
                  <a:pt x="3572" y="73797"/>
                </a:lnTo>
                <a:lnTo>
                  <a:pt x="7144" y="63149"/>
                </a:lnTo>
                <a:lnTo>
                  <a:pt x="10716" y="55215"/>
                </a:lnTo>
                <a:lnTo>
                  <a:pt x="14288" y="48727"/>
                </a:lnTo>
                <a:lnTo>
                  <a:pt x="17859" y="43192"/>
                </a:lnTo>
                <a:lnTo>
                  <a:pt x="21431" y="38353"/>
                </a:lnTo>
                <a:lnTo>
                  <a:pt x="25003" y="34058"/>
                </a:lnTo>
                <a:lnTo>
                  <a:pt x="28575" y="30206"/>
                </a:lnTo>
                <a:lnTo>
                  <a:pt x="28575" y="1542609"/>
                </a:lnTo>
                <a:lnTo>
                  <a:pt x="25003" y="1538758"/>
                </a:lnTo>
                <a:lnTo>
                  <a:pt x="21431" y="1534462"/>
                </a:lnTo>
                <a:lnTo>
                  <a:pt x="17859" y="1529623"/>
                </a:lnTo>
                <a:lnTo>
                  <a:pt x="14288" y="1524088"/>
                </a:lnTo>
                <a:lnTo>
                  <a:pt x="10716" y="1517601"/>
                </a:lnTo>
                <a:lnTo>
                  <a:pt x="7144" y="1509667"/>
                </a:lnTo>
                <a:lnTo>
                  <a:pt x="3572" y="1499018"/>
                </a:lnTo>
                <a:lnTo>
                  <a:pt x="0" y="1472486"/>
                </a:lnTo>
                <a:close/>
              </a:path>
            </a:pathLst>
          </a:custGeom>
          <a:solidFill>
            <a:srgbClr val="BC900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2"/>
          <p:cNvSpPr/>
          <p:nvPr/>
        </p:nvSpPr>
        <p:spPr>
          <a:xfrm>
            <a:off x="8557171" y="2703612"/>
            <a:ext cx="200620" cy="220682"/>
          </a:xfrm>
          <a:prstGeom prst="ellipse">
            <a:avLst/>
          </a:prstGeom>
          <a:solidFill>
            <a:srgbClr val="BC9000"/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2B5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30" dirty="0"/>
          </a:p>
        </p:txBody>
      </p:sp>
      <p:sp>
        <p:nvSpPr>
          <p:cNvPr id="29" name="Text 23"/>
          <p:cNvSpPr/>
          <p:nvPr/>
        </p:nvSpPr>
        <p:spPr>
          <a:xfrm>
            <a:off x="4900910" y="2975223"/>
            <a:ext cx="372070" cy="372070"/>
          </a:xfrm>
          <a:prstGeom prst="roundRect">
            <a:avLst>
              <a:gd name="adj" fmla="val 23211"/>
            </a:avLst>
          </a:prstGeom>
          <a:solidFill>
            <a:srgbClr val="BC9000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17443" y="3091755"/>
            <a:ext cx="139005" cy="139005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444430" y="2975223"/>
            <a:ext cx="3315146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80" dirty="0">
                <a:solidFill>
                  <a:srgbClr val="BC9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EVALUATION METRICS</a:t>
            </a:r>
            <a:endParaRPr lang="en-US" sz="730" dirty="0"/>
          </a:p>
        </p:txBody>
      </p:sp>
      <p:sp>
        <p:nvSpPr>
          <p:cNvPr id="32" name="Text 25"/>
          <p:cNvSpPr/>
          <p:nvPr/>
        </p:nvSpPr>
        <p:spPr>
          <a:xfrm>
            <a:off x="5444430" y="3157389"/>
            <a:ext cx="3074045" cy="383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Weighted F1, AUC-ROC, Confusion Matrices and SHAP for comprehensive performance assessment</a:t>
            </a:r>
            <a:endParaRPr lang="en-US" sz="960" dirty="0"/>
          </a:p>
        </p:txBody>
      </p:sp>
      <p:sp>
        <p:nvSpPr>
          <p:cNvPr id="33" name="Text 26"/>
          <p:cNvSpPr/>
          <p:nvPr/>
        </p:nvSpPr>
        <p:spPr>
          <a:xfrm>
            <a:off x="2302073" y="4557564"/>
            <a:ext cx="715455" cy="204341"/>
          </a:xfrm>
          <a:prstGeom prst="roundRect">
            <a:avLst>
              <a:gd name="adj" fmla="val 70231"/>
            </a:avLst>
          </a:prstGeom>
          <a:solidFill>
            <a:srgbClr val="BC9000"/>
          </a:solidFill>
          <a:ln/>
        </p:spPr>
        <p:txBody>
          <a:bodyPr wrap="none" lIns="114300" tIns="43180" rIns="114300" bIns="43180" rtlCol="0" anchor="t"/>
          <a:lstStyle/>
          <a:p>
            <a:pPr marL="0" indent="0" algn="l">
              <a:buNone/>
            </a:pPr>
            <a:r>
              <a:rPr lang="en-US" sz="620" b="1" kern="0" spc="60" dirty="0">
                <a:solidFill>
                  <a:srgbClr val="2B5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</a:t>
            </a:r>
            <a:endParaRPr lang="en-US" sz="620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89659" y="4627364"/>
            <a:ext cx="214313" cy="6474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3190131" y="4557564"/>
            <a:ext cx="721376" cy="204341"/>
          </a:xfrm>
          <a:prstGeom prst="roundRect">
            <a:avLst>
              <a:gd name="adj" fmla="val 70231"/>
            </a:avLst>
          </a:prstGeom>
          <a:solidFill>
            <a:srgbClr val="5C8A65">
              <a:alpha val="20000"/>
            </a:srgbClr>
          </a:solidFill>
          <a:ln/>
        </p:spPr>
        <p:txBody>
          <a:bodyPr wrap="none" lIns="114300" tIns="43180" rIns="114300" bIns="43180" rtlCol="0" anchor="t"/>
          <a:lstStyle/>
          <a:p>
            <a:pPr marL="0" indent="0" algn="l">
              <a:buNone/>
            </a:pPr>
            <a:r>
              <a:rPr lang="en-US" sz="620" b="1" kern="0" spc="60" dirty="0">
                <a:solidFill>
                  <a:srgbClr val="5C8A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620" dirty="0"/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883521" y="4627364"/>
            <a:ext cx="214313" cy="6474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4083993" y="4557564"/>
            <a:ext cx="1058079" cy="204341"/>
          </a:xfrm>
          <a:prstGeom prst="roundRect">
            <a:avLst>
              <a:gd name="adj" fmla="val 70231"/>
            </a:avLst>
          </a:prstGeom>
          <a:solidFill>
            <a:srgbClr val="6A9E73">
              <a:alpha val="20000"/>
            </a:srgbClr>
          </a:solidFill>
          <a:ln/>
        </p:spPr>
        <p:txBody>
          <a:bodyPr wrap="none" lIns="114300" tIns="43180" rIns="114300" bIns="43180" rtlCol="0" anchor="t"/>
          <a:lstStyle/>
          <a:p>
            <a:pPr marL="0" indent="0" algn="l">
              <a:buNone/>
            </a:pPr>
            <a:r>
              <a:rPr lang="en-US" sz="620" b="1" kern="0" spc="60" dirty="0">
                <a:solidFill>
                  <a:srgbClr val="6A9E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/ VALIDATE</a:t>
            </a:r>
            <a:endParaRPr lang="en-US" sz="620" dirty="0"/>
          </a:p>
        </p:txBody>
      </p:sp>
      <p:pic>
        <p:nvPicPr>
          <p:cNvPr id="38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07484" y="4627364"/>
            <a:ext cx="214313" cy="64740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307955" y="4557564"/>
            <a:ext cx="715455" cy="204341"/>
          </a:xfrm>
          <a:prstGeom prst="roundRect">
            <a:avLst>
              <a:gd name="adj" fmla="val 70231"/>
            </a:avLst>
          </a:prstGeom>
          <a:solidFill>
            <a:srgbClr val="BC9000">
              <a:alpha val="20000"/>
            </a:srgbClr>
          </a:solidFill>
          <a:ln/>
        </p:spPr>
        <p:txBody>
          <a:bodyPr wrap="none" lIns="114300" tIns="43180" rIns="114300" bIns="43180" rtlCol="0" anchor="t"/>
          <a:lstStyle/>
          <a:p>
            <a:pPr marL="0" indent="0" algn="l">
              <a:buNone/>
            </a:pPr>
            <a:r>
              <a:rPr lang="en-US" sz="620" b="1" kern="0" spc="60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620" dirty="0"/>
          </a:p>
        </p:txBody>
      </p:sp>
      <p:pic>
        <p:nvPicPr>
          <p:cNvPr id="40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995541" y="4627364"/>
            <a:ext cx="214313" cy="6474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6196013" y="4548039"/>
            <a:ext cx="658832" cy="223391"/>
          </a:xfrm>
          <a:prstGeom prst="roundRect">
            <a:avLst>
              <a:gd name="adj" fmla="val 64242"/>
            </a:avLst>
          </a:prstGeom>
          <a:solidFill>
            <a:srgbClr val="BC9000">
              <a:alpha val="15000"/>
            </a:srgbClr>
          </a:solidFill>
          <a:ln w="9525">
            <a:solidFill>
              <a:srgbClr val="BC9000"/>
            </a:solidFill>
          </a:ln>
        </p:spPr>
        <p:txBody>
          <a:bodyPr wrap="none" lIns="114300" tIns="43180" rIns="114300" bIns="43180" rtlCol="0" anchor="t"/>
          <a:lstStyle/>
          <a:p>
            <a:pPr marL="0" indent="0" algn="l">
              <a:buNone/>
            </a:pPr>
            <a:r>
              <a:rPr lang="en-US" sz="620" b="1" kern="0" spc="60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62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4198"/>
    </mc:Choice>
    <mc:Fallback>
      <p:transition spd="slow" advTm="54198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5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109166"/>
            <a:ext cx="676424" cy="177299"/>
          </a:xfrm>
          <a:prstGeom prst="roundRect">
            <a:avLst>
              <a:gd name="adj" fmla="val 398982"/>
            </a:avLst>
          </a:prstGeom>
          <a:solidFill>
            <a:srgbClr val="BC9000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62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62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364956" y="127001"/>
            <a:ext cx="164910" cy="1649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00050" y="278160"/>
            <a:ext cx="8927973" cy="30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36"/>
              </a:lnSpc>
              <a:buNone/>
            </a:pPr>
            <a:r>
              <a:rPr lang="en-US" sz="2030" kern="0" spc="-2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Where the Models Get It Right </a:t>
            </a:r>
            <a:r>
              <a:rPr lang="en-US" sz="2030" kern="0" spc="-20" dirty="0">
                <a:solidFill>
                  <a:srgbClr val="BC9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— and Wrong</a:t>
            </a:r>
            <a:endParaRPr lang="en-US" sz="2030" dirty="0"/>
          </a:p>
        </p:txBody>
      </p:sp>
      <p:sp>
        <p:nvSpPr>
          <p:cNvPr id="5" name="Text 2"/>
          <p:cNvSpPr/>
          <p:nvPr/>
        </p:nvSpPr>
        <p:spPr>
          <a:xfrm>
            <a:off x="179577" y="587426"/>
            <a:ext cx="5186516" cy="4429073"/>
          </a:xfrm>
          <a:prstGeom prst="roundRect">
            <a:avLst>
              <a:gd name="adj" fmla="val 2352"/>
            </a:avLst>
          </a:prstGeom>
          <a:solidFill>
            <a:srgbClr val="3D6B4A"/>
          </a:solidFill>
          <a:ln w="9525">
            <a:solidFill>
              <a:srgbClr val="A8C4AF">
                <a:alpha val="15000"/>
              </a:srgbClr>
            </a:solidFill>
          </a:ln>
          <a:effectLst>
            <a:outerShdw blurRad="171450" dist="29210" dir="5400000" algn="bl" rotWithShape="0">
              <a:srgbClr val="1A1A1A">
                <a:alpha val="3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364956" y="589344"/>
            <a:ext cx="514936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44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— ALL MODELS</a:t>
            </a:r>
            <a:endParaRPr lang="en-US" sz="730" dirty="0"/>
          </a:p>
        </p:txBody>
      </p:sp>
      <p:sp>
        <p:nvSpPr>
          <p:cNvPr id="8" name="Text 4"/>
          <p:cNvSpPr/>
          <p:nvPr/>
        </p:nvSpPr>
        <p:spPr>
          <a:xfrm>
            <a:off x="5551332" y="1244480"/>
            <a:ext cx="3214390" cy="731788"/>
          </a:xfrm>
          <a:prstGeom prst="roundRect">
            <a:avLst>
              <a:gd name="adj" fmla="val 9719"/>
            </a:avLst>
          </a:prstGeom>
          <a:gradFill rotWithShape="1">
            <a:gsLst>
              <a:gs pos="0">
                <a:srgbClr val="BC9000">
                  <a:alpha val="12000"/>
                </a:srgbClr>
              </a:gs>
              <a:gs pos="100000">
                <a:srgbClr val="BC9000">
                  <a:alpha val="4000"/>
                </a:srgbClr>
              </a:gs>
            </a:gsLst>
            <a:lin ang="2700000" scaled="1"/>
          </a:gradFill>
          <a:ln w="9525">
            <a:solidFill>
              <a:srgbClr val="BC9000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5"/>
          <p:cNvSpPr/>
          <p:nvPr/>
        </p:nvSpPr>
        <p:spPr>
          <a:xfrm>
            <a:off x="5667226" y="1335137"/>
            <a:ext cx="257770" cy="257770"/>
          </a:xfrm>
          <a:prstGeom prst="roundRect">
            <a:avLst>
              <a:gd name="adj" fmla="val 22171"/>
            </a:avLst>
          </a:prstGeom>
          <a:solidFill>
            <a:srgbClr val="BC9000">
              <a:alpha val="2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29743" y="1397654"/>
            <a:ext cx="132588" cy="1325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11317" y="1321296"/>
            <a:ext cx="2854464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— Best Recall</a:t>
            </a:r>
            <a:endParaRPr lang="en-US" sz="840" dirty="0"/>
          </a:p>
        </p:txBody>
      </p:sp>
      <p:sp>
        <p:nvSpPr>
          <p:cNvPr id="12" name="Text 7"/>
          <p:cNvSpPr/>
          <p:nvPr/>
        </p:nvSpPr>
        <p:spPr>
          <a:xfrm>
            <a:off x="6011317" y="1510457"/>
            <a:ext cx="2646867" cy="339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71"/>
              </a:lnSpc>
              <a:buNone/>
            </a:pPr>
            <a:r>
              <a:rPr lang="en-US" sz="8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Correctly identifies </a:t>
            </a:r>
            <a:r>
              <a:rPr lang="en-US" sz="82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of 10</a:t>
            </a:r>
            <a:r>
              <a:rPr lang="en-US" sz="8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high-performing students: </a:t>
            </a:r>
            <a:r>
              <a:rPr lang="en-US" sz="82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 recall</a:t>
            </a:r>
            <a:r>
              <a:rPr lang="en-US" sz="8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High class. Only 1 high-performer missed.</a:t>
            </a:r>
            <a:endParaRPr lang="en-US" sz="820" dirty="0"/>
          </a:p>
        </p:txBody>
      </p:sp>
      <p:sp>
        <p:nvSpPr>
          <p:cNvPr id="13" name="Text 8"/>
          <p:cNvSpPr/>
          <p:nvPr/>
        </p:nvSpPr>
        <p:spPr>
          <a:xfrm>
            <a:off x="5529560" y="2057549"/>
            <a:ext cx="3214390" cy="643830"/>
          </a:xfrm>
          <a:prstGeom prst="rect">
            <a:avLst/>
          </a:prstGeom>
          <a:solidFill>
            <a:srgbClr val="BC9000">
              <a:alpha val="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5529560" y="2057549"/>
            <a:ext cx="19050" cy="643830"/>
          </a:xfrm>
          <a:prstGeom prst="rect">
            <a:avLst/>
          </a:prstGeom>
          <a:solidFill>
            <a:srgbClr val="BC900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62910" y="2157710"/>
            <a:ext cx="143470" cy="14347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877371" y="2143869"/>
            <a:ext cx="3027506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Borderline Error Zone</a:t>
            </a:r>
            <a:endParaRPr lang="en-US" sz="790" dirty="0"/>
          </a:p>
        </p:txBody>
      </p:sp>
      <p:sp>
        <p:nvSpPr>
          <p:cNvPr id="17" name="Text 11"/>
          <p:cNvSpPr/>
          <p:nvPr/>
        </p:nvSpPr>
        <p:spPr>
          <a:xfrm>
            <a:off x="5877371" y="2315914"/>
            <a:ext cx="2807324" cy="314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78"/>
              </a:lnSpc>
              <a:buNone/>
            </a:pPr>
            <a:r>
              <a:rPr lang="en-US" sz="76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misclassifications cluster in the </a:t>
            </a: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60–75% quiz range</a:t>
            </a:r>
            <a:r>
              <a:rPr lang="en-US" sz="760" b="1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76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Students near the decision boundary are hardest to classify.</a:t>
            </a:r>
            <a:endParaRPr lang="en-US" sz="760" dirty="0"/>
          </a:p>
        </p:txBody>
      </p:sp>
      <p:sp>
        <p:nvSpPr>
          <p:cNvPr id="18" name="Text 12"/>
          <p:cNvSpPr/>
          <p:nvPr/>
        </p:nvSpPr>
        <p:spPr>
          <a:xfrm>
            <a:off x="5529560" y="2815679"/>
            <a:ext cx="3214390" cy="793403"/>
          </a:xfrm>
          <a:prstGeom prst="rect">
            <a:avLst/>
          </a:prstGeom>
          <a:solidFill>
            <a:srgbClr val="BC9000">
              <a:alpha val="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3"/>
          <p:cNvSpPr/>
          <p:nvPr/>
        </p:nvSpPr>
        <p:spPr>
          <a:xfrm>
            <a:off x="5529560" y="2815679"/>
            <a:ext cx="19050" cy="793403"/>
          </a:xfrm>
          <a:prstGeom prst="rect">
            <a:avLst/>
          </a:prstGeom>
          <a:solidFill>
            <a:srgbClr val="BC900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62910" y="2915841"/>
            <a:ext cx="143470" cy="14347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877371" y="2902000"/>
            <a:ext cx="3027506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but Weaker</a:t>
            </a:r>
            <a:endParaRPr lang="en-US" sz="790" dirty="0"/>
          </a:p>
        </p:txBody>
      </p:sp>
      <p:sp>
        <p:nvSpPr>
          <p:cNvPr id="22" name="Text 15"/>
          <p:cNvSpPr/>
          <p:nvPr/>
        </p:nvSpPr>
        <p:spPr>
          <a:xfrm>
            <a:off x="5877371" y="3074045"/>
            <a:ext cx="2807324" cy="47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78"/>
              </a:lnSpc>
              <a:buNone/>
            </a:pPr>
            <a:r>
              <a:rPr lang="en-US" sz="76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 (7 TP, 7 TN) and Random Forest (7 TP, 6 TN) are more </a:t>
            </a: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across both classes</a:t>
            </a:r>
            <a:r>
              <a:rPr lang="en-US" sz="76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but miss more high-performers than GB. SVM (3 TP) is the most conservative — strong at identifying struggling students but misses high performers.</a:t>
            </a:r>
            <a:endParaRPr lang="en-US" sz="760" dirty="0"/>
          </a:p>
        </p:txBody>
      </p:sp>
      <p:sp>
        <p:nvSpPr>
          <p:cNvPr id="23" name="Text 16"/>
          <p:cNvSpPr/>
          <p:nvPr/>
        </p:nvSpPr>
        <p:spPr>
          <a:xfrm>
            <a:off x="5529560" y="3723382"/>
            <a:ext cx="3214390" cy="793403"/>
          </a:xfrm>
          <a:prstGeom prst="rect">
            <a:avLst/>
          </a:prstGeom>
          <a:solidFill>
            <a:srgbClr val="BC9000">
              <a:alpha val="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17"/>
          <p:cNvSpPr/>
          <p:nvPr/>
        </p:nvSpPr>
        <p:spPr>
          <a:xfrm>
            <a:off x="5529560" y="3723382"/>
            <a:ext cx="19050" cy="793403"/>
          </a:xfrm>
          <a:prstGeom prst="rect">
            <a:avLst/>
          </a:prstGeom>
          <a:solidFill>
            <a:srgbClr val="BC900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62910" y="3823543"/>
            <a:ext cx="143470" cy="14347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877371" y="3809702"/>
            <a:ext cx="3027506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790" dirty="0"/>
          </a:p>
        </p:txBody>
      </p:sp>
      <p:sp>
        <p:nvSpPr>
          <p:cNvPr id="27" name="Text 19"/>
          <p:cNvSpPr/>
          <p:nvPr/>
        </p:nvSpPr>
        <p:spPr>
          <a:xfrm>
            <a:off x="5877371" y="3981748"/>
            <a:ext cx="2807324" cy="4711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178"/>
              </a:lnSpc>
              <a:buNone/>
            </a:pPr>
            <a:r>
              <a:rPr lang="en-US" sz="76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GB’s 90% High-class recall (9 of 10) with only 1 miss makes it the best choice for </a:t>
            </a: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intervention</a:t>
            </a:r>
            <a:r>
              <a:rPr lang="en-US" sz="760" b="1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</a:t>
            </a:r>
            <a:r>
              <a:rPr lang="en-US" sz="76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a tutoring system, missing a struggling student is far more costly than a false alarm.</a:t>
            </a:r>
            <a:endParaRPr lang="en-US" sz="760" dirty="0"/>
          </a:p>
        </p:txBody>
      </p:sp>
      <p:sp>
        <p:nvSpPr>
          <p:cNvPr id="28" name="Text 20"/>
          <p:cNvSpPr/>
          <p:nvPr/>
        </p:nvSpPr>
        <p:spPr>
          <a:xfrm>
            <a:off x="400050" y="4843909"/>
            <a:ext cx="8343900" cy="13841"/>
          </a:xfrm>
          <a:prstGeom prst="roundRect">
            <a:avLst>
              <a:gd name="adj" fmla="val 100932"/>
            </a:avLst>
          </a:prstGeom>
          <a:gradFill rotWithShape="1">
            <a:gsLst>
              <a:gs pos="0">
                <a:srgbClr val="BC9000"/>
              </a:gs>
              <a:gs pos="100000">
                <a:srgbClr val="1A1A1A">
                  <a:alpha val="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1"/>
          <p:cNvSpPr/>
          <p:nvPr/>
        </p:nvSpPr>
        <p:spPr>
          <a:xfrm>
            <a:off x="5527020" y="2057549"/>
            <a:ext cx="21580" cy="643831"/>
          </a:xfrm>
          <a:custGeom>
            <a:avLst/>
            <a:gdLst/>
            <a:ahLst/>
            <a:cxnLst/>
            <a:rect l="l" t="t" r="r" b="b"/>
            <a:pathLst>
              <a:path w="21580" h="643831">
                <a:moveTo>
                  <a:pt x="21590" y="0"/>
                </a:moveTo>
                <a:lnTo>
                  <a:pt x="21580" y="0"/>
                </a:lnTo>
                <a:lnTo>
                  <a:pt x="21580" y="643831"/>
                </a:lnTo>
                <a:lnTo>
                  <a:pt x="21590" y="643831"/>
                </a:lnTo>
                <a:lnTo>
                  <a:pt x="0" y="622241"/>
                </a:lnTo>
                <a:lnTo>
                  <a:pt x="415" y="626453"/>
                </a:lnTo>
                <a:lnTo>
                  <a:pt x="1643" y="630503"/>
                </a:lnTo>
                <a:lnTo>
                  <a:pt x="3639" y="634236"/>
                </a:lnTo>
                <a:lnTo>
                  <a:pt x="6324" y="637507"/>
                </a:lnTo>
                <a:lnTo>
                  <a:pt x="9595" y="640192"/>
                </a:lnTo>
                <a:lnTo>
                  <a:pt x="13328" y="642188"/>
                </a:lnTo>
                <a:lnTo>
                  <a:pt x="17378" y="643416"/>
                </a:lnTo>
                <a:lnTo>
                  <a:pt x="21580" y="643831"/>
                </a:lnTo>
                <a:lnTo>
                  <a:pt x="0" y="21590"/>
                </a:lnTo>
                <a:lnTo>
                  <a:pt x="21580" y="0"/>
                </a:lnTo>
                <a:lnTo>
                  <a:pt x="17378" y="415"/>
                </a:lnTo>
                <a:lnTo>
                  <a:pt x="13328" y="1643"/>
                </a:lnTo>
                <a:lnTo>
                  <a:pt x="9595" y="3639"/>
                </a:lnTo>
                <a:lnTo>
                  <a:pt x="6324" y="6324"/>
                </a:lnTo>
                <a:lnTo>
                  <a:pt x="3639" y="9595"/>
                </a:lnTo>
                <a:lnTo>
                  <a:pt x="1643" y="13328"/>
                </a:lnTo>
                <a:lnTo>
                  <a:pt x="415" y="17378"/>
                </a:lnTo>
                <a:lnTo>
                  <a:pt x="0" y="21590"/>
                </a:lnTo>
                <a:close/>
              </a:path>
            </a:pathLst>
          </a:custGeom>
          <a:solidFill>
            <a:srgbClr val="BC900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2"/>
          <p:cNvSpPr/>
          <p:nvPr/>
        </p:nvSpPr>
        <p:spPr>
          <a:xfrm>
            <a:off x="5527020" y="2815679"/>
            <a:ext cx="21580" cy="793403"/>
          </a:xfrm>
          <a:custGeom>
            <a:avLst/>
            <a:gdLst/>
            <a:ahLst/>
            <a:cxnLst/>
            <a:rect l="l" t="t" r="r" b="b"/>
            <a:pathLst>
              <a:path w="21580" h="793403">
                <a:moveTo>
                  <a:pt x="21590" y="0"/>
                </a:moveTo>
                <a:lnTo>
                  <a:pt x="21580" y="0"/>
                </a:lnTo>
                <a:lnTo>
                  <a:pt x="21580" y="793403"/>
                </a:lnTo>
                <a:lnTo>
                  <a:pt x="21590" y="793403"/>
                </a:lnTo>
                <a:lnTo>
                  <a:pt x="0" y="771813"/>
                </a:lnTo>
                <a:lnTo>
                  <a:pt x="415" y="776025"/>
                </a:lnTo>
                <a:lnTo>
                  <a:pt x="1643" y="780075"/>
                </a:lnTo>
                <a:lnTo>
                  <a:pt x="3639" y="783808"/>
                </a:lnTo>
                <a:lnTo>
                  <a:pt x="6324" y="787079"/>
                </a:lnTo>
                <a:lnTo>
                  <a:pt x="9595" y="789764"/>
                </a:lnTo>
                <a:lnTo>
                  <a:pt x="13328" y="791760"/>
                </a:lnTo>
                <a:lnTo>
                  <a:pt x="17378" y="792988"/>
                </a:lnTo>
                <a:lnTo>
                  <a:pt x="21580" y="793403"/>
                </a:lnTo>
                <a:lnTo>
                  <a:pt x="0" y="21590"/>
                </a:lnTo>
                <a:lnTo>
                  <a:pt x="21580" y="0"/>
                </a:lnTo>
                <a:lnTo>
                  <a:pt x="17378" y="415"/>
                </a:lnTo>
                <a:lnTo>
                  <a:pt x="13328" y="1643"/>
                </a:lnTo>
                <a:lnTo>
                  <a:pt x="9595" y="3639"/>
                </a:lnTo>
                <a:lnTo>
                  <a:pt x="6324" y="6324"/>
                </a:lnTo>
                <a:lnTo>
                  <a:pt x="3639" y="9595"/>
                </a:lnTo>
                <a:lnTo>
                  <a:pt x="1643" y="13328"/>
                </a:lnTo>
                <a:lnTo>
                  <a:pt x="415" y="17378"/>
                </a:lnTo>
                <a:lnTo>
                  <a:pt x="0" y="21590"/>
                </a:lnTo>
                <a:close/>
              </a:path>
            </a:pathLst>
          </a:custGeom>
          <a:solidFill>
            <a:srgbClr val="BC900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3"/>
          <p:cNvSpPr/>
          <p:nvPr/>
        </p:nvSpPr>
        <p:spPr>
          <a:xfrm>
            <a:off x="5527020" y="3723382"/>
            <a:ext cx="21580" cy="793403"/>
          </a:xfrm>
          <a:custGeom>
            <a:avLst/>
            <a:gdLst/>
            <a:ahLst/>
            <a:cxnLst/>
            <a:rect l="l" t="t" r="r" b="b"/>
            <a:pathLst>
              <a:path w="21580" h="793403">
                <a:moveTo>
                  <a:pt x="21590" y="0"/>
                </a:moveTo>
                <a:lnTo>
                  <a:pt x="21580" y="0"/>
                </a:lnTo>
                <a:lnTo>
                  <a:pt x="21580" y="793403"/>
                </a:lnTo>
                <a:lnTo>
                  <a:pt x="21590" y="793403"/>
                </a:lnTo>
                <a:lnTo>
                  <a:pt x="0" y="771813"/>
                </a:lnTo>
                <a:lnTo>
                  <a:pt x="415" y="776025"/>
                </a:lnTo>
                <a:lnTo>
                  <a:pt x="1643" y="780075"/>
                </a:lnTo>
                <a:lnTo>
                  <a:pt x="3639" y="783808"/>
                </a:lnTo>
                <a:lnTo>
                  <a:pt x="6324" y="787079"/>
                </a:lnTo>
                <a:lnTo>
                  <a:pt x="9595" y="789764"/>
                </a:lnTo>
                <a:lnTo>
                  <a:pt x="13328" y="791760"/>
                </a:lnTo>
                <a:lnTo>
                  <a:pt x="17378" y="792988"/>
                </a:lnTo>
                <a:lnTo>
                  <a:pt x="21580" y="793403"/>
                </a:lnTo>
                <a:lnTo>
                  <a:pt x="0" y="21590"/>
                </a:lnTo>
                <a:lnTo>
                  <a:pt x="21580" y="0"/>
                </a:lnTo>
                <a:lnTo>
                  <a:pt x="17378" y="415"/>
                </a:lnTo>
                <a:lnTo>
                  <a:pt x="13328" y="1643"/>
                </a:lnTo>
                <a:lnTo>
                  <a:pt x="9595" y="3639"/>
                </a:lnTo>
                <a:lnTo>
                  <a:pt x="6324" y="6324"/>
                </a:lnTo>
                <a:lnTo>
                  <a:pt x="3639" y="9595"/>
                </a:lnTo>
                <a:lnTo>
                  <a:pt x="1643" y="13328"/>
                </a:lnTo>
                <a:lnTo>
                  <a:pt x="415" y="17378"/>
                </a:lnTo>
                <a:lnTo>
                  <a:pt x="0" y="21590"/>
                </a:lnTo>
                <a:close/>
              </a:path>
            </a:pathLst>
          </a:custGeom>
          <a:solidFill>
            <a:srgbClr val="BC900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ADA154C5-F24E-45CD-C01C-B81295CE919F}"/>
              </a:ext>
            </a:extLst>
          </p:cNvPr>
          <p:cNvSpPr/>
          <p:nvPr/>
        </p:nvSpPr>
        <p:spPr>
          <a:xfrm>
            <a:off x="5537902" y="1284662"/>
            <a:ext cx="21580" cy="643831"/>
          </a:xfrm>
          <a:custGeom>
            <a:avLst/>
            <a:gdLst/>
            <a:ahLst/>
            <a:cxnLst/>
            <a:rect l="l" t="t" r="r" b="b"/>
            <a:pathLst>
              <a:path w="21580" h="643831">
                <a:moveTo>
                  <a:pt x="21590" y="0"/>
                </a:moveTo>
                <a:lnTo>
                  <a:pt x="21580" y="0"/>
                </a:lnTo>
                <a:lnTo>
                  <a:pt x="21580" y="643831"/>
                </a:lnTo>
                <a:lnTo>
                  <a:pt x="21590" y="643831"/>
                </a:lnTo>
                <a:lnTo>
                  <a:pt x="0" y="622241"/>
                </a:lnTo>
                <a:lnTo>
                  <a:pt x="415" y="626453"/>
                </a:lnTo>
                <a:lnTo>
                  <a:pt x="1643" y="630503"/>
                </a:lnTo>
                <a:lnTo>
                  <a:pt x="3639" y="634236"/>
                </a:lnTo>
                <a:lnTo>
                  <a:pt x="6324" y="637507"/>
                </a:lnTo>
                <a:lnTo>
                  <a:pt x="9595" y="640192"/>
                </a:lnTo>
                <a:lnTo>
                  <a:pt x="13328" y="642188"/>
                </a:lnTo>
                <a:lnTo>
                  <a:pt x="17378" y="643416"/>
                </a:lnTo>
                <a:lnTo>
                  <a:pt x="21580" y="643831"/>
                </a:lnTo>
                <a:lnTo>
                  <a:pt x="0" y="21590"/>
                </a:lnTo>
                <a:lnTo>
                  <a:pt x="21580" y="0"/>
                </a:lnTo>
                <a:lnTo>
                  <a:pt x="17378" y="415"/>
                </a:lnTo>
                <a:lnTo>
                  <a:pt x="13328" y="1643"/>
                </a:lnTo>
                <a:lnTo>
                  <a:pt x="9595" y="3639"/>
                </a:lnTo>
                <a:lnTo>
                  <a:pt x="6324" y="6324"/>
                </a:lnTo>
                <a:lnTo>
                  <a:pt x="3639" y="9595"/>
                </a:lnTo>
                <a:lnTo>
                  <a:pt x="1643" y="13328"/>
                </a:lnTo>
                <a:lnTo>
                  <a:pt x="415" y="17378"/>
                </a:lnTo>
                <a:lnTo>
                  <a:pt x="0" y="21590"/>
                </a:lnTo>
                <a:close/>
              </a:path>
            </a:pathLst>
          </a:custGeom>
          <a:solidFill>
            <a:srgbClr val="BC900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8DD537A6-0597-533B-9E71-03B692D858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956" y="754745"/>
            <a:ext cx="2224145" cy="2045419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2E539752-BCA7-014F-0460-72ABCD2E15D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85446" y="756419"/>
            <a:ext cx="2224145" cy="204541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94B530D0-E6C0-3C1A-7F39-2A17E1542F5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0005" y="2874970"/>
            <a:ext cx="2224145" cy="2045419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C4924A8E-F9E6-97A4-F263-94BA0D52A22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63457" y="2865464"/>
            <a:ext cx="2224146" cy="20454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9774"/>
    </mc:Choice>
    <mc:Fallback>
      <p:transition spd="slow" advTm="49774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52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CEFCEB-9475-77D2-81A5-11DA394406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C106AB9-D3A4-F929-6CA8-E9B937571D0A}"/>
              </a:ext>
            </a:extLst>
          </p:cNvPr>
          <p:cNvSpPr/>
          <p:nvPr/>
        </p:nvSpPr>
        <p:spPr>
          <a:xfrm>
            <a:off x="6428780" y="0"/>
            <a:ext cx="2715220" cy="2143720"/>
          </a:xfrm>
          <a:prstGeom prst="ellipse">
            <a:avLst/>
          </a:prstGeom>
          <a:gradFill rotWithShape="1">
            <a:gsLst>
              <a:gs pos="0">
                <a:srgbClr val="BC9000">
                  <a:alpha val="8000"/>
                </a:srgbClr>
              </a:gs>
              <a:gs pos="70000">
                <a:srgbClr val="1A1A1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819451B-5AC7-0F03-C9C4-6694DC2E5209}"/>
              </a:ext>
            </a:extLst>
          </p:cNvPr>
          <p:cNvSpPr/>
          <p:nvPr/>
        </p:nvSpPr>
        <p:spPr>
          <a:xfrm>
            <a:off x="400050" y="314920"/>
            <a:ext cx="917829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620" b="1" kern="0" spc="93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INTERPRETABILITY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073E021-8FFC-0C51-8090-55C81D4058F9}"/>
              </a:ext>
            </a:extLst>
          </p:cNvPr>
          <p:cNvSpPr/>
          <p:nvPr/>
        </p:nvSpPr>
        <p:spPr>
          <a:xfrm>
            <a:off x="400050" y="490091"/>
            <a:ext cx="8927973" cy="312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61"/>
              </a:lnSpc>
              <a:spcAft>
                <a:spcPts val="340"/>
              </a:spcAft>
              <a:buNone/>
            </a:pPr>
            <a:r>
              <a:rPr lang="en-US" sz="214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Behavioral Model Interpretability (16 Features)</a:t>
            </a:r>
            <a:endParaRPr lang="en-US" sz="214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5A2ED62-D1B7-5397-AA56-E1FBFA9086DF}"/>
              </a:ext>
            </a:extLst>
          </p:cNvPr>
          <p:cNvSpPr/>
          <p:nvPr/>
        </p:nvSpPr>
        <p:spPr>
          <a:xfrm>
            <a:off x="400050" y="845641"/>
            <a:ext cx="429220" cy="291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BC9000"/>
              </a:gs>
              <a:gs pos="100000">
                <a:srgbClr val="A0780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7A0D243E-66C6-4C6D-F9B8-C3723FBF0084}"/>
              </a:ext>
            </a:extLst>
          </p:cNvPr>
          <p:cNvSpPr/>
          <p:nvPr/>
        </p:nvSpPr>
        <p:spPr>
          <a:xfrm>
            <a:off x="163486" y="1115893"/>
            <a:ext cx="8412480" cy="3370783"/>
          </a:xfrm>
          <a:prstGeom prst="roundRect">
            <a:avLst>
              <a:gd name="adj" fmla="val 2797"/>
            </a:avLst>
          </a:prstGeom>
          <a:solidFill>
            <a:srgbClr val="3D6B4A"/>
          </a:solidFill>
          <a:ln w="9525">
            <a:solidFill>
              <a:srgbClr val="A8C4AF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3">
            <a:extLst>
              <a:ext uri="{FF2B5EF4-FFF2-40B4-BE49-F238E27FC236}">
                <a16:creationId xmlns:a16="http://schemas.microsoft.com/office/drawing/2014/main" id="{BD5C9AEA-E145-7691-9308-A5FDA4CCD729}"/>
              </a:ext>
            </a:extLst>
          </p:cNvPr>
          <p:cNvSpPr/>
          <p:nvPr/>
        </p:nvSpPr>
        <p:spPr>
          <a:xfrm>
            <a:off x="5039320" y="5875734"/>
            <a:ext cx="100731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CONVERGENCE</a:t>
            </a:r>
            <a:endParaRPr lang="en-US" sz="620" dirty="0"/>
          </a:p>
        </p:txBody>
      </p:sp>
      <p:sp>
        <p:nvSpPr>
          <p:cNvPr id="59" name="Text 54">
            <a:extLst>
              <a:ext uri="{FF2B5EF4-FFF2-40B4-BE49-F238E27FC236}">
                <a16:creationId xmlns:a16="http://schemas.microsoft.com/office/drawing/2014/main" id="{C1FB948F-B1CA-4126-0F9B-D20C780134A0}"/>
              </a:ext>
            </a:extLst>
          </p:cNvPr>
          <p:cNvSpPr/>
          <p:nvPr/>
        </p:nvSpPr>
        <p:spPr>
          <a:xfrm>
            <a:off x="4810720" y="6050905"/>
            <a:ext cx="3780234" cy="508626"/>
          </a:xfrm>
          <a:prstGeom prst="roundRect">
            <a:avLst>
              <a:gd name="adj" fmla="val 11236"/>
            </a:avLst>
          </a:prstGeom>
          <a:solidFill>
            <a:srgbClr val="BC9000">
              <a:alpha val="8000"/>
            </a:srgbClr>
          </a:solidFill>
          <a:ln w="9525">
            <a:solidFill>
              <a:srgbClr val="BC9000">
                <a:alpha val="15000"/>
              </a:srgbClr>
            </a:solidFill>
          </a:ln>
        </p:spPr>
        <p:txBody>
          <a:bodyPr wrap="square" lIns="100330" tIns="57150" rIns="100330" bIns="57150" rtlCol="0" anchor="t"/>
          <a:lstStyle/>
          <a:p>
            <a:pPr marL="0" indent="0" algn="ctr">
              <a:buNone/>
            </a:pPr>
            <a:r>
              <a:rPr lang="en-US" sz="62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methods agree on</a:t>
            </a:r>
            <a:endParaRPr lang="en-US" sz="620" dirty="0"/>
          </a:p>
          <a:p>
            <a:pPr marL="0" indent="0" algn="ctr">
              <a:buNone/>
            </a:pPr>
            <a:r>
              <a:rPr lang="en-US" sz="79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&amp; Total Messages</a:t>
            </a:r>
            <a:endParaRPr lang="en-US" sz="620" dirty="0"/>
          </a:p>
        </p:txBody>
      </p:sp>
      <p:sp>
        <p:nvSpPr>
          <p:cNvPr id="60" name="Text 55">
            <a:extLst>
              <a:ext uri="{FF2B5EF4-FFF2-40B4-BE49-F238E27FC236}">
                <a16:creationId xmlns:a16="http://schemas.microsoft.com/office/drawing/2014/main" id="{B7A515A7-6A37-CE0E-64AD-FDD2A20847D2}"/>
              </a:ext>
            </a:extLst>
          </p:cNvPr>
          <p:cNvSpPr/>
          <p:nvPr/>
        </p:nvSpPr>
        <p:spPr>
          <a:xfrm>
            <a:off x="400050" y="4623225"/>
            <a:ext cx="8343900" cy="379661"/>
          </a:xfrm>
          <a:prstGeom prst="roundRect">
            <a:avLst>
              <a:gd name="adj" fmla="val 22747"/>
            </a:avLst>
          </a:prstGeom>
          <a:gradFill rotWithShape="1">
            <a:gsLst>
              <a:gs pos="0">
                <a:srgbClr val="BC9000">
                  <a:alpha val="12000"/>
                </a:srgbClr>
              </a:gs>
              <a:gs pos="100000">
                <a:srgbClr val="BC9000">
                  <a:alpha val="4000"/>
                </a:srgbClr>
              </a:gs>
            </a:gsLst>
            <a:lin ang="2700000" scaled="1"/>
          </a:gradFill>
          <a:ln w="9525">
            <a:solidFill>
              <a:srgbClr val="BC9000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1" name="Image 3" descr="preencoded.png">
            <a:extLst>
              <a:ext uri="{FF2B5EF4-FFF2-40B4-BE49-F238E27FC236}">
                <a16:creationId xmlns:a16="http://schemas.microsoft.com/office/drawing/2014/main" id="{30980A41-4FFB-6F5B-EEBD-3A8E1B0C58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6360" y="4792485"/>
            <a:ext cx="132588" cy="132588"/>
          </a:xfrm>
          <a:prstGeom prst="rect">
            <a:avLst/>
          </a:prstGeom>
        </p:spPr>
      </p:pic>
      <p:sp>
        <p:nvSpPr>
          <p:cNvPr id="62" name="Text 56">
            <a:extLst>
              <a:ext uri="{FF2B5EF4-FFF2-40B4-BE49-F238E27FC236}">
                <a16:creationId xmlns:a16="http://schemas.microsoft.com/office/drawing/2014/main" id="{03A46647-9D8B-78E2-6408-603525D70871}"/>
              </a:ext>
            </a:extLst>
          </p:cNvPr>
          <p:cNvSpPr/>
          <p:nvPr/>
        </p:nvSpPr>
        <p:spPr>
          <a:xfrm>
            <a:off x="719442" y="4712397"/>
            <a:ext cx="7051428" cy="212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r>
              <a:rPr lang="en-US" sz="8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Difficulty features appear highly influential, but their impact doesn’t hold on newer tests, revealing the leakage risk.</a:t>
            </a:r>
            <a:endParaRPr lang="en-US" sz="84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D40A7E4A-B7D6-09E6-41A3-083C8CF08D90}"/>
              </a:ext>
            </a:extLst>
          </p:cNvPr>
          <p:cNvSpPr txBox="1"/>
          <p:nvPr/>
        </p:nvSpPr>
        <p:spPr>
          <a:xfrm>
            <a:off x="704006" y="1148896"/>
            <a:ext cx="7735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4"/>
                </a:solidFill>
              </a:rPr>
              <a:t>Random Forest Feature Importance (Model-Based)                               SHAP Results (Model Agnostic)</a:t>
            </a:r>
          </a:p>
        </p:txBody>
      </p:sp>
      <p:sp>
        <p:nvSpPr>
          <p:cNvPr id="67" name="Text 4">
            <a:extLst>
              <a:ext uri="{FF2B5EF4-FFF2-40B4-BE49-F238E27FC236}">
                <a16:creationId xmlns:a16="http://schemas.microsoft.com/office/drawing/2014/main" id="{31DBEF0D-BC2D-7B0A-E38C-972DBE9E07D3}"/>
              </a:ext>
            </a:extLst>
          </p:cNvPr>
          <p:cNvSpPr/>
          <p:nvPr/>
        </p:nvSpPr>
        <p:spPr>
          <a:xfrm>
            <a:off x="400050" y="879477"/>
            <a:ext cx="348262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50"/>
              </a:lnSpc>
              <a:spcBef>
                <a:spcPts val="340"/>
              </a:spcBef>
              <a:buNone/>
            </a:pPr>
            <a:r>
              <a:rPr lang="en-US" sz="900" kern="0" spc="30" dirty="0">
                <a:solidFill>
                  <a:srgbClr val="A8C4AF"/>
                </a:solidFill>
                <a:latin typeface="Calibri" pitchFamily="34" charset="0"/>
                <a:cs typeface="Calibri" pitchFamily="34" charset="-120"/>
              </a:rPr>
              <a:t>HOW DIFFICULTY-RELATED FEATURES INFLUENCE PREDICTIONS</a:t>
            </a:r>
            <a:endParaRPr lang="en-US" sz="9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238397-1C39-A9EF-CE58-07B5298B81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510" y="1540870"/>
            <a:ext cx="4065349" cy="2582934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AD11C855-2A98-23AD-FB47-CB846885C0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9" y="1530891"/>
            <a:ext cx="3621408" cy="2548032"/>
          </a:xfrm>
          <a:prstGeom prst="rect">
            <a:avLst/>
          </a:prstGeom>
        </p:spPr>
      </p:pic>
      <p:sp>
        <p:nvSpPr>
          <p:cNvPr id="19" name="Rectangle 1">
            <a:extLst>
              <a:ext uri="{FF2B5EF4-FFF2-40B4-BE49-F238E27FC236}">
                <a16:creationId xmlns:a16="http://schemas.microsoft.com/office/drawing/2014/main" id="{6EFA5321-AF05-8BF1-31FC-1112CDD281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660" y="4215471"/>
            <a:ext cx="8142676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 i="1" dirty="0">
                <a:solidFill>
                  <a:srgbClr val="8AA88D"/>
                </a:solidFill>
                <a:latin typeface="-webkit-standard"/>
              </a:rPr>
              <a:t>Difficulty features rise to the top of the importance rating, with timing and pacing still contributing but less strongly.</a:t>
            </a:r>
            <a:endParaRPr lang="en-US" altLang="en-US" sz="1100" i="1" dirty="0">
              <a:solidFill>
                <a:srgbClr val="8AA88D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9241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8121"/>
    </mc:Choice>
    <mc:Fallback>
      <p:transition spd="slow" advTm="5812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B5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28780" y="0"/>
            <a:ext cx="2715220" cy="2143720"/>
          </a:xfrm>
          <a:prstGeom prst="ellipse">
            <a:avLst/>
          </a:prstGeom>
          <a:gradFill rotWithShape="1">
            <a:gsLst>
              <a:gs pos="0">
                <a:srgbClr val="BC9000">
                  <a:alpha val="8000"/>
                </a:srgbClr>
              </a:gs>
              <a:gs pos="70000">
                <a:srgbClr val="1A1A1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643610"/>
            <a:ext cx="1929110" cy="1499890"/>
          </a:xfrm>
          <a:prstGeom prst="ellipse">
            <a:avLst/>
          </a:prstGeom>
          <a:gradFill rotWithShape="1">
            <a:gsLst>
              <a:gs pos="0">
                <a:srgbClr val="BC9000">
                  <a:alpha val="5000"/>
                </a:srgbClr>
              </a:gs>
              <a:gs pos="70000">
                <a:srgbClr val="1A1A1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00050" y="314920"/>
            <a:ext cx="917829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620" b="1" kern="0" spc="93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INTERPRETABILITY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0050" y="490091"/>
            <a:ext cx="8927973" cy="312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61"/>
              </a:lnSpc>
              <a:spcAft>
                <a:spcPts val="340"/>
              </a:spcAft>
              <a:buNone/>
            </a:pPr>
            <a:r>
              <a:rPr lang="en-US" sz="214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Behavioral Model Interpretability (5 Features)</a:t>
            </a:r>
            <a:endParaRPr lang="en-US" sz="2140" dirty="0"/>
          </a:p>
        </p:txBody>
      </p:sp>
      <p:sp>
        <p:nvSpPr>
          <p:cNvPr id="6" name="Text 4"/>
          <p:cNvSpPr/>
          <p:nvPr/>
        </p:nvSpPr>
        <p:spPr>
          <a:xfrm>
            <a:off x="400050" y="845641"/>
            <a:ext cx="429220" cy="291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BC9000"/>
              </a:gs>
              <a:gs pos="100000">
                <a:srgbClr val="A0780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163486" y="1160762"/>
            <a:ext cx="8817027" cy="3196858"/>
          </a:xfrm>
          <a:prstGeom prst="roundRect">
            <a:avLst>
              <a:gd name="adj" fmla="val 2797"/>
            </a:avLst>
          </a:prstGeom>
          <a:solidFill>
            <a:srgbClr val="3D6B4A"/>
          </a:solidFill>
          <a:ln w="9525">
            <a:solidFill>
              <a:srgbClr val="A8C4AF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3"/>
          <p:cNvSpPr/>
          <p:nvPr/>
        </p:nvSpPr>
        <p:spPr>
          <a:xfrm>
            <a:off x="5039320" y="5875734"/>
            <a:ext cx="100731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CONVERGENCE</a:t>
            </a:r>
            <a:endParaRPr lang="en-US" sz="620" dirty="0"/>
          </a:p>
        </p:txBody>
      </p:sp>
      <p:sp>
        <p:nvSpPr>
          <p:cNvPr id="59" name="Text 54"/>
          <p:cNvSpPr/>
          <p:nvPr/>
        </p:nvSpPr>
        <p:spPr>
          <a:xfrm>
            <a:off x="4810720" y="6050905"/>
            <a:ext cx="3780234" cy="508626"/>
          </a:xfrm>
          <a:prstGeom prst="roundRect">
            <a:avLst>
              <a:gd name="adj" fmla="val 11236"/>
            </a:avLst>
          </a:prstGeom>
          <a:solidFill>
            <a:srgbClr val="BC9000">
              <a:alpha val="8000"/>
            </a:srgbClr>
          </a:solidFill>
          <a:ln w="9525">
            <a:solidFill>
              <a:srgbClr val="BC9000">
                <a:alpha val="15000"/>
              </a:srgbClr>
            </a:solidFill>
          </a:ln>
        </p:spPr>
        <p:txBody>
          <a:bodyPr wrap="square" lIns="100330" tIns="57150" rIns="100330" bIns="57150" rtlCol="0" anchor="t"/>
          <a:lstStyle/>
          <a:p>
            <a:pPr marL="0" indent="0" algn="ctr">
              <a:buNone/>
            </a:pPr>
            <a:r>
              <a:rPr lang="en-US" sz="62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methods agree on</a:t>
            </a:r>
            <a:endParaRPr lang="en-US" sz="620" dirty="0"/>
          </a:p>
          <a:p>
            <a:pPr marL="0" indent="0" algn="ctr">
              <a:buNone/>
            </a:pPr>
            <a:r>
              <a:rPr lang="en-US" sz="79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&amp; Total Messages</a:t>
            </a:r>
            <a:endParaRPr lang="en-US" sz="620" dirty="0"/>
          </a:p>
        </p:txBody>
      </p:sp>
      <p:sp>
        <p:nvSpPr>
          <p:cNvPr id="60" name="Text 55"/>
          <p:cNvSpPr/>
          <p:nvPr/>
        </p:nvSpPr>
        <p:spPr>
          <a:xfrm>
            <a:off x="163486" y="4522010"/>
            <a:ext cx="8343900" cy="379661"/>
          </a:xfrm>
          <a:prstGeom prst="roundRect">
            <a:avLst>
              <a:gd name="adj" fmla="val 22747"/>
            </a:avLst>
          </a:prstGeom>
          <a:gradFill rotWithShape="1">
            <a:gsLst>
              <a:gs pos="0">
                <a:srgbClr val="BC9000">
                  <a:alpha val="12000"/>
                </a:srgbClr>
              </a:gs>
              <a:gs pos="100000">
                <a:srgbClr val="BC9000">
                  <a:alpha val="4000"/>
                </a:srgbClr>
              </a:gs>
            </a:gsLst>
            <a:lin ang="2700000" scaled="1"/>
          </a:gradFill>
          <a:ln w="9525">
            <a:solidFill>
              <a:srgbClr val="BC9000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5762" y="4616211"/>
            <a:ext cx="132588" cy="132588"/>
          </a:xfrm>
          <a:prstGeom prst="rect">
            <a:avLst/>
          </a:prstGeom>
        </p:spPr>
      </p:pic>
      <p:sp>
        <p:nvSpPr>
          <p:cNvPr id="62" name="Text 56"/>
          <p:cNvSpPr/>
          <p:nvPr/>
        </p:nvSpPr>
        <p:spPr>
          <a:xfrm>
            <a:off x="757386" y="4615904"/>
            <a:ext cx="7051428" cy="2126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r>
              <a:rPr lang="en-US" sz="8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Timing (duration seconds, average response time) dominates, and structural context (session type, condition) influence consistently.  </a:t>
            </a:r>
            <a:endParaRPr lang="en-US" sz="84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91E913A5-BB95-39CC-20B5-8124B4F2F2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2885" y="1642001"/>
            <a:ext cx="4386548" cy="2177009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DB482D09-2E78-EC84-A7C1-66AD921063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5984" y="1666277"/>
            <a:ext cx="4165238" cy="2143720"/>
          </a:xfrm>
          <a:prstGeom prst="rect">
            <a:avLst/>
          </a:prstGeom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id="{78D5B51B-7941-0972-A0D9-1DB8CBDD2003}"/>
              </a:ext>
            </a:extLst>
          </p:cNvPr>
          <p:cNvSpPr txBox="1"/>
          <p:nvPr/>
        </p:nvSpPr>
        <p:spPr>
          <a:xfrm>
            <a:off x="678350" y="1233092"/>
            <a:ext cx="7735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4"/>
                </a:solidFill>
              </a:rPr>
              <a:t>Random Forest Feature Importance (Model-Based)                               SHAP Results (Model Agnostic)</a:t>
            </a:r>
          </a:p>
        </p:txBody>
      </p:sp>
      <p:sp>
        <p:nvSpPr>
          <p:cNvPr id="67" name="Text 4">
            <a:extLst>
              <a:ext uri="{FF2B5EF4-FFF2-40B4-BE49-F238E27FC236}">
                <a16:creationId xmlns:a16="http://schemas.microsoft.com/office/drawing/2014/main" id="{5AA48553-E468-A3AF-05AE-0BDA78F06FD9}"/>
              </a:ext>
            </a:extLst>
          </p:cNvPr>
          <p:cNvSpPr/>
          <p:nvPr/>
        </p:nvSpPr>
        <p:spPr>
          <a:xfrm>
            <a:off x="400050" y="879477"/>
            <a:ext cx="348262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50"/>
              </a:lnSpc>
              <a:spcBef>
                <a:spcPts val="340"/>
              </a:spcBef>
              <a:buNone/>
            </a:pPr>
            <a:r>
              <a:rPr lang="en-US" sz="900" kern="0" spc="30" dirty="0">
                <a:solidFill>
                  <a:srgbClr val="A8C4AF"/>
                </a:solidFill>
                <a:latin typeface="Calibri" pitchFamily="34" charset="0"/>
                <a:cs typeface="Calibri" pitchFamily="34" charset="-120"/>
              </a:rPr>
              <a:t>HOW INTERACTION-ONLY FEATURES INFLUENCE PREDICTIONS</a:t>
            </a:r>
            <a:endParaRPr lang="en-US" sz="900" dirty="0"/>
          </a:p>
        </p:txBody>
      </p:sp>
      <p:sp>
        <p:nvSpPr>
          <p:cNvPr id="69" name="Rectangle 1">
            <a:extLst>
              <a:ext uri="{FF2B5EF4-FFF2-40B4-BE49-F238E27FC236}">
                <a16:creationId xmlns:a16="http://schemas.microsoft.com/office/drawing/2014/main" id="{840A7E3D-A4D7-68ED-5EC8-ECA2A939C7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5768" y="3961379"/>
            <a:ext cx="8142676" cy="5386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100" i="1" dirty="0">
                <a:solidFill>
                  <a:srgbClr val="8AA88D"/>
                </a:solidFill>
              </a:rPr>
              <a:t>D</a:t>
            </a:r>
            <a:r>
              <a:rPr lang="en-US" altLang="en-US" sz="1100" i="1" dirty="0">
                <a:solidFill>
                  <a:srgbClr val="8AA88D"/>
                </a:solidFill>
                <a:latin typeface="-webkit-standard"/>
              </a:rPr>
              <a:t>ifferences reflect how correlated behavioral features share influence across model‑based and model‑agnostic methods.</a:t>
            </a:r>
            <a:endParaRPr lang="en-US" altLang="en-US" sz="1100" i="1" dirty="0">
              <a:solidFill>
                <a:srgbClr val="8AA88D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2081"/>
    </mc:Choice>
    <mc:Fallback>
      <p:transition spd="slow" advTm="4208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B5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0050" y="285750"/>
            <a:ext cx="342900" cy="29170"/>
          </a:xfrm>
          <a:prstGeom prst="roundRect">
            <a:avLst>
              <a:gd name="adj" fmla="val 47892"/>
            </a:avLst>
          </a:prstGeom>
          <a:solidFill>
            <a:srgbClr val="BC900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401241"/>
            <a:ext cx="8927973" cy="40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140" kern="0" spc="-3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Performance Comparison – 16 Features</a:t>
            </a:r>
            <a:endParaRPr lang="en-US" sz="2140" dirty="0"/>
          </a:p>
        </p:txBody>
      </p:sp>
      <p:sp>
        <p:nvSpPr>
          <p:cNvPr id="4" name="Text 2"/>
          <p:cNvSpPr/>
          <p:nvPr/>
        </p:nvSpPr>
        <p:spPr>
          <a:xfrm>
            <a:off x="400050" y="852041"/>
            <a:ext cx="917829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40"/>
              </a:spcBef>
              <a:buNone/>
            </a:pPr>
            <a:r>
              <a:rPr lang="en-US" sz="84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results across all 16 engineered features</a:t>
            </a:r>
            <a:endParaRPr lang="en-US" sz="840" dirty="0"/>
          </a:p>
        </p:txBody>
      </p:sp>
      <p:sp>
        <p:nvSpPr>
          <p:cNvPr id="5" name="Text 3"/>
          <p:cNvSpPr/>
          <p:nvPr/>
        </p:nvSpPr>
        <p:spPr>
          <a:xfrm>
            <a:off x="400050" y="1183481"/>
            <a:ext cx="1238271" cy="321171"/>
          </a:xfrm>
          <a:prstGeom prst="rect">
            <a:avLst/>
          </a:prstGeom>
          <a:solidFill>
            <a:srgbClr val="BC9000">
              <a:alpha val="12000"/>
            </a:srgbClr>
          </a:solidFill>
          <a:ln/>
        </p:spPr>
        <p:txBody>
          <a:bodyPr wrap="none" lIns="143510" tIns="86360" rIns="114300" bIns="86360" rtlCol="0" anchor="t"/>
          <a:lstStyle/>
          <a:p>
            <a:pPr marL="0" indent="0" algn="l">
              <a:buNone/>
            </a:pPr>
            <a:r>
              <a:rPr lang="en-US" sz="730" b="1" kern="0" spc="58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730" dirty="0"/>
          </a:p>
        </p:txBody>
      </p:sp>
      <p:sp>
        <p:nvSpPr>
          <p:cNvPr id="6" name="Text 4"/>
          <p:cNvSpPr/>
          <p:nvPr/>
        </p:nvSpPr>
        <p:spPr>
          <a:xfrm>
            <a:off x="400050" y="1495127"/>
            <a:ext cx="1213991" cy="9525"/>
          </a:xfrm>
          <a:prstGeom prst="rect">
            <a:avLst/>
          </a:prstGeom>
          <a:solidFill>
            <a:srgbClr val="BC9000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602480" y="1183481"/>
            <a:ext cx="1179219" cy="321171"/>
          </a:xfrm>
          <a:prstGeom prst="rect">
            <a:avLst/>
          </a:prstGeom>
          <a:solidFill>
            <a:srgbClr val="BC9000">
              <a:alpha val="12000"/>
            </a:srgbClr>
          </a:solidFill>
          <a:ln/>
        </p:spPr>
        <p:txBody>
          <a:bodyPr wrap="none" lIns="114300" tIns="86360" rIns="114300" bIns="86360" rtlCol="0" anchor="t"/>
          <a:lstStyle/>
          <a:p>
            <a:pPr marL="0" indent="0" algn="ctr">
              <a:buNone/>
            </a:pPr>
            <a:r>
              <a:rPr lang="en-US" sz="730" b="1" kern="0" spc="58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</a:t>
            </a:r>
            <a:endParaRPr lang="en-US" sz="730" dirty="0"/>
          </a:p>
        </p:txBody>
      </p:sp>
      <p:sp>
        <p:nvSpPr>
          <p:cNvPr id="8" name="Text 6"/>
          <p:cNvSpPr/>
          <p:nvPr/>
        </p:nvSpPr>
        <p:spPr>
          <a:xfrm>
            <a:off x="1614041" y="1495127"/>
            <a:ext cx="1156097" cy="9525"/>
          </a:xfrm>
          <a:prstGeom prst="rect">
            <a:avLst/>
          </a:prstGeom>
          <a:solidFill>
            <a:srgbClr val="BC9000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758577" y="1183481"/>
            <a:ext cx="1179219" cy="321171"/>
          </a:xfrm>
          <a:prstGeom prst="rect">
            <a:avLst/>
          </a:prstGeom>
          <a:solidFill>
            <a:srgbClr val="BC9000">
              <a:alpha val="12000"/>
            </a:srgbClr>
          </a:solidFill>
          <a:ln/>
        </p:spPr>
        <p:txBody>
          <a:bodyPr wrap="none" lIns="114300" tIns="86360" rIns="114300" bIns="86360" rtlCol="0" anchor="t"/>
          <a:lstStyle/>
          <a:p>
            <a:pPr marL="0" indent="0" algn="ctr">
              <a:buNone/>
            </a:pPr>
            <a:r>
              <a:rPr lang="en-US" sz="730" b="1" kern="0" spc="58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2770138" y="1495127"/>
            <a:ext cx="1156097" cy="9525"/>
          </a:xfrm>
          <a:prstGeom prst="rect">
            <a:avLst/>
          </a:prstGeom>
          <a:solidFill>
            <a:srgbClr val="BC9000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926235" y="1183481"/>
            <a:ext cx="1156246" cy="321172"/>
          </a:xfrm>
          <a:custGeom>
            <a:avLst/>
            <a:gdLst/>
            <a:ahLst/>
            <a:cxnLst/>
            <a:rect l="l" t="t" r="r" b="b"/>
            <a:pathLst>
              <a:path w="1156246" h="321172">
                <a:moveTo>
                  <a:pt x="0" y="0"/>
                </a:moveTo>
                <a:lnTo>
                  <a:pt x="0" y="321172"/>
                </a:lnTo>
                <a:lnTo>
                  <a:pt x="1156246" y="321172"/>
                </a:lnTo>
                <a:lnTo>
                  <a:pt x="1156246" y="86360"/>
                </a:lnTo>
                <a:lnTo>
                  <a:pt x="1154586" y="69512"/>
                </a:lnTo>
                <a:lnTo>
                  <a:pt x="1149672" y="53311"/>
                </a:lnTo>
                <a:lnTo>
                  <a:pt x="1141691" y="38381"/>
                </a:lnTo>
                <a:lnTo>
                  <a:pt x="1130951" y="25294"/>
                </a:lnTo>
                <a:lnTo>
                  <a:pt x="1117865" y="14554"/>
                </a:lnTo>
                <a:lnTo>
                  <a:pt x="1102934" y="6574"/>
                </a:lnTo>
                <a:lnTo>
                  <a:pt x="1086734" y="1659"/>
                </a:lnTo>
                <a:lnTo>
                  <a:pt x="1069886" y="0"/>
                </a:lnTo>
                <a:close/>
              </a:path>
            </a:pathLst>
          </a:custGeom>
          <a:solidFill>
            <a:srgbClr val="BC9000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914672" y="1183481"/>
            <a:ext cx="1179371" cy="321172"/>
          </a:xfrm>
          <a:prstGeom prst="rect">
            <a:avLst/>
          </a:prstGeom>
          <a:noFill/>
          <a:ln/>
        </p:spPr>
        <p:txBody>
          <a:bodyPr wrap="none" lIns="114300" tIns="86360" rIns="114300" bIns="86360" rtlCol="0" anchor="t"/>
          <a:lstStyle/>
          <a:p>
            <a:pPr marL="0" indent="0" algn="ctr">
              <a:buNone/>
            </a:pPr>
            <a:r>
              <a:rPr lang="en-US" sz="730" b="1" kern="0" spc="58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730" dirty="0"/>
          </a:p>
        </p:txBody>
      </p:sp>
      <p:sp>
        <p:nvSpPr>
          <p:cNvPr id="13" name="Text 11"/>
          <p:cNvSpPr/>
          <p:nvPr/>
        </p:nvSpPr>
        <p:spPr>
          <a:xfrm>
            <a:off x="3926235" y="1495127"/>
            <a:ext cx="1156246" cy="9525"/>
          </a:xfrm>
          <a:prstGeom prst="rect">
            <a:avLst/>
          </a:prstGeom>
          <a:solidFill>
            <a:srgbClr val="BC9000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00050" y="1504652"/>
            <a:ext cx="4682430" cy="402580"/>
          </a:xfrm>
          <a:prstGeom prst="rect">
            <a:avLst/>
          </a:prstGeom>
          <a:solidFill>
            <a:srgbClr val="3D6B4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00050" y="1504652"/>
            <a:ext cx="1213991" cy="414657"/>
          </a:xfrm>
          <a:prstGeom prst="rect">
            <a:avLst/>
          </a:prstGeom>
          <a:noFill/>
          <a:ln/>
        </p:spPr>
        <p:txBody>
          <a:bodyPr wrap="none" lIns="143510" tIns="100330" rIns="114300" bIns="10033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840" dirty="0"/>
          </a:p>
        </p:txBody>
      </p:sp>
      <p:sp>
        <p:nvSpPr>
          <p:cNvPr id="16" name="Text 14"/>
          <p:cNvSpPr/>
          <p:nvPr/>
        </p:nvSpPr>
        <p:spPr>
          <a:xfrm>
            <a:off x="400050" y="1897707"/>
            <a:ext cx="1213991" cy="9525"/>
          </a:xfrm>
          <a:prstGeom prst="rect">
            <a:avLst/>
          </a:prstGeom>
          <a:solidFill>
            <a:srgbClr val="A8C4A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614041" y="1897707"/>
            <a:ext cx="1156097" cy="9525"/>
          </a:xfrm>
          <a:prstGeom prst="rect">
            <a:avLst/>
          </a:prstGeom>
          <a:solidFill>
            <a:srgbClr val="A8C4A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1733580" y="1604963"/>
            <a:ext cx="27438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</a:t>
            </a:r>
            <a:endParaRPr lang="en-US" sz="1010" dirty="0"/>
          </a:p>
        </p:txBody>
      </p:sp>
      <p:sp>
        <p:nvSpPr>
          <p:cNvPr id="19" name="Text 17"/>
          <p:cNvSpPr/>
          <p:nvPr/>
        </p:nvSpPr>
        <p:spPr>
          <a:xfrm>
            <a:off x="2066479" y="1679525"/>
            <a:ext cx="571500" cy="43160"/>
          </a:xfrm>
          <a:prstGeom prst="roundRect">
            <a:avLst>
              <a:gd name="adj" fmla="val 5002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066479" y="1679525"/>
            <a:ext cx="400050" cy="43160"/>
          </a:xfrm>
          <a:prstGeom prst="roundRect">
            <a:avLst>
              <a:gd name="adj" fmla="val 50023"/>
            </a:avLst>
          </a:prstGeom>
          <a:solidFill>
            <a:srgbClr val="7A9E8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770138" y="1897707"/>
            <a:ext cx="1156097" cy="9525"/>
          </a:xfrm>
          <a:prstGeom prst="rect">
            <a:avLst/>
          </a:prstGeom>
          <a:solidFill>
            <a:srgbClr val="A8C4A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889677" y="1604963"/>
            <a:ext cx="27438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</a:t>
            </a:r>
            <a:endParaRPr lang="en-US" sz="1010" dirty="0"/>
          </a:p>
        </p:txBody>
      </p:sp>
      <p:sp>
        <p:nvSpPr>
          <p:cNvPr id="23" name="Text 21"/>
          <p:cNvSpPr/>
          <p:nvPr/>
        </p:nvSpPr>
        <p:spPr>
          <a:xfrm>
            <a:off x="3222575" y="1679525"/>
            <a:ext cx="571500" cy="43160"/>
          </a:xfrm>
          <a:prstGeom prst="roundRect">
            <a:avLst>
              <a:gd name="adj" fmla="val 5002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222575" y="1679525"/>
            <a:ext cx="365671" cy="43160"/>
          </a:xfrm>
          <a:prstGeom prst="roundRect">
            <a:avLst>
              <a:gd name="adj" fmla="val 50023"/>
            </a:avLst>
          </a:prstGeom>
          <a:solidFill>
            <a:srgbClr val="7A9E8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926235" y="1897707"/>
            <a:ext cx="1156246" cy="9525"/>
          </a:xfrm>
          <a:prstGeom prst="rect">
            <a:avLst/>
          </a:prstGeom>
          <a:solidFill>
            <a:srgbClr val="A8C4A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045922" y="1604963"/>
            <a:ext cx="27438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0.59</a:t>
            </a:r>
            <a:endParaRPr lang="en-US" sz="1010" dirty="0"/>
          </a:p>
        </p:txBody>
      </p:sp>
      <p:sp>
        <p:nvSpPr>
          <p:cNvPr id="27" name="Text 25"/>
          <p:cNvSpPr/>
          <p:nvPr/>
        </p:nvSpPr>
        <p:spPr>
          <a:xfrm>
            <a:off x="4378821" y="1679525"/>
            <a:ext cx="571500" cy="43160"/>
          </a:xfrm>
          <a:prstGeom prst="roundRect">
            <a:avLst>
              <a:gd name="adj" fmla="val 5002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378821" y="1679525"/>
            <a:ext cx="365671" cy="43160"/>
          </a:xfrm>
          <a:prstGeom prst="roundRect">
            <a:avLst>
              <a:gd name="adj" fmla="val 50023"/>
            </a:avLst>
          </a:prstGeom>
          <a:solidFill>
            <a:srgbClr val="7A9E8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00050" y="1907232"/>
            <a:ext cx="4682430" cy="402580"/>
          </a:xfrm>
          <a:prstGeom prst="rect">
            <a:avLst/>
          </a:prstGeom>
          <a:solidFill>
            <a:srgbClr val="3D6B4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00050" y="1907232"/>
            <a:ext cx="1213991" cy="414657"/>
          </a:xfrm>
          <a:prstGeom prst="rect">
            <a:avLst/>
          </a:prstGeom>
          <a:noFill/>
          <a:ln/>
        </p:spPr>
        <p:txBody>
          <a:bodyPr wrap="none" lIns="143510" tIns="100330" rIns="114300" bIns="10033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840" dirty="0"/>
          </a:p>
        </p:txBody>
      </p:sp>
      <p:sp>
        <p:nvSpPr>
          <p:cNvPr id="31" name="Text 29"/>
          <p:cNvSpPr/>
          <p:nvPr/>
        </p:nvSpPr>
        <p:spPr>
          <a:xfrm>
            <a:off x="400050" y="2300288"/>
            <a:ext cx="1213991" cy="9525"/>
          </a:xfrm>
          <a:prstGeom prst="rect">
            <a:avLst/>
          </a:prstGeom>
          <a:solidFill>
            <a:srgbClr val="A8C4A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614041" y="2300288"/>
            <a:ext cx="1156097" cy="9525"/>
          </a:xfrm>
          <a:prstGeom prst="rect">
            <a:avLst/>
          </a:prstGeom>
          <a:solidFill>
            <a:srgbClr val="A8C4A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1733580" y="2007543"/>
            <a:ext cx="27438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</a:t>
            </a:r>
            <a:endParaRPr lang="en-US" sz="1010" dirty="0"/>
          </a:p>
        </p:txBody>
      </p:sp>
      <p:sp>
        <p:nvSpPr>
          <p:cNvPr id="34" name="Text 32"/>
          <p:cNvSpPr/>
          <p:nvPr/>
        </p:nvSpPr>
        <p:spPr>
          <a:xfrm>
            <a:off x="2066479" y="2082105"/>
            <a:ext cx="571500" cy="43160"/>
          </a:xfrm>
          <a:prstGeom prst="roundRect">
            <a:avLst>
              <a:gd name="adj" fmla="val 5002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066479" y="2082105"/>
            <a:ext cx="400050" cy="43160"/>
          </a:xfrm>
          <a:prstGeom prst="roundRect">
            <a:avLst>
              <a:gd name="adj" fmla="val 50023"/>
            </a:avLst>
          </a:prstGeom>
          <a:solidFill>
            <a:srgbClr val="8FAF9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2770138" y="2300288"/>
            <a:ext cx="1156097" cy="9525"/>
          </a:xfrm>
          <a:prstGeom prst="rect">
            <a:avLst/>
          </a:prstGeom>
          <a:solidFill>
            <a:srgbClr val="A8C4A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889677" y="2007543"/>
            <a:ext cx="27438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</a:t>
            </a:r>
            <a:endParaRPr lang="en-US" sz="1010" dirty="0"/>
          </a:p>
        </p:txBody>
      </p:sp>
      <p:sp>
        <p:nvSpPr>
          <p:cNvPr id="38" name="Text 36"/>
          <p:cNvSpPr/>
          <p:nvPr/>
        </p:nvSpPr>
        <p:spPr>
          <a:xfrm>
            <a:off x="3222575" y="2082105"/>
            <a:ext cx="571500" cy="43160"/>
          </a:xfrm>
          <a:prstGeom prst="roundRect">
            <a:avLst>
              <a:gd name="adj" fmla="val 5002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3222575" y="2082105"/>
            <a:ext cx="400050" cy="43160"/>
          </a:xfrm>
          <a:prstGeom prst="roundRect">
            <a:avLst>
              <a:gd name="adj" fmla="val 50023"/>
            </a:avLst>
          </a:prstGeom>
          <a:solidFill>
            <a:srgbClr val="8FAF9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3926235" y="2300288"/>
            <a:ext cx="1156246" cy="9525"/>
          </a:xfrm>
          <a:prstGeom prst="rect">
            <a:avLst/>
          </a:prstGeom>
          <a:solidFill>
            <a:srgbClr val="A8C4A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045922" y="2007543"/>
            <a:ext cx="27438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</a:t>
            </a:r>
            <a:endParaRPr lang="en-US" sz="1010" dirty="0"/>
          </a:p>
        </p:txBody>
      </p:sp>
      <p:sp>
        <p:nvSpPr>
          <p:cNvPr id="42" name="Text 40"/>
          <p:cNvSpPr/>
          <p:nvPr/>
        </p:nvSpPr>
        <p:spPr>
          <a:xfrm>
            <a:off x="4378821" y="2082105"/>
            <a:ext cx="571500" cy="43160"/>
          </a:xfrm>
          <a:prstGeom prst="roundRect">
            <a:avLst>
              <a:gd name="adj" fmla="val 5002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4378821" y="2082105"/>
            <a:ext cx="462855" cy="43160"/>
          </a:xfrm>
          <a:prstGeom prst="roundRect">
            <a:avLst>
              <a:gd name="adj" fmla="val 50023"/>
            </a:avLst>
          </a:prstGeom>
          <a:solidFill>
            <a:srgbClr val="8FAF9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00050" y="2309813"/>
            <a:ext cx="4682430" cy="530125"/>
          </a:xfrm>
          <a:prstGeom prst="rect">
            <a:avLst/>
          </a:prstGeom>
          <a:solidFill>
            <a:srgbClr val="3D6B4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00050" y="2830413"/>
            <a:ext cx="1213991" cy="9525"/>
          </a:xfrm>
          <a:prstGeom prst="rect">
            <a:avLst/>
          </a:prstGeom>
          <a:solidFill>
            <a:srgbClr val="A8C4A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6"/>
          <p:cNvSpPr/>
          <p:nvPr/>
        </p:nvSpPr>
        <p:spPr>
          <a:xfrm>
            <a:off x="1614041" y="2830413"/>
            <a:ext cx="1156097" cy="9525"/>
          </a:xfrm>
          <a:prstGeom prst="rect">
            <a:avLst/>
          </a:prstGeom>
          <a:solidFill>
            <a:srgbClr val="A8C4A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7"/>
          <p:cNvSpPr/>
          <p:nvPr/>
        </p:nvSpPr>
        <p:spPr>
          <a:xfrm>
            <a:off x="1733580" y="2473821"/>
            <a:ext cx="27438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15"/>
              </a:lnSpc>
              <a:buNone/>
            </a:pPr>
            <a:r>
              <a:rPr lang="en-US" sz="1010" b="1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</a:t>
            </a:r>
            <a:endParaRPr lang="en-US" sz="101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1" name="Text 48"/>
          <p:cNvSpPr/>
          <p:nvPr/>
        </p:nvSpPr>
        <p:spPr>
          <a:xfrm>
            <a:off x="2066479" y="2548384"/>
            <a:ext cx="571500" cy="43160"/>
          </a:xfrm>
          <a:prstGeom prst="roundRect">
            <a:avLst>
              <a:gd name="adj" fmla="val 5002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9"/>
          <p:cNvSpPr/>
          <p:nvPr/>
        </p:nvSpPr>
        <p:spPr>
          <a:xfrm>
            <a:off x="2066479" y="2548384"/>
            <a:ext cx="445740" cy="43160"/>
          </a:xfrm>
          <a:prstGeom prst="roundRect">
            <a:avLst>
              <a:gd name="adj" fmla="val 50023"/>
            </a:avLst>
          </a:prstGeom>
          <a:solidFill>
            <a:schemeClr val="accent4">
              <a:lumMod val="75000"/>
            </a:scheme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0"/>
          <p:cNvSpPr/>
          <p:nvPr/>
        </p:nvSpPr>
        <p:spPr>
          <a:xfrm>
            <a:off x="2770138" y="2830413"/>
            <a:ext cx="1156097" cy="9525"/>
          </a:xfrm>
          <a:prstGeom prst="rect">
            <a:avLst/>
          </a:prstGeom>
          <a:solidFill>
            <a:srgbClr val="A8C4A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1"/>
          <p:cNvSpPr/>
          <p:nvPr/>
        </p:nvSpPr>
        <p:spPr>
          <a:xfrm>
            <a:off x="2889677" y="2473821"/>
            <a:ext cx="27438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15"/>
              </a:lnSpc>
              <a:buNone/>
            </a:pPr>
            <a:r>
              <a:rPr lang="en-US" sz="101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</a:t>
            </a:r>
            <a:endParaRPr lang="en-US" sz="1010" dirty="0">
              <a:solidFill>
                <a:schemeClr val="bg1"/>
              </a:solidFill>
            </a:endParaRPr>
          </a:p>
        </p:txBody>
      </p:sp>
      <p:sp>
        <p:nvSpPr>
          <p:cNvPr id="55" name="Text 52"/>
          <p:cNvSpPr/>
          <p:nvPr/>
        </p:nvSpPr>
        <p:spPr>
          <a:xfrm>
            <a:off x="3222575" y="2548384"/>
            <a:ext cx="571500" cy="43160"/>
          </a:xfrm>
          <a:prstGeom prst="roundRect">
            <a:avLst>
              <a:gd name="adj" fmla="val 5002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3"/>
          <p:cNvSpPr/>
          <p:nvPr/>
        </p:nvSpPr>
        <p:spPr>
          <a:xfrm>
            <a:off x="3222575" y="2548384"/>
            <a:ext cx="411361" cy="43160"/>
          </a:xfrm>
          <a:prstGeom prst="roundRect">
            <a:avLst>
              <a:gd name="adj" fmla="val 50023"/>
            </a:avLst>
          </a:prstGeom>
          <a:solidFill>
            <a:srgbClr val="8AA88D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4"/>
          <p:cNvSpPr/>
          <p:nvPr/>
        </p:nvSpPr>
        <p:spPr>
          <a:xfrm>
            <a:off x="3926235" y="2830413"/>
            <a:ext cx="1156246" cy="9525"/>
          </a:xfrm>
          <a:prstGeom prst="rect">
            <a:avLst/>
          </a:prstGeom>
          <a:solidFill>
            <a:srgbClr val="A8C4A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5"/>
          <p:cNvSpPr/>
          <p:nvPr/>
        </p:nvSpPr>
        <p:spPr>
          <a:xfrm>
            <a:off x="4045922" y="2473821"/>
            <a:ext cx="27438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15"/>
              </a:lnSpc>
              <a:buNone/>
            </a:pPr>
            <a:r>
              <a:rPr lang="en-US" sz="1010" b="1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101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59" name="Text 56"/>
          <p:cNvSpPr/>
          <p:nvPr/>
        </p:nvSpPr>
        <p:spPr>
          <a:xfrm>
            <a:off x="4378821" y="2548384"/>
            <a:ext cx="571500" cy="43160"/>
          </a:xfrm>
          <a:prstGeom prst="roundRect">
            <a:avLst>
              <a:gd name="adj" fmla="val 5002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7"/>
          <p:cNvSpPr/>
          <p:nvPr/>
        </p:nvSpPr>
        <p:spPr>
          <a:xfrm>
            <a:off x="4378821" y="2548384"/>
            <a:ext cx="497086" cy="43160"/>
          </a:xfrm>
          <a:prstGeom prst="roundRect">
            <a:avLst>
              <a:gd name="adj" fmla="val 50023"/>
            </a:avLst>
          </a:prstGeom>
          <a:solidFill>
            <a:schemeClr val="accent4">
              <a:lumMod val="75000"/>
            </a:scheme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8"/>
          <p:cNvSpPr/>
          <p:nvPr/>
        </p:nvSpPr>
        <p:spPr>
          <a:xfrm>
            <a:off x="400050" y="2839938"/>
            <a:ext cx="4682430" cy="393055"/>
          </a:xfrm>
          <a:custGeom>
            <a:avLst/>
            <a:gdLst/>
            <a:ahLst/>
            <a:cxnLst/>
            <a:rect l="l" t="t" r="r" b="b"/>
            <a:pathLst>
              <a:path w="4682430" h="393055">
                <a:moveTo>
                  <a:pt x="0" y="0"/>
                </a:moveTo>
                <a:lnTo>
                  <a:pt x="0" y="306695"/>
                </a:lnTo>
                <a:lnTo>
                  <a:pt x="1659" y="323543"/>
                </a:lnTo>
                <a:lnTo>
                  <a:pt x="6574" y="339744"/>
                </a:lnTo>
                <a:lnTo>
                  <a:pt x="14554" y="354674"/>
                </a:lnTo>
                <a:lnTo>
                  <a:pt x="25294" y="367761"/>
                </a:lnTo>
                <a:lnTo>
                  <a:pt x="38381" y="378501"/>
                </a:lnTo>
                <a:lnTo>
                  <a:pt x="53311" y="386481"/>
                </a:lnTo>
                <a:lnTo>
                  <a:pt x="69512" y="391396"/>
                </a:lnTo>
                <a:lnTo>
                  <a:pt x="86360" y="393055"/>
                </a:lnTo>
                <a:lnTo>
                  <a:pt x="4596070" y="393055"/>
                </a:lnTo>
                <a:lnTo>
                  <a:pt x="4612918" y="391396"/>
                </a:lnTo>
                <a:lnTo>
                  <a:pt x="4629119" y="386481"/>
                </a:lnTo>
                <a:lnTo>
                  <a:pt x="4644049" y="378501"/>
                </a:lnTo>
                <a:lnTo>
                  <a:pt x="4657136" y="367761"/>
                </a:lnTo>
                <a:lnTo>
                  <a:pt x="4667876" y="354674"/>
                </a:lnTo>
                <a:lnTo>
                  <a:pt x="4675857" y="339744"/>
                </a:lnTo>
                <a:lnTo>
                  <a:pt x="4680771" y="323543"/>
                </a:lnTo>
                <a:lnTo>
                  <a:pt x="4682430" y="306695"/>
                </a:lnTo>
                <a:lnTo>
                  <a:pt x="4682430" y="0"/>
                </a:lnTo>
                <a:close/>
              </a:path>
            </a:pathLst>
          </a:custGeom>
          <a:solidFill>
            <a:srgbClr val="3D6B4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9"/>
          <p:cNvSpPr/>
          <p:nvPr/>
        </p:nvSpPr>
        <p:spPr>
          <a:xfrm>
            <a:off x="400050" y="2839938"/>
            <a:ext cx="1238271" cy="412708"/>
          </a:xfrm>
          <a:prstGeom prst="rect">
            <a:avLst/>
          </a:prstGeom>
          <a:noFill/>
          <a:ln/>
        </p:spPr>
        <p:txBody>
          <a:bodyPr wrap="square" lIns="143510" tIns="100330" rIns="114300" bIns="10033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840" dirty="0"/>
          </a:p>
        </p:txBody>
      </p:sp>
      <p:sp>
        <p:nvSpPr>
          <p:cNvPr id="63" name="Text 60"/>
          <p:cNvSpPr/>
          <p:nvPr/>
        </p:nvSpPr>
        <p:spPr>
          <a:xfrm>
            <a:off x="1733580" y="2940248"/>
            <a:ext cx="27438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</a:t>
            </a:r>
            <a:endParaRPr lang="en-US" sz="1010" dirty="0"/>
          </a:p>
        </p:txBody>
      </p:sp>
      <p:sp>
        <p:nvSpPr>
          <p:cNvPr id="64" name="Text 61"/>
          <p:cNvSpPr/>
          <p:nvPr/>
        </p:nvSpPr>
        <p:spPr>
          <a:xfrm>
            <a:off x="2066479" y="3014811"/>
            <a:ext cx="571500" cy="43160"/>
          </a:xfrm>
          <a:prstGeom prst="roundRect">
            <a:avLst>
              <a:gd name="adj" fmla="val 5002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2"/>
          <p:cNvSpPr/>
          <p:nvPr/>
        </p:nvSpPr>
        <p:spPr>
          <a:xfrm>
            <a:off x="2066479" y="3014811"/>
            <a:ext cx="371475" cy="43160"/>
          </a:xfrm>
          <a:prstGeom prst="roundRect">
            <a:avLst>
              <a:gd name="adj" fmla="val 50023"/>
            </a:avLst>
          </a:prstGeom>
          <a:solidFill>
            <a:srgbClr val="7A9E8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3"/>
          <p:cNvSpPr/>
          <p:nvPr/>
        </p:nvSpPr>
        <p:spPr>
          <a:xfrm>
            <a:off x="2889677" y="2940248"/>
            <a:ext cx="27438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15"/>
              </a:lnSpc>
              <a:buNone/>
            </a:pPr>
            <a:r>
              <a:rPr lang="en-US" sz="1010" b="1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1010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67" name="Text 64"/>
          <p:cNvSpPr/>
          <p:nvPr/>
        </p:nvSpPr>
        <p:spPr>
          <a:xfrm>
            <a:off x="3222575" y="3014811"/>
            <a:ext cx="571500" cy="43160"/>
          </a:xfrm>
          <a:prstGeom prst="roundRect">
            <a:avLst>
              <a:gd name="adj" fmla="val 5002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5"/>
          <p:cNvSpPr/>
          <p:nvPr/>
        </p:nvSpPr>
        <p:spPr>
          <a:xfrm>
            <a:off x="3222575" y="3014811"/>
            <a:ext cx="400050" cy="43160"/>
          </a:xfrm>
          <a:prstGeom prst="roundRect">
            <a:avLst>
              <a:gd name="adj" fmla="val 50023"/>
            </a:avLst>
          </a:prstGeom>
          <a:solidFill>
            <a:schemeClr val="accent4">
              <a:lumMod val="75000"/>
            </a:scheme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6"/>
          <p:cNvSpPr/>
          <p:nvPr/>
        </p:nvSpPr>
        <p:spPr>
          <a:xfrm>
            <a:off x="4045922" y="2940248"/>
            <a:ext cx="27438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</a:t>
            </a:r>
            <a:endParaRPr lang="en-US" sz="1010" dirty="0"/>
          </a:p>
        </p:txBody>
      </p:sp>
      <p:sp>
        <p:nvSpPr>
          <p:cNvPr id="70" name="Text 67"/>
          <p:cNvSpPr/>
          <p:nvPr/>
        </p:nvSpPr>
        <p:spPr>
          <a:xfrm>
            <a:off x="4378821" y="3014811"/>
            <a:ext cx="571500" cy="43160"/>
          </a:xfrm>
          <a:prstGeom prst="roundRect">
            <a:avLst>
              <a:gd name="adj" fmla="val 5002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8"/>
          <p:cNvSpPr/>
          <p:nvPr/>
        </p:nvSpPr>
        <p:spPr>
          <a:xfrm>
            <a:off x="4378821" y="3014811"/>
            <a:ext cx="371475" cy="43160"/>
          </a:xfrm>
          <a:prstGeom prst="roundRect">
            <a:avLst>
              <a:gd name="adj" fmla="val 50023"/>
            </a:avLst>
          </a:prstGeom>
          <a:solidFill>
            <a:srgbClr val="7A9E8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9"/>
          <p:cNvSpPr/>
          <p:nvPr/>
        </p:nvSpPr>
        <p:spPr>
          <a:xfrm>
            <a:off x="400050" y="3307556"/>
            <a:ext cx="4651981" cy="790619"/>
          </a:xfrm>
          <a:prstGeom prst="roundRect">
            <a:avLst>
              <a:gd name="adj" fmla="val 16154"/>
            </a:avLst>
          </a:prstGeom>
          <a:gradFill rotWithShape="1">
            <a:gsLst>
              <a:gs pos="0">
                <a:srgbClr val="BC9000">
                  <a:alpha val="15000"/>
                </a:srgbClr>
              </a:gs>
              <a:gs pos="100000">
                <a:srgbClr val="BC9000">
                  <a:alpha val="5000"/>
                </a:srgbClr>
              </a:gs>
            </a:gsLst>
            <a:lin ang="2700000" scaled="1"/>
          </a:gradFill>
          <a:ln w="9525">
            <a:solidFill>
              <a:srgbClr val="BC9000">
                <a:alpha val="4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70"/>
          <p:cNvSpPr/>
          <p:nvPr/>
        </p:nvSpPr>
        <p:spPr>
          <a:xfrm>
            <a:off x="581025" y="3457129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BC9000">
              <a:alpha val="2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2191" y="3548295"/>
            <a:ext cx="132588" cy="132588"/>
          </a:xfrm>
          <a:prstGeom prst="rect">
            <a:avLst/>
          </a:prstGeom>
        </p:spPr>
      </p:pic>
      <p:sp>
        <p:nvSpPr>
          <p:cNvPr id="75" name="Text 71"/>
          <p:cNvSpPr/>
          <p:nvPr/>
        </p:nvSpPr>
        <p:spPr>
          <a:xfrm>
            <a:off x="1034909" y="3457129"/>
            <a:ext cx="339962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BC9000"/>
                </a:solidFill>
                <a:latin typeface="Calibri" pitchFamily="34" charset="0"/>
                <a:cs typeface="Calibri" pitchFamily="34" charset="-120"/>
              </a:rPr>
              <a:t>Key Results</a:t>
            </a:r>
            <a:endParaRPr lang="en-US" sz="840" dirty="0"/>
          </a:p>
        </p:txBody>
      </p:sp>
      <p:sp>
        <p:nvSpPr>
          <p:cNvPr id="76" name="Text 72"/>
          <p:cNvSpPr/>
          <p:nvPr/>
        </p:nvSpPr>
        <p:spPr>
          <a:xfrm>
            <a:off x="1010245" y="3632002"/>
            <a:ext cx="3399621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has the highest AUC (0.791) and perfect training accuracy (not shown) but likely</a:t>
            </a:r>
          </a:p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A8C4AF"/>
                </a:solidFill>
                <a:latin typeface="Calibri" pitchFamily="34" charset="0"/>
                <a:cs typeface="Calibri" pitchFamily="34" charset="-120"/>
              </a:rPr>
              <a:t>overfitted. SVM delivers the most stable cross-validation.</a:t>
            </a:r>
            <a:endParaRPr lang="en-US" sz="730" dirty="0"/>
          </a:p>
        </p:txBody>
      </p:sp>
      <p:sp>
        <p:nvSpPr>
          <p:cNvPr id="77" name="Text 73"/>
          <p:cNvSpPr/>
          <p:nvPr/>
        </p:nvSpPr>
        <p:spPr>
          <a:xfrm>
            <a:off x="5233007" y="1183481"/>
            <a:ext cx="3910994" cy="2817018"/>
          </a:xfrm>
          <a:prstGeom prst="roundRect">
            <a:avLst>
              <a:gd name="adj" fmla="val 2771"/>
            </a:avLst>
          </a:prstGeom>
          <a:solidFill>
            <a:srgbClr val="3D6B4A"/>
          </a:solidFill>
          <a:ln w="9525">
            <a:solidFill>
              <a:srgbClr val="A8C4AF">
                <a:alpha val="12000"/>
              </a:srgbClr>
            </a:solidFill>
          </a:ln>
          <a:effectLst>
            <a:outerShdw blurRad="171450" dist="57150" dir="5400000" algn="bl" rotWithShape="0">
              <a:srgbClr val="1A1A1A">
                <a:alpha val="2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74"/>
          <p:cNvSpPr/>
          <p:nvPr/>
        </p:nvSpPr>
        <p:spPr>
          <a:xfrm>
            <a:off x="5378946" y="1279327"/>
            <a:ext cx="359607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62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CHART</a:t>
            </a:r>
            <a:endParaRPr lang="en-US" sz="620" dirty="0"/>
          </a:p>
        </p:txBody>
      </p:sp>
      <p:sp>
        <p:nvSpPr>
          <p:cNvPr id="80" name="Text 75"/>
          <p:cNvSpPr/>
          <p:nvPr/>
        </p:nvSpPr>
        <p:spPr>
          <a:xfrm>
            <a:off x="5283101" y="4385816"/>
            <a:ext cx="1687264" cy="544957"/>
          </a:xfrm>
          <a:prstGeom prst="roundRect">
            <a:avLst>
              <a:gd name="adj" fmla="val 13051"/>
            </a:avLst>
          </a:prstGeom>
          <a:solidFill>
            <a:srgbClr val="3D6B4A"/>
          </a:solidFill>
          <a:ln w="9525">
            <a:solidFill>
              <a:srgbClr val="A8C4AF">
                <a:alpha val="12000"/>
              </a:srgbClr>
            </a:solidFill>
          </a:ln>
        </p:spPr>
        <p:txBody>
          <a:bodyPr wrap="square" lIns="100330" tIns="71120" rIns="100330" bIns="71120" rtlCol="0" anchor="t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</a:t>
            </a:r>
            <a:endParaRPr lang="en-US" sz="1240" dirty="0"/>
          </a:p>
          <a:p>
            <a:pPr marL="0" indent="0" algn="ctr">
              <a:buNone/>
            </a:pPr>
            <a:r>
              <a:rPr lang="en-US" sz="620" kern="0" spc="31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AUC-ROC</a:t>
            </a:r>
            <a:endParaRPr lang="en-US" sz="1240" dirty="0"/>
          </a:p>
        </p:txBody>
      </p:sp>
      <p:sp>
        <p:nvSpPr>
          <p:cNvPr id="81" name="Text 76"/>
          <p:cNvSpPr/>
          <p:nvPr/>
        </p:nvSpPr>
        <p:spPr>
          <a:xfrm>
            <a:off x="7056686" y="4385816"/>
            <a:ext cx="1687264" cy="544957"/>
          </a:xfrm>
          <a:prstGeom prst="roundRect">
            <a:avLst>
              <a:gd name="adj" fmla="val 13051"/>
            </a:avLst>
          </a:prstGeom>
          <a:solidFill>
            <a:srgbClr val="3D6B4A"/>
          </a:solidFill>
          <a:ln w="9525">
            <a:solidFill>
              <a:srgbClr val="A8C4AF">
                <a:alpha val="12000"/>
              </a:srgbClr>
            </a:solidFill>
          </a:ln>
        </p:spPr>
        <p:txBody>
          <a:bodyPr wrap="square" lIns="100330" tIns="71120" rIns="100330" bIns="71120" rtlCol="0" anchor="t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0.68</a:t>
            </a:r>
            <a:endParaRPr lang="en-US" sz="1240" dirty="0"/>
          </a:p>
          <a:p>
            <a:pPr marL="0" indent="0" algn="ctr">
              <a:buNone/>
            </a:pPr>
            <a:r>
              <a:rPr lang="en-US" sz="620" kern="0" spc="31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TEST ACC</a:t>
            </a:r>
            <a:endParaRPr lang="en-US" sz="1240" dirty="0"/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3DB8D4DC-5209-EEE2-CC6D-80463E6007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8395" y="1782665"/>
            <a:ext cx="3860217" cy="1422185"/>
          </a:xfrm>
          <a:prstGeom prst="rect">
            <a:avLst/>
          </a:prstGeom>
        </p:spPr>
      </p:pic>
      <p:sp>
        <p:nvSpPr>
          <p:cNvPr id="86" name="Text 13">
            <a:extLst>
              <a:ext uri="{FF2B5EF4-FFF2-40B4-BE49-F238E27FC236}">
                <a16:creationId xmlns:a16="http://schemas.microsoft.com/office/drawing/2014/main" id="{C4F27072-204E-9C94-B0D4-55C6D391C8C8}"/>
              </a:ext>
            </a:extLst>
          </p:cNvPr>
          <p:cNvSpPr/>
          <p:nvPr/>
        </p:nvSpPr>
        <p:spPr>
          <a:xfrm>
            <a:off x="387430" y="2385490"/>
            <a:ext cx="1213991" cy="414657"/>
          </a:xfrm>
          <a:prstGeom prst="rect">
            <a:avLst/>
          </a:prstGeom>
          <a:noFill/>
          <a:ln/>
        </p:spPr>
        <p:txBody>
          <a:bodyPr wrap="none" lIns="143510" tIns="100330" rIns="114300" bIns="100330" rtlCol="0" anchor="t"/>
          <a:lstStyle/>
          <a:p>
            <a:pPr marL="0" indent="0" algn="l">
              <a:buNone/>
            </a:pPr>
            <a:r>
              <a:rPr lang="en-US" sz="840" b="1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Gradient Boosting</a:t>
            </a:r>
            <a:endParaRPr lang="en-US" sz="840" b="1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7336"/>
    </mc:Choice>
    <mc:Fallback>
      <p:transition spd="slow" advTm="37336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52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E4D486-6063-008D-F475-8204A45B9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DE684E3-3B6C-7EF9-DB31-2C3E56ED5887}"/>
              </a:ext>
            </a:extLst>
          </p:cNvPr>
          <p:cNvSpPr/>
          <p:nvPr/>
        </p:nvSpPr>
        <p:spPr>
          <a:xfrm>
            <a:off x="400050" y="285750"/>
            <a:ext cx="342900" cy="29170"/>
          </a:xfrm>
          <a:prstGeom prst="roundRect">
            <a:avLst>
              <a:gd name="adj" fmla="val 47892"/>
            </a:avLst>
          </a:prstGeom>
          <a:solidFill>
            <a:srgbClr val="BC900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08E422C-CCB6-F2F7-2808-D0A4E41475AF}"/>
              </a:ext>
            </a:extLst>
          </p:cNvPr>
          <p:cNvSpPr/>
          <p:nvPr/>
        </p:nvSpPr>
        <p:spPr>
          <a:xfrm>
            <a:off x="400050" y="401241"/>
            <a:ext cx="8927973" cy="4076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10"/>
              </a:lnSpc>
              <a:buNone/>
            </a:pPr>
            <a:r>
              <a:rPr lang="en-US" sz="2140" kern="0" spc="-3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Model Performance Comparison – 5 Features</a:t>
            </a:r>
            <a:endParaRPr lang="en-US" sz="214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2575F57-44FC-7647-62ED-C53F936B7897}"/>
              </a:ext>
            </a:extLst>
          </p:cNvPr>
          <p:cNvSpPr/>
          <p:nvPr/>
        </p:nvSpPr>
        <p:spPr>
          <a:xfrm>
            <a:off x="400050" y="852041"/>
            <a:ext cx="9178290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spcBef>
                <a:spcPts val="340"/>
              </a:spcBef>
              <a:buNone/>
            </a:pPr>
            <a:r>
              <a:rPr lang="en-US" sz="84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results across all 16 engineered features</a:t>
            </a:r>
            <a:endParaRPr lang="en-US" sz="84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BA89F55-3E3B-1E94-4041-33B41CF03466}"/>
              </a:ext>
            </a:extLst>
          </p:cNvPr>
          <p:cNvSpPr/>
          <p:nvPr/>
        </p:nvSpPr>
        <p:spPr>
          <a:xfrm>
            <a:off x="141106" y="1183481"/>
            <a:ext cx="1238271" cy="321171"/>
          </a:xfrm>
          <a:prstGeom prst="rect">
            <a:avLst/>
          </a:prstGeom>
          <a:solidFill>
            <a:srgbClr val="BC9000">
              <a:alpha val="12000"/>
            </a:srgbClr>
          </a:solidFill>
          <a:ln/>
        </p:spPr>
        <p:txBody>
          <a:bodyPr wrap="none" lIns="143510" tIns="86360" rIns="114300" bIns="86360" rtlCol="0" anchor="t"/>
          <a:lstStyle/>
          <a:p>
            <a:pPr marL="0" indent="0" algn="l">
              <a:buNone/>
            </a:pPr>
            <a:r>
              <a:rPr lang="en-US" sz="730" b="1" kern="0" spc="58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73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65BA58E-58DC-5195-474A-34E30BD35B28}"/>
              </a:ext>
            </a:extLst>
          </p:cNvPr>
          <p:cNvSpPr/>
          <p:nvPr/>
        </p:nvSpPr>
        <p:spPr>
          <a:xfrm>
            <a:off x="141106" y="1495127"/>
            <a:ext cx="1213991" cy="9525"/>
          </a:xfrm>
          <a:prstGeom prst="rect">
            <a:avLst/>
          </a:prstGeom>
          <a:solidFill>
            <a:srgbClr val="BC9000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538C69C-3E39-B6B2-FAC4-305D1668557E}"/>
              </a:ext>
            </a:extLst>
          </p:cNvPr>
          <p:cNvSpPr/>
          <p:nvPr/>
        </p:nvSpPr>
        <p:spPr>
          <a:xfrm>
            <a:off x="1343536" y="1183481"/>
            <a:ext cx="1179219" cy="321171"/>
          </a:xfrm>
          <a:prstGeom prst="rect">
            <a:avLst/>
          </a:prstGeom>
          <a:solidFill>
            <a:srgbClr val="BC9000">
              <a:alpha val="12000"/>
            </a:srgbClr>
          </a:solidFill>
          <a:ln/>
        </p:spPr>
        <p:txBody>
          <a:bodyPr wrap="none" lIns="114300" tIns="86360" rIns="114300" bIns="86360" rtlCol="0" anchor="t"/>
          <a:lstStyle/>
          <a:p>
            <a:pPr marL="0" indent="0" algn="ctr">
              <a:buNone/>
            </a:pPr>
            <a:r>
              <a:rPr lang="en-US" sz="730" b="1" kern="0" spc="58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</a:t>
            </a:r>
            <a:endParaRPr lang="en-US" sz="73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FC424A9-9398-F951-76F0-A10F60B5AD4A}"/>
              </a:ext>
            </a:extLst>
          </p:cNvPr>
          <p:cNvSpPr/>
          <p:nvPr/>
        </p:nvSpPr>
        <p:spPr>
          <a:xfrm>
            <a:off x="1355097" y="1495127"/>
            <a:ext cx="1156097" cy="9525"/>
          </a:xfrm>
          <a:prstGeom prst="rect">
            <a:avLst/>
          </a:prstGeom>
          <a:solidFill>
            <a:srgbClr val="BC9000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2513E7C9-285B-977A-3350-FAF2695FDD02}"/>
              </a:ext>
            </a:extLst>
          </p:cNvPr>
          <p:cNvSpPr/>
          <p:nvPr/>
        </p:nvSpPr>
        <p:spPr>
          <a:xfrm>
            <a:off x="2499633" y="1183481"/>
            <a:ext cx="1179219" cy="321171"/>
          </a:xfrm>
          <a:prstGeom prst="rect">
            <a:avLst/>
          </a:prstGeom>
          <a:solidFill>
            <a:srgbClr val="BC9000">
              <a:alpha val="12000"/>
            </a:srgbClr>
          </a:solidFill>
          <a:ln/>
        </p:spPr>
        <p:txBody>
          <a:bodyPr wrap="none" lIns="114300" tIns="86360" rIns="114300" bIns="86360" rtlCol="0" anchor="t"/>
          <a:lstStyle/>
          <a:p>
            <a:pPr marL="0" indent="0" algn="ctr">
              <a:buNone/>
            </a:pPr>
            <a:r>
              <a:rPr lang="en-US" sz="730" b="1" kern="0" spc="58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</a:t>
            </a:r>
            <a:endParaRPr lang="en-US" sz="73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81FA44BF-249F-E280-1D17-6D3ED8BA63E4}"/>
              </a:ext>
            </a:extLst>
          </p:cNvPr>
          <p:cNvSpPr/>
          <p:nvPr/>
        </p:nvSpPr>
        <p:spPr>
          <a:xfrm>
            <a:off x="2511194" y="1495127"/>
            <a:ext cx="1156097" cy="9525"/>
          </a:xfrm>
          <a:prstGeom prst="rect">
            <a:avLst/>
          </a:prstGeom>
          <a:solidFill>
            <a:srgbClr val="BC9000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FAC9298-20B8-DC0E-09B5-512B9A6D4DE9}"/>
              </a:ext>
            </a:extLst>
          </p:cNvPr>
          <p:cNvSpPr/>
          <p:nvPr/>
        </p:nvSpPr>
        <p:spPr>
          <a:xfrm>
            <a:off x="3667291" y="1183481"/>
            <a:ext cx="1156246" cy="321172"/>
          </a:xfrm>
          <a:custGeom>
            <a:avLst/>
            <a:gdLst/>
            <a:ahLst/>
            <a:cxnLst/>
            <a:rect l="l" t="t" r="r" b="b"/>
            <a:pathLst>
              <a:path w="1156246" h="321172">
                <a:moveTo>
                  <a:pt x="0" y="0"/>
                </a:moveTo>
                <a:lnTo>
                  <a:pt x="0" y="321172"/>
                </a:lnTo>
                <a:lnTo>
                  <a:pt x="1156246" y="321172"/>
                </a:lnTo>
                <a:lnTo>
                  <a:pt x="1156246" y="86360"/>
                </a:lnTo>
                <a:lnTo>
                  <a:pt x="1154586" y="69512"/>
                </a:lnTo>
                <a:lnTo>
                  <a:pt x="1149672" y="53311"/>
                </a:lnTo>
                <a:lnTo>
                  <a:pt x="1141691" y="38381"/>
                </a:lnTo>
                <a:lnTo>
                  <a:pt x="1130951" y="25294"/>
                </a:lnTo>
                <a:lnTo>
                  <a:pt x="1117865" y="14554"/>
                </a:lnTo>
                <a:lnTo>
                  <a:pt x="1102934" y="6574"/>
                </a:lnTo>
                <a:lnTo>
                  <a:pt x="1086734" y="1659"/>
                </a:lnTo>
                <a:lnTo>
                  <a:pt x="1069886" y="0"/>
                </a:lnTo>
                <a:close/>
              </a:path>
            </a:pathLst>
          </a:custGeom>
          <a:solidFill>
            <a:srgbClr val="BC9000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BD28279-2A88-54E9-BE80-0101ABDCF8BA}"/>
              </a:ext>
            </a:extLst>
          </p:cNvPr>
          <p:cNvSpPr/>
          <p:nvPr/>
        </p:nvSpPr>
        <p:spPr>
          <a:xfrm>
            <a:off x="3655728" y="1183481"/>
            <a:ext cx="1179371" cy="321172"/>
          </a:xfrm>
          <a:prstGeom prst="rect">
            <a:avLst/>
          </a:prstGeom>
          <a:noFill/>
          <a:ln/>
        </p:spPr>
        <p:txBody>
          <a:bodyPr wrap="none" lIns="114300" tIns="86360" rIns="114300" bIns="86360" rtlCol="0" anchor="t"/>
          <a:lstStyle/>
          <a:p>
            <a:pPr marL="0" indent="0" algn="ctr">
              <a:buNone/>
            </a:pPr>
            <a:r>
              <a:rPr lang="en-US" sz="730" b="1" kern="0" spc="58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AUC-ROC</a:t>
            </a:r>
            <a:endParaRPr lang="en-US" sz="73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2727364-737D-A2B3-5C16-A5145B987FD4}"/>
              </a:ext>
            </a:extLst>
          </p:cNvPr>
          <p:cNvSpPr/>
          <p:nvPr/>
        </p:nvSpPr>
        <p:spPr>
          <a:xfrm>
            <a:off x="3667291" y="1495127"/>
            <a:ext cx="1156246" cy="9525"/>
          </a:xfrm>
          <a:prstGeom prst="rect">
            <a:avLst/>
          </a:prstGeom>
          <a:solidFill>
            <a:srgbClr val="BC9000">
              <a:alpha val="2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69F3659-B3B4-1BDD-3459-D2C538734B4F}"/>
              </a:ext>
            </a:extLst>
          </p:cNvPr>
          <p:cNvSpPr/>
          <p:nvPr/>
        </p:nvSpPr>
        <p:spPr>
          <a:xfrm>
            <a:off x="141106" y="1504652"/>
            <a:ext cx="4682430" cy="402580"/>
          </a:xfrm>
          <a:prstGeom prst="rect">
            <a:avLst/>
          </a:prstGeom>
          <a:solidFill>
            <a:srgbClr val="3D6B4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B14C8F2-B64A-4D7C-DB50-B44C3997BF9D}"/>
              </a:ext>
            </a:extLst>
          </p:cNvPr>
          <p:cNvSpPr/>
          <p:nvPr/>
        </p:nvSpPr>
        <p:spPr>
          <a:xfrm>
            <a:off x="141106" y="1504652"/>
            <a:ext cx="1213991" cy="414657"/>
          </a:xfrm>
          <a:prstGeom prst="rect">
            <a:avLst/>
          </a:prstGeom>
          <a:noFill/>
          <a:ln/>
        </p:spPr>
        <p:txBody>
          <a:bodyPr wrap="none" lIns="143510" tIns="100330" rIns="114300" bIns="10033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84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4093D51-8119-4455-7E1A-806014212896}"/>
              </a:ext>
            </a:extLst>
          </p:cNvPr>
          <p:cNvSpPr/>
          <p:nvPr/>
        </p:nvSpPr>
        <p:spPr>
          <a:xfrm>
            <a:off x="141106" y="1897707"/>
            <a:ext cx="1213991" cy="9525"/>
          </a:xfrm>
          <a:prstGeom prst="rect">
            <a:avLst/>
          </a:prstGeom>
          <a:solidFill>
            <a:srgbClr val="A8C4A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3AA1D0F-0AA6-C0FF-161F-3E81ECFDA7AF}"/>
              </a:ext>
            </a:extLst>
          </p:cNvPr>
          <p:cNvSpPr/>
          <p:nvPr/>
        </p:nvSpPr>
        <p:spPr>
          <a:xfrm>
            <a:off x="1355097" y="1897707"/>
            <a:ext cx="1156097" cy="9525"/>
          </a:xfrm>
          <a:prstGeom prst="rect">
            <a:avLst/>
          </a:prstGeom>
          <a:solidFill>
            <a:srgbClr val="A8C4A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E991235-8F76-B504-B14E-AF96EEEB5AC7}"/>
              </a:ext>
            </a:extLst>
          </p:cNvPr>
          <p:cNvSpPr/>
          <p:nvPr/>
        </p:nvSpPr>
        <p:spPr>
          <a:xfrm>
            <a:off x="1474636" y="1604963"/>
            <a:ext cx="27438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101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D6B5D47F-CFED-E00A-D3A8-9D62FACF1039}"/>
              </a:ext>
            </a:extLst>
          </p:cNvPr>
          <p:cNvSpPr/>
          <p:nvPr/>
        </p:nvSpPr>
        <p:spPr>
          <a:xfrm>
            <a:off x="1807535" y="1679525"/>
            <a:ext cx="571500" cy="43160"/>
          </a:xfrm>
          <a:prstGeom prst="roundRect">
            <a:avLst>
              <a:gd name="adj" fmla="val 5002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47485BC7-ADA9-2D1B-4E42-4AE670448455}"/>
              </a:ext>
            </a:extLst>
          </p:cNvPr>
          <p:cNvSpPr/>
          <p:nvPr/>
        </p:nvSpPr>
        <p:spPr>
          <a:xfrm>
            <a:off x="1807535" y="1679525"/>
            <a:ext cx="400050" cy="43160"/>
          </a:xfrm>
          <a:prstGeom prst="roundRect">
            <a:avLst>
              <a:gd name="adj" fmla="val 50023"/>
            </a:avLst>
          </a:prstGeom>
          <a:solidFill>
            <a:srgbClr val="7A9E8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CD98F23F-6587-6865-A536-52A0C1CF383A}"/>
              </a:ext>
            </a:extLst>
          </p:cNvPr>
          <p:cNvSpPr/>
          <p:nvPr/>
        </p:nvSpPr>
        <p:spPr>
          <a:xfrm>
            <a:off x="2511194" y="1897707"/>
            <a:ext cx="1156097" cy="9525"/>
          </a:xfrm>
          <a:prstGeom prst="rect">
            <a:avLst/>
          </a:prstGeom>
          <a:solidFill>
            <a:srgbClr val="A8C4A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E279239B-4DDD-7EA2-80E9-3FA513EC6881}"/>
              </a:ext>
            </a:extLst>
          </p:cNvPr>
          <p:cNvSpPr/>
          <p:nvPr/>
        </p:nvSpPr>
        <p:spPr>
          <a:xfrm>
            <a:off x="2630733" y="1604963"/>
            <a:ext cx="27438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</a:t>
            </a:r>
            <a:endParaRPr lang="en-US" sz="101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8F418F8A-28A4-FE8D-9170-CDC7A0A88457}"/>
              </a:ext>
            </a:extLst>
          </p:cNvPr>
          <p:cNvSpPr/>
          <p:nvPr/>
        </p:nvSpPr>
        <p:spPr>
          <a:xfrm>
            <a:off x="2963631" y="1679525"/>
            <a:ext cx="571500" cy="43160"/>
          </a:xfrm>
          <a:prstGeom prst="roundRect">
            <a:avLst>
              <a:gd name="adj" fmla="val 5002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CFB9497C-4EAC-618E-6D99-3E7865D00BB9}"/>
              </a:ext>
            </a:extLst>
          </p:cNvPr>
          <p:cNvSpPr/>
          <p:nvPr/>
        </p:nvSpPr>
        <p:spPr>
          <a:xfrm>
            <a:off x="2963631" y="1679525"/>
            <a:ext cx="365671" cy="43160"/>
          </a:xfrm>
          <a:prstGeom prst="roundRect">
            <a:avLst>
              <a:gd name="adj" fmla="val 50023"/>
            </a:avLst>
          </a:prstGeom>
          <a:solidFill>
            <a:srgbClr val="7A9E8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9B7D55A8-1C40-D460-95CE-5E61A273EEEE}"/>
              </a:ext>
            </a:extLst>
          </p:cNvPr>
          <p:cNvSpPr/>
          <p:nvPr/>
        </p:nvSpPr>
        <p:spPr>
          <a:xfrm>
            <a:off x="3667291" y="1897707"/>
            <a:ext cx="1156246" cy="9525"/>
          </a:xfrm>
          <a:prstGeom prst="rect">
            <a:avLst/>
          </a:prstGeom>
          <a:solidFill>
            <a:srgbClr val="A8C4A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D1EDA96C-FD90-5EF1-B017-E71FD7E2C471}"/>
              </a:ext>
            </a:extLst>
          </p:cNvPr>
          <p:cNvSpPr/>
          <p:nvPr/>
        </p:nvSpPr>
        <p:spPr>
          <a:xfrm>
            <a:off x="3786978" y="1604963"/>
            <a:ext cx="27438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0.64</a:t>
            </a:r>
            <a:endParaRPr lang="en-US" sz="1010" dirty="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98EDFDE-8BB7-0FF3-D11E-BCDA0B19978F}"/>
              </a:ext>
            </a:extLst>
          </p:cNvPr>
          <p:cNvSpPr/>
          <p:nvPr/>
        </p:nvSpPr>
        <p:spPr>
          <a:xfrm>
            <a:off x="4119877" y="1679525"/>
            <a:ext cx="571500" cy="43160"/>
          </a:xfrm>
          <a:prstGeom prst="roundRect">
            <a:avLst>
              <a:gd name="adj" fmla="val 5002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8F7A2DBC-BFB3-39ED-9B6B-1D33BE1422E0}"/>
              </a:ext>
            </a:extLst>
          </p:cNvPr>
          <p:cNvSpPr/>
          <p:nvPr/>
        </p:nvSpPr>
        <p:spPr>
          <a:xfrm>
            <a:off x="4119877" y="1679525"/>
            <a:ext cx="365671" cy="43160"/>
          </a:xfrm>
          <a:prstGeom prst="roundRect">
            <a:avLst>
              <a:gd name="adj" fmla="val 50023"/>
            </a:avLst>
          </a:prstGeom>
          <a:solidFill>
            <a:srgbClr val="7A9E8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9EC20E4A-F4B7-C1EF-9FA2-44E8348D6027}"/>
              </a:ext>
            </a:extLst>
          </p:cNvPr>
          <p:cNvSpPr/>
          <p:nvPr/>
        </p:nvSpPr>
        <p:spPr>
          <a:xfrm>
            <a:off x="141106" y="1907232"/>
            <a:ext cx="4682430" cy="402580"/>
          </a:xfrm>
          <a:prstGeom prst="rect">
            <a:avLst/>
          </a:prstGeom>
          <a:solidFill>
            <a:srgbClr val="3D6B4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BC480CB2-AF31-C2C5-AEE9-C40C4098FC9D}"/>
              </a:ext>
            </a:extLst>
          </p:cNvPr>
          <p:cNvSpPr/>
          <p:nvPr/>
        </p:nvSpPr>
        <p:spPr>
          <a:xfrm>
            <a:off x="141106" y="1907232"/>
            <a:ext cx="1213991" cy="414657"/>
          </a:xfrm>
          <a:prstGeom prst="rect">
            <a:avLst/>
          </a:prstGeom>
          <a:noFill/>
          <a:ln/>
        </p:spPr>
        <p:txBody>
          <a:bodyPr wrap="none" lIns="143510" tIns="100330" rIns="114300" bIns="100330" rtlCol="0" anchor="t"/>
          <a:lstStyle/>
          <a:p>
            <a:pPr marL="0" indent="0" algn="l">
              <a:buNone/>
            </a:pPr>
            <a:r>
              <a:rPr lang="en-US" sz="84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840" dirty="0"/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AB5D2F0F-29C2-8CEF-8C67-712D7FFF848E}"/>
              </a:ext>
            </a:extLst>
          </p:cNvPr>
          <p:cNvSpPr/>
          <p:nvPr/>
        </p:nvSpPr>
        <p:spPr>
          <a:xfrm>
            <a:off x="141106" y="2300288"/>
            <a:ext cx="1213991" cy="9525"/>
          </a:xfrm>
          <a:prstGeom prst="rect">
            <a:avLst/>
          </a:prstGeom>
          <a:solidFill>
            <a:srgbClr val="A8C4A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6AF7225A-B839-64DF-D959-C8DC045BC72B}"/>
              </a:ext>
            </a:extLst>
          </p:cNvPr>
          <p:cNvSpPr/>
          <p:nvPr/>
        </p:nvSpPr>
        <p:spPr>
          <a:xfrm>
            <a:off x="1355097" y="2300288"/>
            <a:ext cx="1156097" cy="9525"/>
          </a:xfrm>
          <a:prstGeom prst="rect">
            <a:avLst/>
          </a:prstGeom>
          <a:solidFill>
            <a:srgbClr val="A8C4A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>
            <a:extLst>
              <a:ext uri="{FF2B5EF4-FFF2-40B4-BE49-F238E27FC236}">
                <a16:creationId xmlns:a16="http://schemas.microsoft.com/office/drawing/2014/main" id="{FA9F3874-301C-B80C-2BAA-78AE65D91EFE}"/>
              </a:ext>
            </a:extLst>
          </p:cNvPr>
          <p:cNvSpPr/>
          <p:nvPr/>
        </p:nvSpPr>
        <p:spPr>
          <a:xfrm>
            <a:off x="1474636" y="2007543"/>
            <a:ext cx="27438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1010" dirty="0"/>
          </a:p>
        </p:txBody>
      </p:sp>
      <p:sp>
        <p:nvSpPr>
          <p:cNvPr id="34" name="Text 32">
            <a:extLst>
              <a:ext uri="{FF2B5EF4-FFF2-40B4-BE49-F238E27FC236}">
                <a16:creationId xmlns:a16="http://schemas.microsoft.com/office/drawing/2014/main" id="{0C035360-DBBD-4455-8D75-8998E156DF03}"/>
              </a:ext>
            </a:extLst>
          </p:cNvPr>
          <p:cNvSpPr/>
          <p:nvPr/>
        </p:nvSpPr>
        <p:spPr>
          <a:xfrm>
            <a:off x="1807535" y="2082105"/>
            <a:ext cx="571500" cy="43160"/>
          </a:xfrm>
          <a:prstGeom prst="roundRect">
            <a:avLst>
              <a:gd name="adj" fmla="val 5002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961AA0E6-F0C3-F556-9326-5E7449C895C1}"/>
              </a:ext>
            </a:extLst>
          </p:cNvPr>
          <p:cNvSpPr/>
          <p:nvPr/>
        </p:nvSpPr>
        <p:spPr>
          <a:xfrm>
            <a:off x="1807535" y="2082105"/>
            <a:ext cx="400050" cy="43160"/>
          </a:xfrm>
          <a:prstGeom prst="roundRect">
            <a:avLst>
              <a:gd name="adj" fmla="val 50023"/>
            </a:avLst>
          </a:prstGeom>
          <a:solidFill>
            <a:srgbClr val="8FAF9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4">
            <a:extLst>
              <a:ext uri="{FF2B5EF4-FFF2-40B4-BE49-F238E27FC236}">
                <a16:creationId xmlns:a16="http://schemas.microsoft.com/office/drawing/2014/main" id="{6F9E9268-5BFB-F8FB-703F-5A9E374E3424}"/>
              </a:ext>
            </a:extLst>
          </p:cNvPr>
          <p:cNvSpPr/>
          <p:nvPr/>
        </p:nvSpPr>
        <p:spPr>
          <a:xfrm>
            <a:off x="2511194" y="2300288"/>
            <a:ext cx="1156097" cy="9525"/>
          </a:xfrm>
          <a:prstGeom prst="rect">
            <a:avLst/>
          </a:prstGeom>
          <a:solidFill>
            <a:srgbClr val="A8C4A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9AEADE5D-CC31-AFB7-C5F1-0CF7A998D7BA}"/>
              </a:ext>
            </a:extLst>
          </p:cNvPr>
          <p:cNvSpPr/>
          <p:nvPr/>
        </p:nvSpPr>
        <p:spPr>
          <a:xfrm>
            <a:off x="2630733" y="2007543"/>
            <a:ext cx="27438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101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DAF4DB50-4E55-4DFA-9834-B5BB135F2C80}"/>
              </a:ext>
            </a:extLst>
          </p:cNvPr>
          <p:cNvSpPr/>
          <p:nvPr/>
        </p:nvSpPr>
        <p:spPr>
          <a:xfrm>
            <a:off x="2963631" y="2082105"/>
            <a:ext cx="571500" cy="43160"/>
          </a:xfrm>
          <a:prstGeom prst="roundRect">
            <a:avLst>
              <a:gd name="adj" fmla="val 5002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>
            <a:extLst>
              <a:ext uri="{FF2B5EF4-FFF2-40B4-BE49-F238E27FC236}">
                <a16:creationId xmlns:a16="http://schemas.microsoft.com/office/drawing/2014/main" id="{BEFC936A-9318-C847-B45E-11B3F8285790}"/>
              </a:ext>
            </a:extLst>
          </p:cNvPr>
          <p:cNvSpPr/>
          <p:nvPr/>
        </p:nvSpPr>
        <p:spPr>
          <a:xfrm>
            <a:off x="2963631" y="2082105"/>
            <a:ext cx="400050" cy="43160"/>
          </a:xfrm>
          <a:prstGeom prst="roundRect">
            <a:avLst>
              <a:gd name="adj" fmla="val 50023"/>
            </a:avLst>
          </a:prstGeom>
          <a:solidFill>
            <a:srgbClr val="8FAF9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0" name="Text 38">
            <a:extLst>
              <a:ext uri="{FF2B5EF4-FFF2-40B4-BE49-F238E27FC236}">
                <a16:creationId xmlns:a16="http://schemas.microsoft.com/office/drawing/2014/main" id="{A8ED4988-1FA1-E840-4CBB-A969330D9D76}"/>
              </a:ext>
            </a:extLst>
          </p:cNvPr>
          <p:cNvSpPr/>
          <p:nvPr/>
        </p:nvSpPr>
        <p:spPr>
          <a:xfrm>
            <a:off x="3667291" y="2300288"/>
            <a:ext cx="1156246" cy="9525"/>
          </a:xfrm>
          <a:prstGeom prst="rect">
            <a:avLst/>
          </a:prstGeom>
          <a:solidFill>
            <a:srgbClr val="A8C4A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0168BDF8-6120-E2E2-E6AE-3480C771A675}"/>
              </a:ext>
            </a:extLst>
          </p:cNvPr>
          <p:cNvSpPr/>
          <p:nvPr/>
        </p:nvSpPr>
        <p:spPr>
          <a:xfrm>
            <a:off x="3786978" y="2007543"/>
            <a:ext cx="27438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1010" dirty="0"/>
          </a:p>
        </p:txBody>
      </p:sp>
      <p:sp>
        <p:nvSpPr>
          <p:cNvPr id="42" name="Text 40">
            <a:extLst>
              <a:ext uri="{FF2B5EF4-FFF2-40B4-BE49-F238E27FC236}">
                <a16:creationId xmlns:a16="http://schemas.microsoft.com/office/drawing/2014/main" id="{DF0891AA-FFF3-0089-C782-20E91A762EC2}"/>
              </a:ext>
            </a:extLst>
          </p:cNvPr>
          <p:cNvSpPr/>
          <p:nvPr/>
        </p:nvSpPr>
        <p:spPr>
          <a:xfrm>
            <a:off x="4119877" y="2082105"/>
            <a:ext cx="571500" cy="43160"/>
          </a:xfrm>
          <a:prstGeom prst="roundRect">
            <a:avLst>
              <a:gd name="adj" fmla="val 5002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C963A11E-A594-A62C-E357-F765A7430A34}"/>
              </a:ext>
            </a:extLst>
          </p:cNvPr>
          <p:cNvSpPr/>
          <p:nvPr/>
        </p:nvSpPr>
        <p:spPr>
          <a:xfrm>
            <a:off x="4119877" y="2082105"/>
            <a:ext cx="462855" cy="43160"/>
          </a:xfrm>
          <a:prstGeom prst="roundRect">
            <a:avLst>
              <a:gd name="adj" fmla="val 50023"/>
            </a:avLst>
          </a:prstGeom>
          <a:solidFill>
            <a:srgbClr val="8FAF97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5D1396F0-F68A-AE96-DD21-B0F507389EDE}"/>
              </a:ext>
            </a:extLst>
          </p:cNvPr>
          <p:cNvSpPr/>
          <p:nvPr/>
        </p:nvSpPr>
        <p:spPr>
          <a:xfrm>
            <a:off x="141106" y="2309813"/>
            <a:ext cx="4682430" cy="530125"/>
          </a:xfrm>
          <a:prstGeom prst="rect">
            <a:avLst/>
          </a:prstGeom>
          <a:solidFill>
            <a:srgbClr val="BC9000">
              <a:alpha val="8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383FD332-89AC-D767-B93E-01F8B8564684}"/>
              </a:ext>
            </a:extLst>
          </p:cNvPr>
          <p:cNvSpPr/>
          <p:nvPr/>
        </p:nvSpPr>
        <p:spPr>
          <a:xfrm>
            <a:off x="141106" y="2309813"/>
            <a:ext cx="19050" cy="530126"/>
          </a:xfrm>
          <a:prstGeom prst="rect">
            <a:avLst/>
          </a:prstGeom>
          <a:solidFill>
            <a:srgbClr val="BC900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4">
            <a:extLst>
              <a:ext uri="{FF2B5EF4-FFF2-40B4-BE49-F238E27FC236}">
                <a16:creationId xmlns:a16="http://schemas.microsoft.com/office/drawing/2014/main" id="{A3B4C4F6-BE30-23FB-87D5-EF8E44D5A01A}"/>
              </a:ext>
            </a:extLst>
          </p:cNvPr>
          <p:cNvSpPr/>
          <p:nvPr/>
        </p:nvSpPr>
        <p:spPr>
          <a:xfrm>
            <a:off x="141106" y="2830413"/>
            <a:ext cx="1213991" cy="9525"/>
          </a:xfrm>
          <a:prstGeom prst="rect">
            <a:avLst/>
          </a:prstGeom>
          <a:solidFill>
            <a:srgbClr val="A8C4A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1F9D2815-4199-6038-AE7D-330F7E8DFADA}"/>
              </a:ext>
            </a:extLst>
          </p:cNvPr>
          <p:cNvSpPr/>
          <p:nvPr/>
        </p:nvSpPr>
        <p:spPr>
          <a:xfrm>
            <a:off x="396049" y="2410123"/>
            <a:ext cx="471050" cy="335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840" dirty="0"/>
          </a:p>
        </p:txBody>
      </p:sp>
      <p:pic>
        <p:nvPicPr>
          <p:cNvPr id="48" name="Image 0" descr="preencoded.png">
            <a:extLst>
              <a:ext uri="{FF2B5EF4-FFF2-40B4-BE49-F238E27FC236}">
                <a16:creationId xmlns:a16="http://schemas.microsoft.com/office/drawing/2014/main" id="{1E7B35B3-21C6-60F9-44AA-BD0448456B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2438" y="2497101"/>
            <a:ext cx="132588" cy="145876"/>
          </a:xfrm>
          <a:prstGeom prst="rect">
            <a:avLst/>
          </a:prstGeom>
        </p:spPr>
      </p:pic>
      <p:sp>
        <p:nvSpPr>
          <p:cNvPr id="49" name="Text 46">
            <a:extLst>
              <a:ext uri="{FF2B5EF4-FFF2-40B4-BE49-F238E27FC236}">
                <a16:creationId xmlns:a16="http://schemas.microsoft.com/office/drawing/2014/main" id="{76DBE987-EE9E-B92F-A54B-229DE2FAC009}"/>
              </a:ext>
            </a:extLst>
          </p:cNvPr>
          <p:cNvSpPr/>
          <p:nvPr/>
        </p:nvSpPr>
        <p:spPr>
          <a:xfrm>
            <a:off x="1355097" y="2830413"/>
            <a:ext cx="1156097" cy="9525"/>
          </a:xfrm>
          <a:prstGeom prst="rect">
            <a:avLst/>
          </a:prstGeom>
          <a:solidFill>
            <a:srgbClr val="A8C4A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D28B9BF4-471D-1DF9-7A21-3A426D409BA6}"/>
              </a:ext>
            </a:extLst>
          </p:cNvPr>
          <p:cNvSpPr/>
          <p:nvPr/>
        </p:nvSpPr>
        <p:spPr>
          <a:xfrm>
            <a:off x="1474636" y="2473821"/>
            <a:ext cx="27438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1010" dirty="0"/>
          </a:p>
        </p:txBody>
      </p:sp>
      <p:sp>
        <p:nvSpPr>
          <p:cNvPr id="51" name="Text 48">
            <a:extLst>
              <a:ext uri="{FF2B5EF4-FFF2-40B4-BE49-F238E27FC236}">
                <a16:creationId xmlns:a16="http://schemas.microsoft.com/office/drawing/2014/main" id="{C58632C6-9F29-B898-031B-C96CA2EACBC4}"/>
              </a:ext>
            </a:extLst>
          </p:cNvPr>
          <p:cNvSpPr/>
          <p:nvPr/>
        </p:nvSpPr>
        <p:spPr>
          <a:xfrm>
            <a:off x="1807535" y="2548384"/>
            <a:ext cx="571500" cy="43160"/>
          </a:xfrm>
          <a:prstGeom prst="roundRect">
            <a:avLst>
              <a:gd name="adj" fmla="val 5002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09D3CDF5-BA66-96DD-2A7C-E9583FE467DE}"/>
              </a:ext>
            </a:extLst>
          </p:cNvPr>
          <p:cNvSpPr/>
          <p:nvPr/>
        </p:nvSpPr>
        <p:spPr>
          <a:xfrm>
            <a:off x="1807535" y="2548384"/>
            <a:ext cx="445740" cy="43160"/>
          </a:xfrm>
          <a:prstGeom prst="roundRect">
            <a:avLst>
              <a:gd name="adj" fmla="val 50023"/>
            </a:avLst>
          </a:prstGeom>
          <a:solidFill>
            <a:srgbClr val="BC900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23C15AC4-62EE-11E5-ACA9-E685B5AA90F1}"/>
              </a:ext>
            </a:extLst>
          </p:cNvPr>
          <p:cNvSpPr/>
          <p:nvPr/>
        </p:nvSpPr>
        <p:spPr>
          <a:xfrm>
            <a:off x="2511194" y="2830413"/>
            <a:ext cx="1156097" cy="9525"/>
          </a:xfrm>
          <a:prstGeom prst="rect">
            <a:avLst/>
          </a:prstGeom>
          <a:solidFill>
            <a:srgbClr val="A8C4A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1F9EF4AB-0C9F-23A1-B102-85F85CB72A69}"/>
              </a:ext>
            </a:extLst>
          </p:cNvPr>
          <p:cNvSpPr/>
          <p:nvPr/>
        </p:nvSpPr>
        <p:spPr>
          <a:xfrm>
            <a:off x="2630733" y="2473821"/>
            <a:ext cx="27438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1010" dirty="0"/>
          </a:p>
        </p:txBody>
      </p:sp>
      <p:sp>
        <p:nvSpPr>
          <p:cNvPr id="55" name="Text 52">
            <a:extLst>
              <a:ext uri="{FF2B5EF4-FFF2-40B4-BE49-F238E27FC236}">
                <a16:creationId xmlns:a16="http://schemas.microsoft.com/office/drawing/2014/main" id="{729FB3DE-1413-4D0C-9641-8F858C292202}"/>
              </a:ext>
            </a:extLst>
          </p:cNvPr>
          <p:cNvSpPr/>
          <p:nvPr/>
        </p:nvSpPr>
        <p:spPr>
          <a:xfrm>
            <a:off x="2963631" y="2548384"/>
            <a:ext cx="571500" cy="43160"/>
          </a:xfrm>
          <a:prstGeom prst="roundRect">
            <a:avLst>
              <a:gd name="adj" fmla="val 5002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3">
            <a:extLst>
              <a:ext uri="{FF2B5EF4-FFF2-40B4-BE49-F238E27FC236}">
                <a16:creationId xmlns:a16="http://schemas.microsoft.com/office/drawing/2014/main" id="{5C26792D-07AD-FE27-CBFF-CDAE42696614}"/>
              </a:ext>
            </a:extLst>
          </p:cNvPr>
          <p:cNvSpPr/>
          <p:nvPr/>
        </p:nvSpPr>
        <p:spPr>
          <a:xfrm>
            <a:off x="2963631" y="2548384"/>
            <a:ext cx="411361" cy="43160"/>
          </a:xfrm>
          <a:prstGeom prst="roundRect">
            <a:avLst>
              <a:gd name="adj" fmla="val 50023"/>
            </a:avLst>
          </a:prstGeom>
          <a:solidFill>
            <a:srgbClr val="BC900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4">
            <a:extLst>
              <a:ext uri="{FF2B5EF4-FFF2-40B4-BE49-F238E27FC236}">
                <a16:creationId xmlns:a16="http://schemas.microsoft.com/office/drawing/2014/main" id="{21FDA42D-10D3-BB89-8FC8-601774C341FC}"/>
              </a:ext>
            </a:extLst>
          </p:cNvPr>
          <p:cNvSpPr/>
          <p:nvPr/>
        </p:nvSpPr>
        <p:spPr>
          <a:xfrm>
            <a:off x="3667291" y="2830413"/>
            <a:ext cx="1156246" cy="9525"/>
          </a:xfrm>
          <a:prstGeom prst="rect">
            <a:avLst/>
          </a:prstGeom>
          <a:solidFill>
            <a:srgbClr val="A8C4AF">
              <a:alpha val="12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5">
            <a:extLst>
              <a:ext uri="{FF2B5EF4-FFF2-40B4-BE49-F238E27FC236}">
                <a16:creationId xmlns:a16="http://schemas.microsoft.com/office/drawing/2014/main" id="{B34852AC-201C-15CF-194D-8606F2A1DF5E}"/>
              </a:ext>
            </a:extLst>
          </p:cNvPr>
          <p:cNvSpPr/>
          <p:nvPr/>
        </p:nvSpPr>
        <p:spPr>
          <a:xfrm>
            <a:off x="3786978" y="2473821"/>
            <a:ext cx="27438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1010" dirty="0"/>
          </a:p>
        </p:txBody>
      </p:sp>
      <p:sp>
        <p:nvSpPr>
          <p:cNvPr id="59" name="Text 56">
            <a:extLst>
              <a:ext uri="{FF2B5EF4-FFF2-40B4-BE49-F238E27FC236}">
                <a16:creationId xmlns:a16="http://schemas.microsoft.com/office/drawing/2014/main" id="{B7FE2E2F-DF52-F35A-5242-7C438654FA22}"/>
              </a:ext>
            </a:extLst>
          </p:cNvPr>
          <p:cNvSpPr/>
          <p:nvPr/>
        </p:nvSpPr>
        <p:spPr>
          <a:xfrm>
            <a:off x="4119877" y="2548384"/>
            <a:ext cx="571500" cy="43160"/>
          </a:xfrm>
          <a:prstGeom prst="roundRect">
            <a:avLst>
              <a:gd name="adj" fmla="val 5002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7">
            <a:extLst>
              <a:ext uri="{FF2B5EF4-FFF2-40B4-BE49-F238E27FC236}">
                <a16:creationId xmlns:a16="http://schemas.microsoft.com/office/drawing/2014/main" id="{346B3B36-6840-001C-F7D6-C8F20202A95A}"/>
              </a:ext>
            </a:extLst>
          </p:cNvPr>
          <p:cNvSpPr/>
          <p:nvPr/>
        </p:nvSpPr>
        <p:spPr>
          <a:xfrm>
            <a:off x="4119877" y="2548384"/>
            <a:ext cx="497086" cy="43160"/>
          </a:xfrm>
          <a:prstGeom prst="roundRect">
            <a:avLst>
              <a:gd name="adj" fmla="val 50023"/>
            </a:avLst>
          </a:prstGeom>
          <a:solidFill>
            <a:srgbClr val="BC900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1" name="Text 58">
            <a:extLst>
              <a:ext uri="{FF2B5EF4-FFF2-40B4-BE49-F238E27FC236}">
                <a16:creationId xmlns:a16="http://schemas.microsoft.com/office/drawing/2014/main" id="{358C9446-C924-388C-0C7E-2C14526520E7}"/>
              </a:ext>
            </a:extLst>
          </p:cNvPr>
          <p:cNvSpPr/>
          <p:nvPr/>
        </p:nvSpPr>
        <p:spPr>
          <a:xfrm>
            <a:off x="141106" y="2839938"/>
            <a:ext cx="4682430" cy="393055"/>
          </a:xfrm>
          <a:custGeom>
            <a:avLst/>
            <a:gdLst/>
            <a:ahLst/>
            <a:cxnLst/>
            <a:rect l="l" t="t" r="r" b="b"/>
            <a:pathLst>
              <a:path w="4682430" h="393055">
                <a:moveTo>
                  <a:pt x="0" y="0"/>
                </a:moveTo>
                <a:lnTo>
                  <a:pt x="0" y="306695"/>
                </a:lnTo>
                <a:lnTo>
                  <a:pt x="1659" y="323543"/>
                </a:lnTo>
                <a:lnTo>
                  <a:pt x="6574" y="339744"/>
                </a:lnTo>
                <a:lnTo>
                  <a:pt x="14554" y="354674"/>
                </a:lnTo>
                <a:lnTo>
                  <a:pt x="25294" y="367761"/>
                </a:lnTo>
                <a:lnTo>
                  <a:pt x="38381" y="378501"/>
                </a:lnTo>
                <a:lnTo>
                  <a:pt x="53311" y="386481"/>
                </a:lnTo>
                <a:lnTo>
                  <a:pt x="69512" y="391396"/>
                </a:lnTo>
                <a:lnTo>
                  <a:pt x="86360" y="393055"/>
                </a:lnTo>
                <a:lnTo>
                  <a:pt x="4596070" y="393055"/>
                </a:lnTo>
                <a:lnTo>
                  <a:pt x="4612918" y="391396"/>
                </a:lnTo>
                <a:lnTo>
                  <a:pt x="4629119" y="386481"/>
                </a:lnTo>
                <a:lnTo>
                  <a:pt x="4644049" y="378501"/>
                </a:lnTo>
                <a:lnTo>
                  <a:pt x="4657136" y="367761"/>
                </a:lnTo>
                <a:lnTo>
                  <a:pt x="4667876" y="354674"/>
                </a:lnTo>
                <a:lnTo>
                  <a:pt x="4675857" y="339744"/>
                </a:lnTo>
                <a:lnTo>
                  <a:pt x="4680771" y="323543"/>
                </a:lnTo>
                <a:lnTo>
                  <a:pt x="4682430" y="306695"/>
                </a:lnTo>
                <a:lnTo>
                  <a:pt x="4682430" y="0"/>
                </a:lnTo>
                <a:close/>
              </a:path>
            </a:pathLst>
          </a:custGeom>
          <a:solidFill>
            <a:srgbClr val="3D6B4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2" name="Text 59">
            <a:extLst>
              <a:ext uri="{FF2B5EF4-FFF2-40B4-BE49-F238E27FC236}">
                <a16:creationId xmlns:a16="http://schemas.microsoft.com/office/drawing/2014/main" id="{C0E4B004-55BA-DA6F-5955-35F3867F07E6}"/>
              </a:ext>
            </a:extLst>
          </p:cNvPr>
          <p:cNvSpPr/>
          <p:nvPr/>
        </p:nvSpPr>
        <p:spPr>
          <a:xfrm>
            <a:off x="141106" y="2839938"/>
            <a:ext cx="1238271" cy="412708"/>
          </a:xfrm>
          <a:prstGeom prst="rect">
            <a:avLst/>
          </a:prstGeom>
          <a:noFill/>
          <a:ln/>
        </p:spPr>
        <p:txBody>
          <a:bodyPr wrap="square" lIns="143510" tIns="100330" rIns="114300" bIns="10033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840" dirty="0"/>
          </a:p>
        </p:txBody>
      </p:sp>
      <p:sp>
        <p:nvSpPr>
          <p:cNvPr id="63" name="Text 60">
            <a:extLst>
              <a:ext uri="{FF2B5EF4-FFF2-40B4-BE49-F238E27FC236}">
                <a16:creationId xmlns:a16="http://schemas.microsoft.com/office/drawing/2014/main" id="{39815482-D18B-704F-2118-8275CDB2C26B}"/>
              </a:ext>
            </a:extLst>
          </p:cNvPr>
          <p:cNvSpPr/>
          <p:nvPr/>
        </p:nvSpPr>
        <p:spPr>
          <a:xfrm>
            <a:off x="1474636" y="2940248"/>
            <a:ext cx="27438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1010" dirty="0"/>
          </a:p>
        </p:txBody>
      </p:sp>
      <p:sp>
        <p:nvSpPr>
          <p:cNvPr id="64" name="Text 61">
            <a:extLst>
              <a:ext uri="{FF2B5EF4-FFF2-40B4-BE49-F238E27FC236}">
                <a16:creationId xmlns:a16="http://schemas.microsoft.com/office/drawing/2014/main" id="{FB080C0D-8A2E-C2A9-79B0-961252EEA7AC}"/>
              </a:ext>
            </a:extLst>
          </p:cNvPr>
          <p:cNvSpPr/>
          <p:nvPr/>
        </p:nvSpPr>
        <p:spPr>
          <a:xfrm>
            <a:off x="1807535" y="3014811"/>
            <a:ext cx="571500" cy="43160"/>
          </a:xfrm>
          <a:prstGeom prst="roundRect">
            <a:avLst>
              <a:gd name="adj" fmla="val 5002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5" name="Text 62">
            <a:extLst>
              <a:ext uri="{FF2B5EF4-FFF2-40B4-BE49-F238E27FC236}">
                <a16:creationId xmlns:a16="http://schemas.microsoft.com/office/drawing/2014/main" id="{702803EC-1382-ED2C-6030-34CB9AC17BB3}"/>
              </a:ext>
            </a:extLst>
          </p:cNvPr>
          <p:cNvSpPr/>
          <p:nvPr/>
        </p:nvSpPr>
        <p:spPr>
          <a:xfrm>
            <a:off x="1807535" y="3014811"/>
            <a:ext cx="371475" cy="43160"/>
          </a:xfrm>
          <a:prstGeom prst="roundRect">
            <a:avLst>
              <a:gd name="adj" fmla="val 50023"/>
            </a:avLst>
          </a:prstGeom>
          <a:solidFill>
            <a:srgbClr val="7A9E8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6" name="Text 63">
            <a:extLst>
              <a:ext uri="{FF2B5EF4-FFF2-40B4-BE49-F238E27FC236}">
                <a16:creationId xmlns:a16="http://schemas.microsoft.com/office/drawing/2014/main" id="{5ED0D33E-0F03-6789-BCAC-24F4BF44E122}"/>
              </a:ext>
            </a:extLst>
          </p:cNvPr>
          <p:cNvSpPr/>
          <p:nvPr/>
        </p:nvSpPr>
        <p:spPr>
          <a:xfrm>
            <a:off x="2630733" y="2940248"/>
            <a:ext cx="27438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0.70</a:t>
            </a:r>
            <a:endParaRPr lang="en-US" sz="1010" dirty="0"/>
          </a:p>
        </p:txBody>
      </p:sp>
      <p:sp>
        <p:nvSpPr>
          <p:cNvPr id="67" name="Text 64">
            <a:extLst>
              <a:ext uri="{FF2B5EF4-FFF2-40B4-BE49-F238E27FC236}">
                <a16:creationId xmlns:a16="http://schemas.microsoft.com/office/drawing/2014/main" id="{2271474C-91F0-6459-EFEA-AE1FD917C7D3}"/>
              </a:ext>
            </a:extLst>
          </p:cNvPr>
          <p:cNvSpPr/>
          <p:nvPr/>
        </p:nvSpPr>
        <p:spPr>
          <a:xfrm>
            <a:off x="2963631" y="3014811"/>
            <a:ext cx="571500" cy="43160"/>
          </a:xfrm>
          <a:prstGeom prst="roundRect">
            <a:avLst>
              <a:gd name="adj" fmla="val 5002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8" name="Text 65">
            <a:extLst>
              <a:ext uri="{FF2B5EF4-FFF2-40B4-BE49-F238E27FC236}">
                <a16:creationId xmlns:a16="http://schemas.microsoft.com/office/drawing/2014/main" id="{BE6A4AEB-2F63-BC26-801A-8D9107421E2C}"/>
              </a:ext>
            </a:extLst>
          </p:cNvPr>
          <p:cNvSpPr/>
          <p:nvPr/>
        </p:nvSpPr>
        <p:spPr>
          <a:xfrm>
            <a:off x="2963631" y="3014811"/>
            <a:ext cx="400050" cy="43160"/>
          </a:xfrm>
          <a:prstGeom prst="roundRect">
            <a:avLst>
              <a:gd name="adj" fmla="val 50023"/>
            </a:avLst>
          </a:prstGeom>
          <a:solidFill>
            <a:srgbClr val="7A9E8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9" name="Text 66">
            <a:extLst>
              <a:ext uri="{FF2B5EF4-FFF2-40B4-BE49-F238E27FC236}">
                <a16:creationId xmlns:a16="http://schemas.microsoft.com/office/drawing/2014/main" id="{7ABB33CB-6580-DE86-448F-BAA0BDCF3CE8}"/>
              </a:ext>
            </a:extLst>
          </p:cNvPr>
          <p:cNvSpPr/>
          <p:nvPr/>
        </p:nvSpPr>
        <p:spPr>
          <a:xfrm>
            <a:off x="3786978" y="2940248"/>
            <a:ext cx="274380" cy="1924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515"/>
              </a:lnSpc>
              <a:buNone/>
            </a:pPr>
            <a:r>
              <a:rPr lang="en-US" sz="10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0.65</a:t>
            </a:r>
            <a:endParaRPr lang="en-US" sz="1010" dirty="0"/>
          </a:p>
        </p:txBody>
      </p:sp>
      <p:sp>
        <p:nvSpPr>
          <p:cNvPr id="70" name="Text 67">
            <a:extLst>
              <a:ext uri="{FF2B5EF4-FFF2-40B4-BE49-F238E27FC236}">
                <a16:creationId xmlns:a16="http://schemas.microsoft.com/office/drawing/2014/main" id="{3709B0CF-03D1-CFFC-0588-859E44F1874B}"/>
              </a:ext>
            </a:extLst>
          </p:cNvPr>
          <p:cNvSpPr/>
          <p:nvPr/>
        </p:nvSpPr>
        <p:spPr>
          <a:xfrm>
            <a:off x="4119877" y="3014811"/>
            <a:ext cx="571500" cy="43160"/>
          </a:xfrm>
          <a:prstGeom prst="roundRect">
            <a:avLst>
              <a:gd name="adj" fmla="val 50023"/>
            </a:avLst>
          </a:prstGeom>
          <a:solidFill>
            <a:srgbClr val="FFFFFF">
              <a:alpha val="6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1" name="Text 68">
            <a:extLst>
              <a:ext uri="{FF2B5EF4-FFF2-40B4-BE49-F238E27FC236}">
                <a16:creationId xmlns:a16="http://schemas.microsoft.com/office/drawing/2014/main" id="{496A3BE1-E473-0EE9-8D6D-F5466104ECCE}"/>
              </a:ext>
            </a:extLst>
          </p:cNvPr>
          <p:cNvSpPr/>
          <p:nvPr/>
        </p:nvSpPr>
        <p:spPr>
          <a:xfrm>
            <a:off x="4119877" y="3014811"/>
            <a:ext cx="371475" cy="43160"/>
          </a:xfrm>
          <a:prstGeom prst="roundRect">
            <a:avLst>
              <a:gd name="adj" fmla="val 50023"/>
            </a:avLst>
          </a:prstGeom>
          <a:solidFill>
            <a:srgbClr val="7A9E82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2" name="Text 69">
            <a:extLst>
              <a:ext uri="{FF2B5EF4-FFF2-40B4-BE49-F238E27FC236}">
                <a16:creationId xmlns:a16="http://schemas.microsoft.com/office/drawing/2014/main" id="{46083761-FBA1-6BF8-D0A8-971000BD4929}"/>
              </a:ext>
            </a:extLst>
          </p:cNvPr>
          <p:cNvSpPr/>
          <p:nvPr/>
        </p:nvSpPr>
        <p:spPr>
          <a:xfrm>
            <a:off x="141106" y="3307556"/>
            <a:ext cx="4651981" cy="790619"/>
          </a:xfrm>
          <a:prstGeom prst="roundRect">
            <a:avLst>
              <a:gd name="adj" fmla="val 16154"/>
            </a:avLst>
          </a:prstGeom>
          <a:gradFill rotWithShape="1">
            <a:gsLst>
              <a:gs pos="0">
                <a:srgbClr val="BC9000">
                  <a:alpha val="15000"/>
                </a:srgbClr>
              </a:gs>
              <a:gs pos="100000">
                <a:srgbClr val="BC9000">
                  <a:alpha val="5000"/>
                </a:srgbClr>
              </a:gs>
            </a:gsLst>
            <a:lin ang="2700000" scaled="1"/>
          </a:gradFill>
          <a:ln w="9525">
            <a:solidFill>
              <a:srgbClr val="BC9000">
                <a:alpha val="4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3" name="Text 70">
            <a:extLst>
              <a:ext uri="{FF2B5EF4-FFF2-40B4-BE49-F238E27FC236}">
                <a16:creationId xmlns:a16="http://schemas.microsoft.com/office/drawing/2014/main" id="{A79B3FBE-7B6A-CFFB-7F0B-AFA7DBD2A97A}"/>
              </a:ext>
            </a:extLst>
          </p:cNvPr>
          <p:cNvSpPr/>
          <p:nvPr/>
        </p:nvSpPr>
        <p:spPr>
          <a:xfrm>
            <a:off x="322081" y="3457129"/>
            <a:ext cx="314920" cy="314920"/>
          </a:xfrm>
          <a:prstGeom prst="roundRect">
            <a:avLst>
              <a:gd name="adj" fmla="val 22584"/>
            </a:avLst>
          </a:prstGeom>
          <a:solidFill>
            <a:srgbClr val="BC9000">
              <a:alpha val="2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74" name="Image 1" descr="preencoded.png">
            <a:extLst>
              <a:ext uri="{FF2B5EF4-FFF2-40B4-BE49-F238E27FC236}">
                <a16:creationId xmlns:a16="http://schemas.microsoft.com/office/drawing/2014/main" id="{487627D1-C2D0-48CC-C517-090ECBAB59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3247" y="3548295"/>
            <a:ext cx="132588" cy="132588"/>
          </a:xfrm>
          <a:prstGeom prst="rect">
            <a:avLst/>
          </a:prstGeom>
        </p:spPr>
      </p:pic>
      <p:sp>
        <p:nvSpPr>
          <p:cNvPr id="75" name="Text 71">
            <a:extLst>
              <a:ext uri="{FF2B5EF4-FFF2-40B4-BE49-F238E27FC236}">
                <a16:creationId xmlns:a16="http://schemas.microsoft.com/office/drawing/2014/main" id="{F2CCFB3F-625F-E17D-DA75-21919DAD27A9}"/>
              </a:ext>
            </a:extLst>
          </p:cNvPr>
          <p:cNvSpPr/>
          <p:nvPr/>
        </p:nvSpPr>
        <p:spPr>
          <a:xfrm>
            <a:off x="751301" y="3458170"/>
            <a:ext cx="3399621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Gradient Boosting</a:t>
            </a:r>
            <a:endParaRPr lang="en-US" sz="840" dirty="0"/>
          </a:p>
        </p:txBody>
      </p:sp>
      <p:sp>
        <p:nvSpPr>
          <p:cNvPr id="76" name="Text 72">
            <a:extLst>
              <a:ext uri="{FF2B5EF4-FFF2-40B4-BE49-F238E27FC236}">
                <a16:creationId xmlns:a16="http://schemas.microsoft.com/office/drawing/2014/main" id="{F13A809D-5A39-1814-7A8A-A22449148E00}"/>
              </a:ext>
            </a:extLst>
          </p:cNvPr>
          <p:cNvSpPr/>
          <p:nvPr/>
        </p:nvSpPr>
        <p:spPr>
          <a:xfrm>
            <a:off x="751301" y="3632002"/>
            <a:ext cx="3399621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 Test Accuracy · 0.87 AUC-ROC · Strongest generalization across folds · </a:t>
            </a:r>
          </a:p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experiment: avg_response_time outperformed min_response_time</a:t>
            </a:r>
            <a:endParaRPr lang="en-US" sz="730" dirty="0"/>
          </a:p>
        </p:txBody>
      </p:sp>
      <p:sp>
        <p:nvSpPr>
          <p:cNvPr id="77" name="Text 73">
            <a:extLst>
              <a:ext uri="{FF2B5EF4-FFF2-40B4-BE49-F238E27FC236}">
                <a16:creationId xmlns:a16="http://schemas.microsoft.com/office/drawing/2014/main" id="{C1BC235D-1E32-04E6-0105-172F1640D632}"/>
              </a:ext>
            </a:extLst>
          </p:cNvPr>
          <p:cNvSpPr/>
          <p:nvPr/>
        </p:nvSpPr>
        <p:spPr>
          <a:xfrm>
            <a:off x="4882054" y="1183481"/>
            <a:ext cx="4203279" cy="2817018"/>
          </a:xfrm>
          <a:prstGeom prst="roundRect">
            <a:avLst>
              <a:gd name="adj" fmla="val 2771"/>
            </a:avLst>
          </a:prstGeom>
          <a:solidFill>
            <a:srgbClr val="3D6B4A"/>
          </a:solidFill>
          <a:ln w="9525">
            <a:solidFill>
              <a:srgbClr val="A8C4AF">
                <a:alpha val="12000"/>
              </a:srgbClr>
            </a:solidFill>
          </a:ln>
          <a:effectLst>
            <a:outerShdw blurRad="171450" dist="57150" dir="5400000" algn="bl" rotWithShape="0">
              <a:srgbClr val="1A1A1A">
                <a:alpha val="20000"/>
              </a:srgbClr>
            </a:outerShdw>
          </a:effectLst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8" name="Text 74">
            <a:extLst>
              <a:ext uri="{FF2B5EF4-FFF2-40B4-BE49-F238E27FC236}">
                <a16:creationId xmlns:a16="http://schemas.microsoft.com/office/drawing/2014/main" id="{4A341289-F405-E40E-5869-33390CB1CAEF}"/>
              </a:ext>
            </a:extLst>
          </p:cNvPr>
          <p:cNvSpPr/>
          <p:nvPr/>
        </p:nvSpPr>
        <p:spPr>
          <a:xfrm>
            <a:off x="5378946" y="1279327"/>
            <a:ext cx="3596074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kern="0" spc="62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CHART</a:t>
            </a:r>
            <a:endParaRPr lang="en-US" sz="620" dirty="0"/>
          </a:p>
        </p:txBody>
      </p:sp>
      <p:sp>
        <p:nvSpPr>
          <p:cNvPr id="80" name="Text 75">
            <a:extLst>
              <a:ext uri="{FF2B5EF4-FFF2-40B4-BE49-F238E27FC236}">
                <a16:creationId xmlns:a16="http://schemas.microsoft.com/office/drawing/2014/main" id="{9A10ABDE-D8A5-E489-39F2-BD32E377AA3C}"/>
              </a:ext>
            </a:extLst>
          </p:cNvPr>
          <p:cNvSpPr/>
          <p:nvPr/>
        </p:nvSpPr>
        <p:spPr>
          <a:xfrm>
            <a:off x="5283101" y="4385816"/>
            <a:ext cx="1687264" cy="544957"/>
          </a:xfrm>
          <a:prstGeom prst="roundRect">
            <a:avLst>
              <a:gd name="adj" fmla="val 13051"/>
            </a:avLst>
          </a:prstGeom>
          <a:solidFill>
            <a:srgbClr val="3D6B4A"/>
          </a:solidFill>
          <a:ln w="9525">
            <a:solidFill>
              <a:srgbClr val="A8C4AF">
                <a:alpha val="12000"/>
              </a:srgbClr>
            </a:solidFill>
          </a:ln>
        </p:spPr>
        <p:txBody>
          <a:bodyPr wrap="square" lIns="100330" tIns="71120" rIns="100330" bIns="71120" rtlCol="0" anchor="t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</a:t>
            </a:r>
            <a:endParaRPr lang="en-US" sz="1240" dirty="0"/>
          </a:p>
          <a:p>
            <a:pPr marL="0" indent="0" algn="ctr">
              <a:buNone/>
            </a:pPr>
            <a:r>
              <a:rPr lang="en-US" sz="620" kern="0" spc="31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AUC-ROC</a:t>
            </a:r>
            <a:endParaRPr lang="en-US" sz="1240" dirty="0"/>
          </a:p>
        </p:txBody>
      </p:sp>
      <p:sp>
        <p:nvSpPr>
          <p:cNvPr id="81" name="Text 76">
            <a:extLst>
              <a:ext uri="{FF2B5EF4-FFF2-40B4-BE49-F238E27FC236}">
                <a16:creationId xmlns:a16="http://schemas.microsoft.com/office/drawing/2014/main" id="{8C8F3AA0-B10D-FDC7-7D32-611F95FEFF8C}"/>
              </a:ext>
            </a:extLst>
          </p:cNvPr>
          <p:cNvSpPr/>
          <p:nvPr/>
        </p:nvSpPr>
        <p:spPr>
          <a:xfrm>
            <a:off x="7056686" y="4385816"/>
            <a:ext cx="1687264" cy="544957"/>
          </a:xfrm>
          <a:prstGeom prst="roundRect">
            <a:avLst>
              <a:gd name="adj" fmla="val 13051"/>
            </a:avLst>
          </a:prstGeom>
          <a:solidFill>
            <a:srgbClr val="3D6B4A"/>
          </a:solidFill>
          <a:ln w="9525">
            <a:solidFill>
              <a:srgbClr val="A8C4AF">
                <a:alpha val="12000"/>
              </a:srgbClr>
            </a:solidFill>
          </a:ln>
        </p:spPr>
        <p:txBody>
          <a:bodyPr wrap="square" lIns="100330" tIns="71120" rIns="100330" bIns="71120" rtlCol="0" anchor="t"/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0.78</a:t>
            </a:r>
            <a:endParaRPr lang="en-US" sz="1240" dirty="0"/>
          </a:p>
          <a:p>
            <a:pPr marL="0" indent="0" algn="ctr">
              <a:buNone/>
            </a:pPr>
            <a:r>
              <a:rPr lang="en-US" sz="620" kern="0" spc="31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TEST ACC</a:t>
            </a:r>
            <a:endParaRPr lang="en-US" sz="1240" dirty="0"/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B4D99987-F007-9B4A-8EC1-DF858DEC64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9195" y="1607415"/>
            <a:ext cx="4075756" cy="1501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34486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8448"/>
    </mc:Choice>
    <mc:Fallback>
      <p:transition spd="slow" advTm="68448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2B52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6C193A-C7E0-F9EF-3182-1A2C65041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34">
            <a:extLst>
              <a:ext uri="{FF2B5EF4-FFF2-40B4-BE49-F238E27FC236}">
                <a16:creationId xmlns:a16="http://schemas.microsoft.com/office/drawing/2014/main" id="{E879B108-EBC7-2F25-F7E5-854BA1C72AED}"/>
              </a:ext>
            </a:extLst>
          </p:cNvPr>
          <p:cNvSpPr/>
          <p:nvPr/>
        </p:nvSpPr>
        <p:spPr>
          <a:xfrm>
            <a:off x="644224" y="3592493"/>
            <a:ext cx="7855552" cy="1046618"/>
          </a:xfrm>
          <a:prstGeom prst="roundRect">
            <a:avLst>
              <a:gd name="adj" fmla="val 15674"/>
            </a:avLst>
          </a:prstGeom>
          <a:gradFill rotWithShape="1">
            <a:gsLst>
              <a:gs pos="0">
                <a:srgbClr val="BC9000">
                  <a:alpha val="8000"/>
                </a:srgbClr>
              </a:gs>
              <a:gs pos="100000">
                <a:srgbClr val="BC9000">
                  <a:alpha val="8000"/>
                </a:srgbClr>
              </a:gs>
            </a:gsLst>
            <a:lin ang="2700000" scaled="1"/>
          </a:gradFill>
          <a:ln w="9525">
            <a:solidFill>
              <a:srgbClr val="A8C4AF">
                <a:alpha val="15000"/>
              </a:srgbClr>
            </a:solidFill>
          </a:ln>
        </p:spPr>
        <p:txBody>
          <a:bodyPr wrap="square" rtlCol="0" anchor="t"/>
          <a:lstStyle/>
          <a:p>
            <a:pPr>
              <a:lnSpc>
                <a:spcPts val="1440"/>
              </a:lnSpc>
            </a:pPr>
            <a:r>
              <a:rPr lang="en-US" sz="1000" b="1" dirty="0">
                <a:solidFill>
                  <a:srgbClr val="BC9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              Key Insights</a:t>
            </a:r>
            <a:endParaRPr lang="en-US" sz="1000" dirty="0"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528A57BA-6B52-2D70-5C3C-6ACD6D63A092}"/>
              </a:ext>
            </a:extLst>
          </p:cNvPr>
          <p:cNvSpPr/>
          <p:nvPr/>
        </p:nvSpPr>
        <p:spPr>
          <a:xfrm>
            <a:off x="4766753" y="884053"/>
            <a:ext cx="2631100" cy="2450902"/>
          </a:xfrm>
          <a:prstGeom prst="roundRect">
            <a:avLst>
              <a:gd name="adj" fmla="val 4094"/>
            </a:avLst>
          </a:prstGeom>
          <a:solidFill>
            <a:srgbClr val="3D6B4A"/>
          </a:solidFill>
          <a:ln w="9525">
            <a:solidFill>
              <a:srgbClr val="A8C4AF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6A18C77E-E488-5EC0-7CAF-39A7AFABFC0D}"/>
              </a:ext>
            </a:extLst>
          </p:cNvPr>
          <p:cNvSpPr/>
          <p:nvPr/>
        </p:nvSpPr>
        <p:spPr>
          <a:xfrm>
            <a:off x="1542885" y="888801"/>
            <a:ext cx="2604195" cy="2450902"/>
          </a:xfrm>
          <a:prstGeom prst="roundRect">
            <a:avLst>
              <a:gd name="adj" fmla="val 4664"/>
            </a:avLst>
          </a:prstGeom>
          <a:solidFill>
            <a:srgbClr val="3D6B4A"/>
          </a:solidFill>
          <a:ln w="9525">
            <a:solidFill>
              <a:srgbClr val="BC9000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119B60B0-3602-9CD0-CD15-1ECDA464CD2C}"/>
              </a:ext>
            </a:extLst>
          </p:cNvPr>
          <p:cNvSpPr/>
          <p:nvPr/>
        </p:nvSpPr>
        <p:spPr>
          <a:xfrm>
            <a:off x="6943391" y="-35656"/>
            <a:ext cx="2143720" cy="1857970"/>
          </a:xfrm>
          <a:prstGeom prst="ellipse">
            <a:avLst/>
          </a:prstGeom>
          <a:solidFill>
            <a:srgbClr val="BC9000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9B08463-752F-8458-9F76-98C3216145F3}"/>
              </a:ext>
            </a:extLst>
          </p:cNvPr>
          <p:cNvSpPr/>
          <p:nvPr/>
        </p:nvSpPr>
        <p:spPr>
          <a:xfrm>
            <a:off x="1570192" y="861163"/>
            <a:ext cx="2584999" cy="29170"/>
          </a:xfrm>
          <a:custGeom>
            <a:avLst/>
            <a:gdLst/>
            <a:ahLst/>
            <a:cxnLst/>
            <a:rect l="l" t="t" r="r" b="b"/>
            <a:pathLst>
              <a:path w="2584999" h="29170">
                <a:moveTo>
                  <a:pt x="114300" y="0"/>
                </a:moveTo>
                <a:lnTo>
                  <a:pt x="2470699" y="0"/>
                </a:lnTo>
                <a:lnTo>
                  <a:pt x="2499339" y="3646"/>
                </a:lnTo>
                <a:lnTo>
                  <a:pt x="2510873" y="7293"/>
                </a:lnTo>
                <a:lnTo>
                  <a:pt x="2519494" y="10939"/>
                </a:lnTo>
                <a:lnTo>
                  <a:pt x="2526569" y="14585"/>
                </a:lnTo>
                <a:lnTo>
                  <a:pt x="2532629" y="18231"/>
                </a:lnTo>
                <a:lnTo>
                  <a:pt x="2537950" y="21878"/>
                </a:lnTo>
                <a:lnTo>
                  <a:pt x="2542695" y="25524"/>
                </a:lnTo>
                <a:lnTo>
                  <a:pt x="2546971" y="29170"/>
                </a:lnTo>
                <a:lnTo>
                  <a:pt x="38028" y="29170"/>
                </a:lnTo>
                <a:lnTo>
                  <a:pt x="42305" y="25524"/>
                </a:lnTo>
                <a:lnTo>
                  <a:pt x="47050" y="21878"/>
                </a:lnTo>
                <a:lnTo>
                  <a:pt x="52370" y="18231"/>
                </a:lnTo>
                <a:lnTo>
                  <a:pt x="58430" y="14585"/>
                </a:lnTo>
                <a:lnTo>
                  <a:pt x="65505" y="10939"/>
                </a:lnTo>
                <a:lnTo>
                  <a:pt x="74127" y="7293"/>
                </a:lnTo>
                <a:lnTo>
                  <a:pt x="85660" y="3646"/>
                </a:lnTo>
                <a:close/>
              </a:path>
            </a:pathLst>
          </a:custGeom>
          <a:gradFill rotWithShape="1">
            <a:gsLst>
              <a:gs pos="0">
                <a:srgbClr val="BC9000"/>
              </a:gs>
              <a:gs pos="100000">
                <a:srgbClr val="D4A80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06DEC76-FA2A-4515-4937-9B8ADE6A07E9}"/>
              </a:ext>
            </a:extLst>
          </p:cNvPr>
          <p:cNvSpPr/>
          <p:nvPr/>
        </p:nvSpPr>
        <p:spPr>
          <a:xfrm>
            <a:off x="4796969" y="851795"/>
            <a:ext cx="2585142" cy="29170"/>
          </a:xfrm>
          <a:custGeom>
            <a:avLst/>
            <a:gdLst/>
            <a:ahLst/>
            <a:cxnLst/>
            <a:rect l="l" t="t" r="r" b="b"/>
            <a:pathLst>
              <a:path w="2585142" h="29170">
                <a:moveTo>
                  <a:pt x="114300" y="0"/>
                </a:moveTo>
                <a:lnTo>
                  <a:pt x="2470842" y="0"/>
                </a:lnTo>
                <a:lnTo>
                  <a:pt x="2499482" y="3646"/>
                </a:lnTo>
                <a:lnTo>
                  <a:pt x="2511016" y="7293"/>
                </a:lnTo>
                <a:lnTo>
                  <a:pt x="2519637" y="10939"/>
                </a:lnTo>
                <a:lnTo>
                  <a:pt x="2526712" y="14585"/>
                </a:lnTo>
                <a:lnTo>
                  <a:pt x="2532772" y="18231"/>
                </a:lnTo>
                <a:lnTo>
                  <a:pt x="2538093" y="21878"/>
                </a:lnTo>
                <a:lnTo>
                  <a:pt x="2542837" y="25524"/>
                </a:lnTo>
                <a:lnTo>
                  <a:pt x="2547114" y="29170"/>
                </a:lnTo>
                <a:lnTo>
                  <a:pt x="38028" y="29170"/>
                </a:lnTo>
                <a:lnTo>
                  <a:pt x="42305" y="25524"/>
                </a:lnTo>
                <a:lnTo>
                  <a:pt x="47050" y="21878"/>
                </a:lnTo>
                <a:lnTo>
                  <a:pt x="52370" y="18231"/>
                </a:lnTo>
                <a:lnTo>
                  <a:pt x="58430" y="14585"/>
                </a:lnTo>
                <a:lnTo>
                  <a:pt x="65505" y="10939"/>
                </a:lnTo>
                <a:lnTo>
                  <a:pt x="74127" y="7293"/>
                </a:lnTo>
                <a:lnTo>
                  <a:pt x="85660" y="3646"/>
                </a:lnTo>
                <a:close/>
              </a:path>
            </a:pathLst>
          </a:custGeom>
          <a:gradFill rotWithShape="1">
            <a:gsLst>
              <a:gs pos="0">
                <a:srgbClr val="BC9000"/>
              </a:gs>
              <a:gs pos="100000">
                <a:srgbClr val="D4A80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B4CEB2C-EA5C-CE9A-2A14-DE90516FA537}"/>
              </a:ext>
            </a:extLst>
          </p:cNvPr>
          <p:cNvSpPr/>
          <p:nvPr/>
        </p:nvSpPr>
        <p:spPr>
          <a:xfrm>
            <a:off x="429220" y="342900"/>
            <a:ext cx="911411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spcAft>
                <a:spcPts val="340"/>
              </a:spcAft>
              <a:buNone/>
            </a:pPr>
            <a:r>
              <a:rPr lang="en-US" sz="620" b="1" kern="0" spc="93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</a:t>
            </a:r>
            <a:endParaRPr lang="en-US" sz="62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5ABEF17-5DF5-5EE9-DB17-E728474B9241}"/>
              </a:ext>
            </a:extLst>
          </p:cNvPr>
          <p:cNvSpPr/>
          <p:nvPr/>
        </p:nvSpPr>
        <p:spPr>
          <a:xfrm>
            <a:off x="364194" y="431384"/>
            <a:ext cx="8865549" cy="312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61"/>
              </a:lnSpc>
              <a:spcAft>
                <a:spcPts val="230"/>
              </a:spcAft>
              <a:buNone/>
            </a:pPr>
            <a:r>
              <a:rPr lang="en-US" sz="214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Behavioral Features vs. All Features</a:t>
            </a:r>
            <a:endParaRPr lang="en-US" sz="214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E7BA6525-2F16-3EC6-8106-11A868225A0C}"/>
              </a:ext>
            </a:extLst>
          </p:cNvPr>
          <p:cNvSpPr/>
          <p:nvPr/>
        </p:nvSpPr>
        <p:spPr>
          <a:xfrm>
            <a:off x="1715015" y="988095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BC9000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6695DB26-5FFD-92E2-86C1-B69393E2C3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61286" y="1038802"/>
            <a:ext cx="132588" cy="132588"/>
          </a:xfrm>
          <a:prstGeom prst="rect">
            <a:avLst/>
          </a:prstGeom>
        </p:spPr>
      </p:pic>
      <p:sp>
        <p:nvSpPr>
          <p:cNvPr id="12" name="Text 9">
            <a:extLst>
              <a:ext uri="{FF2B5EF4-FFF2-40B4-BE49-F238E27FC236}">
                <a16:creationId xmlns:a16="http://schemas.microsoft.com/office/drawing/2014/main" id="{FF0CCBB2-BFC7-6B7E-EE1C-227F33C76896}"/>
              </a:ext>
            </a:extLst>
          </p:cNvPr>
          <p:cNvSpPr/>
          <p:nvPr/>
        </p:nvSpPr>
        <p:spPr>
          <a:xfrm>
            <a:off x="2077490" y="919676"/>
            <a:ext cx="1892094" cy="383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1440"/>
              </a:lnSpc>
            </a:pPr>
            <a:r>
              <a:rPr lang="en-US" sz="960" b="1" dirty="0">
                <a:solidFill>
                  <a:srgbClr val="BC9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Improve Without Difficulty Features</a:t>
            </a:r>
            <a:endParaRPr lang="en-US" sz="96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9C43DCA-1CD4-19CA-5204-EA03BDDDC88B}"/>
              </a:ext>
            </a:extLst>
          </p:cNvPr>
          <p:cNvSpPr/>
          <p:nvPr/>
        </p:nvSpPr>
        <p:spPr>
          <a:xfrm>
            <a:off x="1754240" y="1423531"/>
            <a:ext cx="2183755" cy="788044"/>
          </a:xfrm>
          <a:prstGeom prst="roundRect">
            <a:avLst>
              <a:gd name="adj" fmla="val 15637"/>
            </a:avLst>
          </a:prstGeom>
          <a:solidFill>
            <a:srgbClr val="BC9000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FE118B12-760F-8083-DA2F-02D19886AB8B}"/>
              </a:ext>
            </a:extLst>
          </p:cNvPr>
          <p:cNvSpPr/>
          <p:nvPr/>
        </p:nvSpPr>
        <p:spPr>
          <a:xfrm>
            <a:off x="1840188" y="1525401"/>
            <a:ext cx="117151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84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AB2FBCE2-CE2C-2668-7931-0BFAEF26B70E}"/>
              </a:ext>
            </a:extLst>
          </p:cNvPr>
          <p:cNvSpPr/>
          <p:nvPr/>
        </p:nvSpPr>
        <p:spPr>
          <a:xfrm>
            <a:off x="1840188" y="1716118"/>
            <a:ext cx="117151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spcBef>
                <a:spcPts val="110"/>
              </a:spcBef>
              <a:buNone/>
            </a:pPr>
            <a:r>
              <a:rPr lang="en-US" sz="73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across all metrics</a:t>
            </a:r>
            <a:endParaRPr lang="en-US" sz="73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EE770BF-D711-CC83-B23B-8B7DDD90DCB7}"/>
              </a:ext>
            </a:extLst>
          </p:cNvPr>
          <p:cNvSpPr/>
          <p:nvPr/>
        </p:nvSpPr>
        <p:spPr>
          <a:xfrm>
            <a:off x="2882016" y="1490504"/>
            <a:ext cx="979348" cy="212988"/>
          </a:xfrm>
          <a:prstGeom prst="roundRect">
            <a:avLst>
              <a:gd name="adj" fmla="val 50000"/>
            </a:avLst>
          </a:prstGeom>
          <a:solidFill>
            <a:srgbClr val="BC9000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D4A800"/>
                </a:solidFill>
                <a:latin typeface="Calibri" pitchFamily="34" charset="0"/>
                <a:cs typeface="Calibri" pitchFamily="34" charset="-120"/>
              </a:rPr>
              <a:t>Test Acc: +0.096</a:t>
            </a:r>
            <a:endParaRPr lang="en-US" sz="79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899A0DF2-5EC8-2534-6EAF-D88C5BC713B9}"/>
              </a:ext>
            </a:extLst>
          </p:cNvPr>
          <p:cNvSpPr/>
          <p:nvPr/>
        </p:nvSpPr>
        <p:spPr>
          <a:xfrm>
            <a:off x="4897356" y="1006901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BC9000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1" descr="preencoded.png">
            <a:extLst>
              <a:ext uri="{FF2B5EF4-FFF2-40B4-BE49-F238E27FC236}">
                <a16:creationId xmlns:a16="http://schemas.microsoft.com/office/drawing/2014/main" id="{838960C9-B8F7-859F-806A-3771904C95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44510" y="1054292"/>
            <a:ext cx="132588" cy="132588"/>
          </a:xfrm>
          <a:prstGeom prst="rect">
            <a:avLst/>
          </a:prstGeom>
        </p:spPr>
      </p:pic>
      <p:sp>
        <p:nvSpPr>
          <p:cNvPr id="26" name="Text 22">
            <a:extLst>
              <a:ext uri="{FF2B5EF4-FFF2-40B4-BE49-F238E27FC236}">
                <a16:creationId xmlns:a16="http://schemas.microsoft.com/office/drawing/2014/main" id="{7D07631F-3264-2103-24FD-353B5240296A}"/>
              </a:ext>
            </a:extLst>
          </p:cNvPr>
          <p:cNvSpPr/>
          <p:nvPr/>
        </p:nvSpPr>
        <p:spPr>
          <a:xfrm>
            <a:off x="5285335" y="995809"/>
            <a:ext cx="1534954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BC9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Mixed Effects with Difficulty Features</a:t>
            </a:r>
            <a:endParaRPr lang="en-US" sz="960" dirty="0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D5ED110A-0D21-5736-6375-0242299D46F7}"/>
              </a:ext>
            </a:extLst>
          </p:cNvPr>
          <p:cNvSpPr/>
          <p:nvPr/>
        </p:nvSpPr>
        <p:spPr>
          <a:xfrm>
            <a:off x="4725974" y="5496148"/>
            <a:ext cx="2183904" cy="411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models heavily depend on difficulty-weighted features for strong classification.</a:t>
            </a:r>
            <a:endParaRPr lang="en-US" sz="730" dirty="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571F90CC-0C51-1070-6898-1D656323DC46}"/>
              </a:ext>
            </a:extLst>
          </p:cNvPr>
          <p:cNvSpPr/>
          <p:nvPr/>
        </p:nvSpPr>
        <p:spPr>
          <a:xfrm>
            <a:off x="4725974" y="5496148"/>
            <a:ext cx="2183904" cy="9525"/>
          </a:xfrm>
          <a:prstGeom prst="rect">
            <a:avLst/>
          </a:prstGeom>
          <a:solidFill>
            <a:srgbClr val="A8C4A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3" descr="preencoded.png">
            <a:extLst>
              <a:ext uri="{FF2B5EF4-FFF2-40B4-BE49-F238E27FC236}">
                <a16:creationId xmlns:a16="http://schemas.microsoft.com/office/drawing/2014/main" id="{0FBBD915-FB1E-B0C0-83C7-B207265363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4024" y="3667887"/>
            <a:ext cx="191757" cy="191757"/>
          </a:xfrm>
          <a:prstGeom prst="rect">
            <a:avLst/>
          </a:prstGeom>
        </p:spPr>
      </p:pic>
      <p:sp>
        <p:nvSpPr>
          <p:cNvPr id="42" name="Text 13">
            <a:extLst>
              <a:ext uri="{FF2B5EF4-FFF2-40B4-BE49-F238E27FC236}">
                <a16:creationId xmlns:a16="http://schemas.microsoft.com/office/drawing/2014/main" id="{7F545243-BF16-51D4-F1A7-D6A0DA8CD40B}"/>
              </a:ext>
            </a:extLst>
          </p:cNvPr>
          <p:cNvSpPr/>
          <p:nvPr/>
        </p:nvSpPr>
        <p:spPr>
          <a:xfrm>
            <a:off x="2882016" y="1722176"/>
            <a:ext cx="979347" cy="212988"/>
          </a:xfrm>
          <a:prstGeom prst="roundRect">
            <a:avLst>
              <a:gd name="adj" fmla="val 50000"/>
            </a:avLst>
          </a:prstGeom>
          <a:solidFill>
            <a:srgbClr val="BC9000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D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Acc: +0.047</a:t>
            </a:r>
            <a:endParaRPr lang="en-US" sz="790" dirty="0"/>
          </a:p>
        </p:txBody>
      </p:sp>
      <p:sp>
        <p:nvSpPr>
          <p:cNvPr id="43" name="Text 13">
            <a:extLst>
              <a:ext uri="{FF2B5EF4-FFF2-40B4-BE49-F238E27FC236}">
                <a16:creationId xmlns:a16="http://schemas.microsoft.com/office/drawing/2014/main" id="{018A887E-D99C-F6DB-97DD-8AF7F5AC9050}"/>
              </a:ext>
            </a:extLst>
          </p:cNvPr>
          <p:cNvSpPr/>
          <p:nvPr/>
        </p:nvSpPr>
        <p:spPr>
          <a:xfrm>
            <a:off x="2882017" y="1950506"/>
            <a:ext cx="979346" cy="212988"/>
          </a:xfrm>
          <a:prstGeom prst="roundRect">
            <a:avLst>
              <a:gd name="adj" fmla="val 50000"/>
            </a:avLst>
          </a:prstGeom>
          <a:solidFill>
            <a:srgbClr val="BC9000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D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 +0.164</a:t>
            </a:r>
            <a:endParaRPr lang="en-US" sz="790" dirty="0"/>
          </a:p>
        </p:txBody>
      </p:sp>
      <p:sp>
        <p:nvSpPr>
          <p:cNvPr id="44" name="Text 10">
            <a:extLst>
              <a:ext uri="{FF2B5EF4-FFF2-40B4-BE49-F238E27FC236}">
                <a16:creationId xmlns:a16="http://schemas.microsoft.com/office/drawing/2014/main" id="{209578F6-3A05-774B-946C-903474831FB5}"/>
              </a:ext>
            </a:extLst>
          </p:cNvPr>
          <p:cNvSpPr/>
          <p:nvPr/>
        </p:nvSpPr>
        <p:spPr>
          <a:xfrm>
            <a:off x="1760562" y="2273572"/>
            <a:ext cx="2183755" cy="788044"/>
          </a:xfrm>
          <a:prstGeom prst="roundRect">
            <a:avLst>
              <a:gd name="adj" fmla="val 15637"/>
            </a:avLst>
          </a:prstGeom>
          <a:solidFill>
            <a:srgbClr val="BC9000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11">
            <a:extLst>
              <a:ext uri="{FF2B5EF4-FFF2-40B4-BE49-F238E27FC236}">
                <a16:creationId xmlns:a16="http://schemas.microsoft.com/office/drawing/2014/main" id="{1F29049C-6454-CC09-EEFA-AB1ECD54CE96}"/>
              </a:ext>
            </a:extLst>
          </p:cNvPr>
          <p:cNvSpPr/>
          <p:nvPr/>
        </p:nvSpPr>
        <p:spPr>
          <a:xfrm>
            <a:off x="1846510" y="2359676"/>
            <a:ext cx="117151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840" dirty="0"/>
          </a:p>
        </p:txBody>
      </p:sp>
      <p:sp>
        <p:nvSpPr>
          <p:cNvPr id="46" name="Text 12">
            <a:extLst>
              <a:ext uri="{FF2B5EF4-FFF2-40B4-BE49-F238E27FC236}">
                <a16:creationId xmlns:a16="http://schemas.microsoft.com/office/drawing/2014/main" id="{2CAAE903-6AD4-F165-BF47-34EBDFE3AD20}"/>
              </a:ext>
            </a:extLst>
          </p:cNvPr>
          <p:cNvSpPr/>
          <p:nvPr/>
        </p:nvSpPr>
        <p:spPr>
          <a:xfrm>
            <a:off x="1846510" y="2550393"/>
            <a:ext cx="117151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spcBef>
                <a:spcPts val="110"/>
              </a:spcBef>
              <a:buNone/>
            </a:pPr>
            <a:r>
              <a:rPr lang="en-US" sz="73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on most metrics</a:t>
            </a:r>
            <a:endParaRPr lang="en-US" sz="730" dirty="0"/>
          </a:p>
        </p:txBody>
      </p:sp>
      <p:sp>
        <p:nvSpPr>
          <p:cNvPr id="47" name="Text 13">
            <a:extLst>
              <a:ext uri="{FF2B5EF4-FFF2-40B4-BE49-F238E27FC236}">
                <a16:creationId xmlns:a16="http://schemas.microsoft.com/office/drawing/2014/main" id="{52020BE8-ED0B-C011-3313-AB50ECC5B927}"/>
              </a:ext>
            </a:extLst>
          </p:cNvPr>
          <p:cNvSpPr/>
          <p:nvPr/>
        </p:nvSpPr>
        <p:spPr>
          <a:xfrm>
            <a:off x="2888338" y="2324779"/>
            <a:ext cx="979348" cy="212988"/>
          </a:xfrm>
          <a:prstGeom prst="roundRect">
            <a:avLst>
              <a:gd name="adj" fmla="val 50000"/>
            </a:avLst>
          </a:prstGeom>
          <a:solidFill>
            <a:srgbClr val="BC9000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D4A800"/>
                </a:solidFill>
                <a:latin typeface="Calibri" pitchFamily="34" charset="0"/>
                <a:cs typeface="Calibri" pitchFamily="34" charset="-120"/>
              </a:rPr>
              <a:t>Test Acc: +0.143</a:t>
            </a:r>
            <a:endParaRPr lang="en-US" sz="790" dirty="0"/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EB8D61EB-92D6-383F-151C-B5D0834DA6B3}"/>
              </a:ext>
            </a:extLst>
          </p:cNvPr>
          <p:cNvSpPr/>
          <p:nvPr/>
        </p:nvSpPr>
        <p:spPr>
          <a:xfrm>
            <a:off x="2888338" y="2556451"/>
            <a:ext cx="979347" cy="212988"/>
          </a:xfrm>
          <a:prstGeom prst="roundRect">
            <a:avLst>
              <a:gd name="adj" fmla="val 50000"/>
            </a:avLst>
          </a:prstGeom>
          <a:solidFill>
            <a:srgbClr val="BC9000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D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Acc: 0.000</a:t>
            </a:r>
            <a:endParaRPr lang="en-US" sz="790" dirty="0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2C8C6380-C4ED-EB62-B527-0DEE348BD8FA}"/>
              </a:ext>
            </a:extLst>
          </p:cNvPr>
          <p:cNvSpPr/>
          <p:nvPr/>
        </p:nvSpPr>
        <p:spPr>
          <a:xfrm>
            <a:off x="2888339" y="2784781"/>
            <a:ext cx="979346" cy="212988"/>
          </a:xfrm>
          <a:prstGeom prst="roundRect">
            <a:avLst>
              <a:gd name="adj" fmla="val 50000"/>
            </a:avLst>
          </a:prstGeom>
          <a:solidFill>
            <a:srgbClr val="BC9000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D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 +0.146</a:t>
            </a:r>
            <a:endParaRPr lang="en-US" sz="790" dirty="0"/>
          </a:p>
        </p:txBody>
      </p:sp>
      <p:sp>
        <p:nvSpPr>
          <p:cNvPr id="101" name="Text 10">
            <a:extLst>
              <a:ext uri="{FF2B5EF4-FFF2-40B4-BE49-F238E27FC236}">
                <a16:creationId xmlns:a16="http://schemas.microsoft.com/office/drawing/2014/main" id="{33F94ABD-CFB8-E21D-0592-8AA69C3EF1A2}"/>
              </a:ext>
            </a:extLst>
          </p:cNvPr>
          <p:cNvSpPr/>
          <p:nvPr/>
        </p:nvSpPr>
        <p:spPr>
          <a:xfrm>
            <a:off x="4997663" y="1418399"/>
            <a:ext cx="2183755" cy="788044"/>
          </a:xfrm>
          <a:prstGeom prst="roundRect">
            <a:avLst>
              <a:gd name="adj" fmla="val 15637"/>
            </a:avLst>
          </a:prstGeom>
          <a:solidFill>
            <a:srgbClr val="BC9000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2" name="Text 11">
            <a:extLst>
              <a:ext uri="{FF2B5EF4-FFF2-40B4-BE49-F238E27FC236}">
                <a16:creationId xmlns:a16="http://schemas.microsoft.com/office/drawing/2014/main" id="{33E628C4-0E36-A614-4558-27C76AA2EC6D}"/>
              </a:ext>
            </a:extLst>
          </p:cNvPr>
          <p:cNvSpPr/>
          <p:nvPr/>
        </p:nvSpPr>
        <p:spPr>
          <a:xfrm>
            <a:off x="5052022" y="1472849"/>
            <a:ext cx="117151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840" dirty="0"/>
          </a:p>
        </p:txBody>
      </p:sp>
      <p:sp>
        <p:nvSpPr>
          <p:cNvPr id="103" name="Text 12">
            <a:extLst>
              <a:ext uri="{FF2B5EF4-FFF2-40B4-BE49-F238E27FC236}">
                <a16:creationId xmlns:a16="http://schemas.microsoft.com/office/drawing/2014/main" id="{7C7AE6B2-1541-38D7-855E-49C1877D1BFF}"/>
              </a:ext>
            </a:extLst>
          </p:cNvPr>
          <p:cNvSpPr/>
          <p:nvPr/>
        </p:nvSpPr>
        <p:spPr>
          <a:xfrm>
            <a:off x="5052022" y="1663566"/>
            <a:ext cx="117151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spcBef>
                <a:spcPts val="110"/>
              </a:spcBef>
              <a:buNone/>
            </a:pPr>
            <a:r>
              <a:rPr lang="en-US" sz="73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improvements</a:t>
            </a:r>
            <a:endParaRPr lang="en-US" sz="730" dirty="0"/>
          </a:p>
        </p:txBody>
      </p:sp>
      <p:sp>
        <p:nvSpPr>
          <p:cNvPr id="104" name="Text 13">
            <a:extLst>
              <a:ext uri="{FF2B5EF4-FFF2-40B4-BE49-F238E27FC236}">
                <a16:creationId xmlns:a16="http://schemas.microsoft.com/office/drawing/2014/main" id="{2BF24579-C8D4-A543-5416-CE4BB2C91F27}"/>
              </a:ext>
            </a:extLst>
          </p:cNvPr>
          <p:cNvSpPr/>
          <p:nvPr/>
        </p:nvSpPr>
        <p:spPr>
          <a:xfrm>
            <a:off x="6093850" y="1437952"/>
            <a:ext cx="979348" cy="212988"/>
          </a:xfrm>
          <a:prstGeom prst="roundRect">
            <a:avLst>
              <a:gd name="adj" fmla="val 50000"/>
            </a:avLst>
          </a:prstGeom>
          <a:solidFill>
            <a:srgbClr val="BC9000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D4A800"/>
                </a:solidFill>
                <a:latin typeface="Calibri" pitchFamily="34" charset="0"/>
                <a:cs typeface="Calibri" pitchFamily="34" charset="-120"/>
              </a:rPr>
              <a:t>Test Acc: -0.048</a:t>
            </a:r>
            <a:endParaRPr lang="en-US" sz="790" dirty="0"/>
          </a:p>
        </p:txBody>
      </p:sp>
      <p:sp>
        <p:nvSpPr>
          <p:cNvPr id="105" name="Text 13">
            <a:extLst>
              <a:ext uri="{FF2B5EF4-FFF2-40B4-BE49-F238E27FC236}">
                <a16:creationId xmlns:a16="http://schemas.microsoft.com/office/drawing/2014/main" id="{8DFF886F-72E1-10B7-800B-7E0D786DCC9F}"/>
              </a:ext>
            </a:extLst>
          </p:cNvPr>
          <p:cNvSpPr/>
          <p:nvPr/>
        </p:nvSpPr>
        <p:spPr>
          <a:xfrm>
            <a:off x="6093850" y="1669624"/>
            <a:ext cx="979347" cy="212988"/>
          </a:xfrm>
          <a:prstGeom prst="roundRect">
            <a:avLst>
              <a:gd name="adj" fmla="val 50000"/>
            </a:avLst>
          </a:prstGeom>
          <a:solidFill>
            <a:srgbClr val="BC9000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D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Acc: +0.085</a:t>
            </a:r>
            <a:endParaRPr lang="en-US" sz="790" dirty="0"/>
          </a:p>
        </p:txBody>
      </p:sp>
      <p:sp>
        <p:nvSpPr>
          <p:cNvPr id="106" name="Text 13">
            <a:extLst>
              <a:ext uri="{FF2B5EF4-FFF2-40B4-BE49-F238E27FC236}">
                <a16:creationId xmlns:a16="http://schemas.microsoft.com/office/drawing/2014/main" id="{D1ECDF00-8615-E352-1CE8-C6B4B3C19111}"/>
              </a:ext>
            </a:extLst>
          </p:cNvPr>
          <p:cNvSpPr/>
          <p:nvPr/>
        </p:nvSpPr>
        <p:spPr>
          <a:xfrm>
            <a:off x="6093851" y="1897954"/>
            <a:ext cx="979346" cy="212988"/>
          </a:xfrm>
          <a:prstGeom prst="roundRect">
            <a:avLst>
              <a:gd name="adj" fmla="val 50000"/>
            </a:avLst>
          </a:prstGeom>
          <a:solidFill>
            <a:srgbClr val="BC9000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D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 +0.018</a:t>
            </a:r>
            <a:endParaRPr lang="en-US" sz="790" dirty="0"/>
          </a:p>
        </p:txBody>
      </p:sp>
      <p:sp>
        <p:nvSpPr>
          <p:cNvPr id="107" name="Text 10">
            <a:extLst>
              <a:ext uri="{FF2B5EF4-FFF2-40B4-BE49-F238E27FC236}">
                <a16:creationId xmlns:a16="http://schemas.microsoft.com/office/drawing/2014/main" id="{07E46A3D-4ED8-FAB6-3428-65420DB42F65}"/>
              </a:ext>
            </a:extLst>
          </p:cNvPr>
          <p:cNvSpPr/>
          <p:nvPr/>
        </p:nvSpPr>
        <p:spPr>
          <a:xfrm>
            <a:off x="4997663" y="2267231"/>
            <a:ext cx="2183755" cy="788044"/>
          </a:xfrm>
          <a:prstGeom prst="roundRect">
            <a:avLst>
              <a:gd name="adj" fmla="val 15637"/>
            </a:avLst>
          </a:prstGeom>
          <a:solidFill>
            <a:srgbClr val="BC9000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8" name="Text 11">
            <a:extLst>
              <a:ext uri="{FF2B5EF4-FFF2-40B4-BE49-F238E27FC236}">
                <a16:creationId xmlns:a16="http://schemas.microsoft.com/office/drawing/2014/main" id="{E8223624-9A67-D58F-DF3A-599D69BC470C}"/>
              </a:ext>
            </a:extLst>
          </p:cNvPr>
          <p:cNvSpPr/>
          <p:nvPr/>
        </p:nvSpPr>
        <p:spPr>
          <a:xfrm>
            <a:off x="5083612" y="2346881"/>
            <a:ext cx="117151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840" dirty="0"/>
          </a:p>
        </p:txBody>
      </p:sp>
      <p:sp>
        <p:nvSpPr>
          <p:cNvPr id="109" name="Text 12">
            <a:extLst>
              <a:ext uri="{FF2B5EF4-FFF2-40B4-BE49-F238E27FC236}">
                <a16:creationId xmlns:a16="http://schemas.microsoft.com/office/drawing/2014/main" id="{7A3555C4-4318-06E2-3E05-85051CAAAF46}"/>
              </a:ext>
            </a:extLst>
          </p:cNvPr>
          <p:cNvSpPr/>
          <p:nvPr/>
        </p:nvSpPr>
        <p:spPr>
          <a:xfrm>
            <a:off x="5083612" y="2537598"/>
            <a:ext cx="117151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spcBef>
                <a:spcPts val="110"/>
              </a:spcBef>
              <a:buNone/>
            </a:pPr>
            <a:r>
              <a:rPr lang="en-US" sz="73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effects</a:t>
            </a:r>
            <a:endParaRPr lang="en-US" sz="730" dirty="0"/>
          </a:p>
        </p:txBody>
      </p:sp>
      <p:sp>
        <p:nvSpPr>
          <p:cNvPr id="110" name="Text 13">
            <a:extLst>
              <a:ext uri="{FF2B5EF4-FFF2-40B4-BE49-F238E27FC236}">
                <a16:creationId xmlns:a16="http://schemas.microsoft.com/office/drawing/2014/main" id="{65F809E3-AC46-34A4-03F3-87A41A0E6173}"/>
              </a:ext>
            </a:extLst>
          </p:cNvPr>
          <p:cNvSpPr/>
          <p:nvPr/>
        </p:nvSpPr>
        <p:spPr>
          <a:xfrm>
            <a:off x="6125440" y="2311984"/>
            <a:ext cx="979348" cy="212988"/>
          </a:xfrm>
          <a:prstGeom prst="roundRect">
            <a:avLst>
              <a:gd name="adj" fmla="val 50000"/>
            </a:avLst>
          </a:prstGeom>
          <a:solidFill>
            <a:srgbClr val="BC9000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D4A800"/>
                </a:solidFill>
                <a:latin typeface="Calibri" pitchFamily="34" charset="0"/>
                <a:cs typeface="Calibri" pitchFamily="34" charset="-120"/>
              </a:rPr>
              <a:t>Test Acc: 0.000</a:t>
            </a:r>
            <a:endParaRPr lang="en-US" sz="790" dirty="0"/>
          </a:p>
        </p:txBody>
      </p:sp>
      <p:sp>
        <p:nvSpPr>
          <p:cNvPr id="111" name="Text 13">
            <a:extLst>
              <a:ext uri="{FF2B5EF4-FFF2-40B4-BE49-F238E27FC236}">
                <a16:creationId xmlns:a16="http://schemas.microsoft.com/office/drawing/2014/main" id="{FB5B36F1-ABF9-1513-947F-59EBE4A09F98}"/>
              </a:ext>
            </a:extLst>
          </p:cNvPr>
          <p:cNvSpPr/>
          <p:nvPr/>
        </p:nvSpPr>
        <p:spPr>
          <a:xfrm>
            <a:off x="6125440" y="2543656"/>
            <a:ext cx="979347" cy="212988"/>
          </a:xfrm>
          <a:prstGeom prst="roundRect">
            <a:avLst>
              <a:gd name="adj" fmla="val 50000"/>
            </a:avLst>
          </a:prstGeom>
          <a:solidFill>
            <a:srgbClr val="BC9000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D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Acc: -0.067</a:t>
            </a:r>
            <a:endParaRPr lang="en-US" sz="790" dirty="0"/>
          </a:p>
        </p:txBody>
      </p:sp>
      <p:sp>
        <p:nvSpPr>
          <p:cNvPr id="112" name="Text 13">
            <a:extLst>
              <a:ext uri="{FF2B5EF4-FFF2-40B4-BE49-F238E27FC236}">
                <a16:creationId xmlns:a16="http://schemas.microsoft.com/office/drawing/2014/main" id="{F103CC14-2EF7-2F13-5886-7433D1E7E142}"/>
              </a:ext>
            </a:extLst>
          </p:cNvPr>
          <p:cNvSpPr/>
          <p:nvPr/>
        </p:nvSpPr>
        <p:spPr>
          <a:xfrm>
            <a:off x="6123743" y="2783163"/>
            <a:ext cx="979346" cy="212988"/>
          </a:xfrm>
          <a:prstGeom prst="roundRect">
            <a:avLst>
              <a:gd name="adj" fmla="val 50000"/>
            </a:avLst>
          </a:prstGeom>
          <a:solidFill>
            <a:srgbClr val="BC9000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D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AUC: +0.018</a:t>
            </a:r>
            <a:endParaRPr lang="en-US" sz="790" dirty="0"/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5440AD2F-8C7C-2C17-CE93-B2E54282D162}"/>
              </a:ext>
            </a:extLst>
          </p:cNvPr>
          <p:cNvSpPr txBox="1"/>
          <p:nvPr/>
        </p:nvSpPr>
        <p:spPr>
          <a:xfrm>
            <a:off x="1923025" y="3625696"/>
            <a:ext cx="6185194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8AA88D"/>
                </a:solidFill>
              </a:rPr>
              <a:t>Behavioral features alone are strong predictors.</a:t>
            </a:r>
            <a:br>
              <a:rPr lang="en-US" sz="900" dirty="0">
                <a:solidFill>
                  <a:srgbClr val="8AA88D"/>
                </a:solidFill>
              </a:rPr>
            </a:br>
            <a:endParaRPr lang="en-US" sz="900" dirty="0">
              <a:solidFill>
                <a:srgbClr val="8AA88D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8AA88D"/>
                </a:solidFill>
              </a:rPr>
              <a:t>Linear and kernel models improve when difficulty features are removed, while tree-based models show mixed dependence. </a:t>
            </a:r>
            <a:br>
              <a:rPr lang="en-US" sz="900" dirty="0">
                <a:solidFill>
                  <a:srgbClr val="8AA88D"/>
                </a:solidFill>
              </a:rPr>
            </a:br>
            <a:endParaRPr lang="en-US" sz="900" dirty="0">
              <a:solidFill>
                <a:srgbClr val="8AA88D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900" dirty="0">
                <a:solidFill>
                  <a:srgbClr val="8AA88D"/>
                </a:solidFill>
              </a:rPr>
              <a:t>Difficulty features add instability, especially for tree-based models.</a:t>
            </a:r>
          </a:p>
        </p:txBody>
      </p:sp>
    </p:spTree>
    <p:extLst>
      <p:ext uri="{BB962C8B-B14F-4D97-AF65-F5344CB8AC3E}">
        <p14:creationId xmlns:p14="http://schemas.microsoft.com/office/powerpoint/2010/main" val="31706164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2B52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2FCCD0-BB1B-1B1F-A5F0-F3C1EF875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51DA7DE-E9A0-953B-BF48-A06A8011EF05}"/>
              </a:ext>
            </a:extLst>
          </p:cNvPr>
          <p:cNvSpPr/>
          <p:nvPr/>
        </p:nvSpPr>
        <p:spPr>
          <a:xfrm>
            <a:off x="7000280" y="0"/>
            <a:ext cx="2143720" cy="1857970"/>
          </a:xfrm>
          <a:prstGeom prst="ellipse">
            <a:avLst/>
          </a:prstGeom>
          <a:solidFill>
            <a:srgbClr val="BC9000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F447ED6-EE42-7364-2CAD-48180F1BA135}"/>
              </a:ext>
            </a:extLst>
          </p:cNvPr>
          <p:cNvSpPr/>
          <p:nvPr/>
        </p:nvSpPr>
        <p:spPr>
          <a:xfrm>
            <a:off x="0" y="3714750"/>
            <a:ext cx="1571030" cy="1428750"/>
          </a:xfrm>
          <a:prstGeom prst="ellipse">
            <a:avLst/>
          </a:prstGeom>
          <a:solidFill>
            <a:srgbClr val="BC9000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020487C-EA7E-88F5-656C-ACD9597592D1}"/>
              </a:ext>
            </a:extLst>
          </p:cNvPr>
          <p:cNvSpPr/>
          <p:nvPr/>
        </p:nvSpPr>
        <p:spPr>
          <a:xfrm>
            <a:off x="438745" y="1112937"/>
            <a:ext cx="2584999" cy="29170"/>
          </a:xfrm>
          <a:custGeom>
            <a:avLst/>
            <a:gdLst/>
            <a:ahLst/>
            <a:cxnLst/>
            <a:rect l="l" t="t" r="r" b="b"/>
            <a:pathLst>
              <a:path w="2584999" h="29170">
                <a:moveTo>
                  <a:pt x="114300" y="0"/>
                </a:moveTo>
                <a:lnTo>
                  <a:pt x="2470699" y="0"/>
                </a:lnTo>
                <a:lnTo>
                  <a:pt x="2499339" y="3646"/>
                </a:lnTo>
                <a:lnTo>
                  <a:pt x="2510873" y="7293"/>
                </a:lnTo>
                <a:lnTo>
                  <a:pt x="2519494" y="10939"/>
                </a:lnTo>
                <a:lnTo>
                  <a:pt x="2526569" y="14585"/>
                </a:lnTo>
                <a:lnTo>
                  <a:pt x="2532629" y="18231"/>
                </a:lnTo>
                <a:lnTo>
                  <a:pt x="2537950" y="21878"/>
                </a:lnTo>
                <a:lnTo>
                  <a:pt x="2542695" y="25524"/>
                </a:lnTo>
                <a:lnTo>
                  <a:pt x="2546971" y="29170"/>
                </a:lnTo>
                <a:lnTo>
                  <a:pt x="38028" y="29170"/>
                </a:lnTo>
                <a:lnTo>
                  <a:pt x="42305" y="25524"/>
                </a:lnTo>
                <a:lnTo>
                  <a:pt x="47050" y="21878"/>
                </a:lnTo>
                <a:lnTo>
                  <a:pt x="52370" y="18231"/>
                </a:lnTo>
                <a:lnTo>
                  <a:pt x="58430" y="14585"/>
                </a:lnTo>
                <a:lnTo>
                  <a:pt x="65505" y="10939"/>
                </a:lnTo>
                <a:lnTo>
                  <a:pt x="74127" y="7293"/>
                </a:lnTo>
                <a:lnTo>
                  <a:pt x="85660" y="3646"/>
                </a:lnTo>
                <a:close/>
              </a:path>
            </a:pathLst>
          </a:custGeom>
          <a:gradFill rotWithShape="1">
            <a:gsLst>
              <a:gs pos="0">
                <a:srgbClr val="BC9000"/>
              </a:gs>
              <a:gs pos="100000">
                <a:srgbClr val="D4A80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E54BB67-0423-FA2C-292E-848CBE10AECA}"/>
              </a:ext>
            </a:extLst>
          </p:cNvPr>
          <p:cNvSpPr/>
          <p:nvPr/>
        </p:nvSpPr>
        <p:spPr>
          <a:xfrm>
            <a:off x="3214241" y="1112937"/>
            <a:ext cx="2585142" cy="29170"/>
          </a:xfrm>
          <a:custGeom>
            <a:avLst/>
            <a:gdLst/>
            <a:ahLst/>
            <a:cxnLst/>
            <a:rect l="l" t="t" r="r" b="b"/>
            <a:pathLst>
              <a:path w="2585142" h="29170">
                <a:moveTo>
                  <a:pt x="114300" y="0"/>
                </a:moveTo>
                <a:lnTo>
                  <a:pt x="2470842" y="0"/>
                </a:lnTo>
                <a:lnTo>
                  <a:pt x="2499482" y="3646"/>
                </a:lnTo>
                <a:lnTo>
                  <a:pt x="2511016" y="7293"/>
                </a:lnTo>
                <a:lnTo>
                  <a:pt x="2519637" y="10939"/>
                </a:lnTo>
                <a:lnTo>
                  <a:pt x="2526712" y="14585"/>
                </a:lnTo>
                <a:lnTo>
                  <a:pt x="2532772" y="18231"/>
                </a:lnTo>
                <a:lnTo>
                  <a:pt x="2538093" y="21878"/>
                </a:lnTo>
                <a:lnTo>
                  <a:pt x="2542837" y="25524"/>
                </a:lnTo>
                <a:lnTo>
                  <a:pt x="2547114" y="29170"/>
                </a:lnTo>
                <a:lnTo>
                  <a:pt x="38028" y="29170"/>
                </a:lnTo>
                <a:lnTo>
                  <a:pt x="42305" y="25524"/>
                </a:lnTo>
                <a:lnTo>
                  <a:pt x="47050" y="21878"/>
                </a:lnTo>
                <a:lnTo>
                  <a:pt x="52370" y="18231"/>
                </a:lnTo>
                <a:lnTo>
                  <a:pt x="58430" y="14585"/>
                </a:lnTo>
                <a:lnTo>
                  <a:pt x="65505" y="10939"/>
                </a:lnTo>
                <a:lnTo>
                  <a:pt x="74127" y="7293"/>
                </a:lnTo>
                <a:lnTo>
                  <a:pt x="85660" y="3646"/>
                </a:lnTo>
                <a:close/>
              </a:path>
            </a:pathLst>
          </a:custGeom>
          <a:gradFill rotWithShape="1">
            <a:gsLst>
              <a:gs pos="0">
                <a:srgbClr val="BC9000"/>
              </a:gs>
              <a:gs pos="100000">
                <a:srgbClr val="D4A80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92F37456-76DC-6EB1-CAAF-DCDEA139726D}"/>
              </a:ext>
            </a:extLst>
          </p:cNvPr>
          <p:cNvSpPr/>
          <p:nvPr/>
        </p:nvSpPr>
        <p:spPr>
          <a:xfrm>
            <a:off x="429220" y="342900"/>
            <a:ext cx="911411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spcAft>
                <a:spcPts val="340"/>
              </a:spcAft>
              <a:buNone/>
            </a:pPr>
            <a:r>
              <a:rPr lang="en-US" sz="620" b="1" kern="0" spc="93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</a:t>
            </a:r>
            <a:endParaRPr lang="en-US" sz="62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D6D6E26-B048-8883-5E04-672A1A343C52}"/>
              </a:ext>
            </a:extLst>
          </p:cNvPr>
          <p:cNvSpPr/>
          <p:nvPr/>
        </p:nvSpPr>
        <p:spPr>
          <a:xfrm>
            <a:off x="429220" y="504081"/>
            <a:ext cx="8865549" cy="312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61"/>
              </a:lnSpc>
              <a:spcAft>
                <a:spcPts val="230"/>
              </a:spcAft>
              <a:buNone/>
            </a:pPr>
            <a:r>
              <a:rPr lang="en-US" sz="214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Behavioral Features vs. All Features</a:t>
            </a:r>
            <a:endParaRPr lang="en-US" sz="214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4D8A8C3-E404-540E-9D6A-EBA2CA4E1A1D}"/>
              </a:ext>
            </a:extLst>
          </p:cNvPr>
          <p:cNvSpPr/>
          <p:nvPr/>
        </p:nvSpPr>
        <p:spPr>
          <a:xfrm>
            <a:off x="429220" y="873621"/>
            <a:ext cx="429220" cy="291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BC9000"/>
              </a:gs>
              <a:gs pos="100000">
                <a:srgbClr val="BC900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F810D922-8987-D964-A00D-F74C3A7DE63D}"/>
              </a:ext>
            </a:extLst>
          </p:cNvPr>
          <p:cNvSpPr/>
          <p:nvPr/>
        </p:nvSpPr>
        <p:spPr>
          <a:xfrm>
            <a:off x="429220" y="1103412"/>
            <a:ext cx="2604046" cy="2450902"/>
          </a:xfrm>
          <a:prstGeom prst="roundRect">
            <a:avLst>
              <a:gd name="adj" fmla="val 4664"/>
            </a:avLst>
          </a:prstGeom>
          <a:solidFill>
            <a:srgbClr val="3D6B4A"/>
          </a:solidFill>
          <a:ln w="9525">
            <a:solidFill>
              <a:srgbClr val="BC9000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7B8620C-E408-4ECC-618A-0F9A4630D2C5}"/>
              </a:ext>
            </a:extLst>
          </p:cNvPr>
          <p:cNvSpPr/>
          <p:nvPr/>
        </p:nvSpPr>
        <p:spPr>
          <a:xfrm>
            <a:off x="639366" y="1367433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BC9000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0" descr="preencoded.png">
            <a:extLst>
              <a:ext uri="{FF2B5EF4-FFF2-40B4-BE49-F238E27FC236}">
                <a16:creationId xmlns:a16="http://schemas.microsoft.com/office/drawing/2014/main" id="{22CF030C-A334-30E4-E4C1-0614804C72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882" y="1429950"/>
            <a:ext cx="132588" cy="132588"/>
          </a:xfrm>
          <a:prstGeom prst="rect">
            <a:avLst/>
          </a:prstGeom>
        </p:spPr>
      </p:pic>
      <p:sp>
        <p:nvSpPr>
          <p:cNvPr id="12" name="Text 9">
            <a:extLst>
              <a:ext uri="{FF2B5EF4-FFF2-40B4-BE49-F238E27FC236}">
                <a16:creationId xmlns:a16="http://schemas.microsoft.com/office/drawing/2014/main" id="{6574ADF4-3287-411D-EA96-B7A0FFE69EA5}"/>
              </a:ext>
            </a:extLst>
          </p:cNvPr>
          <p:cNvSpPr/>
          <p:nvPr/>
        </p:nvSpPr>
        <p:spPr>
          <a:xfrm>
            <a:off x="968127" y="1313557"/>
            <a:ext cx="1892094" cy="383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BC9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Improve Without Difficulty Features</a:t>
            </a:r>
            <a:endParaRPr lang="en-US" sz="960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FB67DB1-5E71-53F0-FC7D-0E9AF45ED69F}"/>
              </a:ext>
            </a:extLst>
          </p:cNvPr>
          <p:cNvSpPr/>
          <p:nvPr/>
        </p:nvSpPr>
        <p:spPr>
          <a:xfrm>
            <a:off x="639366" y="1793379"/>
            <a:ext cx="2183755" cy="454819"/>
          </a:xfrm>
          <a:prstGeom prst="roundRect">
            <a:avLst>
              <a:gd name="adj" fmla="val 15637"/>
            </a:avLst>
          </a:prstGeom>
          <a:solidFill>
            <a:srgbClr val="BC9000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4730480B-F188-5ACB-4415-FBC4AFE3984B}"/>
              </a:ext>
            </a:extLst>
          </p:cNvPr>
          <p:cNvSpPr/>
          <p:nvPr/>
        </p:nvSpPr>
        <p:spPr>
          <a:xfrm>
            <a:off x="739676" y="1864370"/>
            <a:ext cx="117151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84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C7ED73A-04BA-9B50-A2FD-821D9766844B}"/>
              </a:ext>
            </a:extLst>
          </p:cNvPr>
          <p:cNvSpPr/>
          <p:nvPr/>
        </p:nvSpPr>
        <p:spPr>
          <a:xfrm>
            <a:off x="739676" y="2038201"/>
            <a:ext cx="117151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spcBef>
                <a:spcPts val="110"/>
              </a:spcBef>
              <a:buNone/>
            </a:pPr>
            <a:r>
              <a:rPr lang="en-US" sz="73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across all metrics</a:t>
            </a:r>
            <a:endParaRPr lang="en-US" sz="73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C7175EC-958E-9223-F048-5A0E6721179E}"/>
              </a:ext>
            </a:extLst>
          </p:cNvPr>
          <p:cNvSpPr/>
          <p:nvPr/>
        </p:nvSpPr>
        <p:spPr>
          <a:xfrm>
            <a:off x="1905000" y="1923901"/>
            <a:ext cx="817811" cy="212988"/>
          </a:xfrm>
          <a:prstGeom prst="roundRect">
            <a:avLst>
              <a:gd name="adj" fmla="val 26832"/>
            </a:avLst>
          </a:prstGeom>
          <a:solidFill>
            <a:srgbClr val="BC9000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D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+0.03 → +0.10</a:t>
            </a:r>
            <a:endParaRPr lang="en-US" sz="79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3A5AF1B8-3D0E-E7D9-CE14-C56BEF47E779}"/>
              </a:ext>
            </a:extLst>
          </p:cNvPr>
          <p:cNvSpPr/>
          <p:nvPr/>
        </p:nvSpPr>
        <p:spPr>
          <a:xfrm>
            <a:off x="639366" y="2305348"/>
            <a:ext cx="2183755" cy="454819"/>
          </a:xfrm>
          <a:prstGeom prst="roundRect">
            <a:avLst>
              <a:gd name="adj" fmla="val 15637"/>
            </a:avLst>
          </a:prstGeom>
          <a:solidFill>
            <a:srgbClr val="BC9000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ED9318C2-A2C9-AF2B-27B9-B29BD47140F7}"/>
              </a:ext>
            </a:extLst>
          </p:cNvPr>
          <p:cNvSpPr/>
          <p:nvPr/>
        </p:nvSpPr>
        <p:spPr>
          <a:xfrm>
            <a:off x="739676" y="2376339"/>
            <a:ext cx="117151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84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52E29A43-342E-4D5C-41FC-23C0596A4291}"/>
              </a:ext>
            </a:extLst>
          </p:cNvPr>
          <p:cNvSpPr/>
          <p:nvPr/>
        </p:nvSpPr>
        <p:spPr>
          <a:xfrm>
            <a:off x="739676" y="2550170"/>
            <a:ext cx="117151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spcBef>
                <a:spcPts val="110"/>
              </a:spcBef>
              <a:buNone/>
            </a:pPr>
            <a:r>
              <a:rPr lang="en-US" sz="73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across all metrics</a:t>
            </a:r>
            <a:endParaRPr lang="en-US" sz="73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D187A0D3-6835-A8E3-CF49-08812A5B2568}"/>
              </a:ext>
            </a:extLst>
          </p:cNvPr>
          <p:cNvSpPr/>
          <p:nvPr/>
        </p:nvSpPr>
        <p:spPr>
          <a:xfrm>
            <a:off x="1905000" y="2435870"/>
            <a:ext cx="817811" cy="212988"/>
          </a:xfrm>
          <a:prstGeom prst="roundRect">
            <a:avLst>
              <a:gd name="adj" fmla="val 26832"/>
            </a:avLst>
          </a:prstGeom>
          <a:solidFill>
            <a:srgbClr val="BC9000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D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+0.04 → +0.08</a:t>
            </a:r>
            <a:endParaRPr lang="en-US" sz="79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84F35317-73BD-A149-BE8B-808EE18281E2}"/>
              </a:ext>
            </a:extLst>
          </p:cNvPr>
          <p:cNvSpPr/>
          <p:nvPr/>
        </p:nvSpPr>
        <p:spPr>
          <a:xfrm>
            <a:off x="639366" y="2860477"/>
            <a:ext cx="2183755" cy="564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kernel models perform better with behavioral signals alone — difficulty features add noise.</a:t>
            </a:r>
            <a:endParaRPr lang="en-US" sz="73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7074F0CC-536D-DCB6-5078-A7622E455CF1}"/>
              </a:ext>
            </a:extLst>
          </p:cNvPr>
          <p:cNvSpPr/>
          <p:nvPr/>
        </p:nvSpPr>
        <p:spPr>
          <a:xfrm>
            <a:off x="639366" y="2860477"/>
            <a:ext cx="2183755" cy="9525"/>
          </a:xfrm>
          <a:prstGeom prst="rect">
            <a:avLst/>
          </a:prstGeom>
          <a:solidFill>
            <a:srgbClr val="A8C4A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5BFC3690-4D49-A8F4-1418-BBA407DA1698}"/>
              </a:ext>
            </a:extLst>
          </p:cNvPr>
          <p:cNvSpPr/>
          <p:nvPr/>
        </p:nvSpPr>
        <p:spPr>
          <a:xfrm>
            <a:off x="3204716" y="1103412"/>
            <a:ext cx="2604195" cy="2450902"/>
          </a:xfrm>
          <a:prstGeom prst="roundRect">
            <a:avLst>
              <a:gd name="adj" fmla="val 4664"/>
            </a:avLst>
          </a:prstGeom>
          <a:solidFill>
            <a:srgbClr val="3D6B4A"/>
          </a:solidFill>
          <a:ln w="9525">
            <a:solidFill>
              <a:srgbClr val="BC9000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B5EF5851-7B55-44FC-AC19-8CB6F8FDEB9E}"/>
              </a:ext>
            </a:extLst>
          </p:cNvPr>
          <p:cNvSpPr/>
          <p:nvPr/>
        </p:nvSpPr>
        <p:spPr>
          <a:xfrm>
            <a:off x="3414861" y="1313557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BC9000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1" descr="preencoded.png">
            <a:extLst>
              <a:ext uri="{FF2B5EF4-FFF2-40B4-BE49-F238E27FC236}">
                <a16:creationId xmlns:a16="http://schemas.microsoft.com/office/drawing/2014/main" id="{A3F6A3DA-5809-5FAE-32CF-8B7BC8216B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7378" y="1376074"/>
            <a:ext cx="132588" cy="132588"/>
          </a:xfrm>
          <a:prstGeom prst="rect">
            <a:avLst/>
          </a:prstGeom>
        </p:spPr>
      </p:pic>
      <p:sp>
        <p:nvSpPr>
          <p:cNvPr id="26" name="Text 22">
            <a:extLst>
              <a:ext uri="{FF2B5EF4-FFF2-40B4-BE49-F238E27FC236}">
                <a16:creationId xmlns:a16="http://schemas.microsoft.com/office/drawing/2014/main" id="{2B5536C9-0417-B5DC-E947-7CBCB03CF7D8}"/>
              </a:ext>
            </a:extLst>
          </p:cNvPr>
          <p:cNvSpPr/>
          <p:nvPr/>
        </p:nvSpPr>
        <p:spPr>
          <a:xfrm>
            <a:off x="3743623" y="1351062"/>
            <a:ext cx="1534954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BC9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Need Difficulty Features</a:t>
            </a:r>
            <a:endParaRPr lang="en-US" sz="960" dirty="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856FF113-7E8C-8D89-8C6B-36FB4F2B978C}"/>
              </a:ext>
            </a:extLst>
          </p:cNvPr>
          <p:cNvSpPr/>
          <p:nvPr/>
        </p:nvSpPr>
        <p:spPr>
          <a:xfrm>
            <a:off x="3414861" y="1685627"/>
            <a:ext cx="2183904" cy="454819"/>
          </a:xfrm>
          <a:prstGeom prst="roundRect">
            <a:avLst>
              <a:gd name="adj" fmla="val 15637"/>
            </a:avLst>
          </a:prstGeom>
          <a:solidFill>
            <a:srgbClr val="BC9000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0B113699-CA81-13F0-9E88-A61E1902BE95}"/>
              </a:ext>
            </a:extLst>
          </p:cNvPr>
          <p:cNvSpPr/>
          <p:nvPr/>
        </p:nvSpPr>
        <p:spPr>
          <a:xfrm>
            <a:off x="3515171" y="1756618"/>
            <a:ext cx="1171679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840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313F0E8F-D8BD-5CCD-CC5F-0A45D2AA0083}"/>
              </a:ext>
            </a:extLst>
          </p:cNvPr>
          <p:cNvSpPr/>
          <p:nvPr/>
        </p:nvSpPr>
        <p:spPr>
          <a:xfrm>
            <a:off x="3515171" y="1930450"/>
            <a:ext cx="117167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spcBef>
                <a:spcPts val="110"/>
              </a:spcBef>
              <a:buNone/>
            </a:pPr>
            <a:r>
              <a:rPr lang="en-US" sz="73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drops without</a:t>
            </a:r>
            <a:endParaRPr lang="en-US" sz="730" dirty="0"/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1A29E964-AE50-0C8A-4A3A-0DAED3F2C484}"/>
              </a:ext>
            </a:extLst>
          </p:cNvPr>
          <p:cNvSpPr/>
          <p:nvPr/>
        </p:nvSpPr>
        <p:spPr>
          <a:xfrm>
            <a:off x="4680645" y="1816150"/>
            <a:ext cx="817811" cy="212988"/>
          </a:xfrm>
          <a:prstGeom prst="roundRect">
            <a:avLst>
              <a:gd name="adj" fmla="val 26832"/>
            </a:avLst>
          </a:prstGeom>
          <a:solidFill>
            <a:srgbClr val="BC9000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D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−0.14 → −0.29</a:t>
            </a:r>
            <a:endParaRPr lang="en-US" sz="790" dirty="0"/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32AE8338-0947-FF37-58C8-3FB28052987B}"/>
              </a:ext>
            </a:extLst>
          </p:cNvPr>
          <p:cNvSpPr/>
          <p:nvPr/>
        </p:nvSpPr>
        <p:spPr>
          <a:xfrm>
            <a:off x="3414861" y="2197596"/>
            <a:ext cx="2183904" cy="454819"/>
          </a:xfrm>
          <a:prstGeom prst="roundRect">
            <a:avLst>
              <a:gd name="adj" fmla="val 15637"/>
            </a:avLst>
          </a:prstGeom>
          <a:solidFill>
            <a:srgbClr val="BC9000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0A830B6A-2E8A-454D-2548-67AF3FD08F3A}"/>
              </a:ext>
            </a:extLst>
          </p:cNvPr>
          <p:cNvSpPr/>
          <p:nvPr/>
        </p:nvSpPr>
        <p:spPr>
          <a:xfrm>
            <a:off x="3515171" y="2268587"/>
            <a:ext cx="1171679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840" dirty="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8BC9B675-3E0F-CA3F-24CE-95271D581F9A}"/>
              </a:ext>
            </a:extLst>
          </p:cNvPr>
          <p:cNvSpPr/>
          <p:nvPr/>
        </p:nvSpPr>
        <p:spPr>
          <a:xfrm>
            <a:off x="3515171" y="2442418"/>
            <a:ext cx="117167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spcBef>
                <a:spcPts val="110"/>
              </a:spcBef>
              <a:buNone/>
            </a:pPr>
            <a:r>
              <a:rPr lang="en-US" sz="73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drops without</a:t>
            </a:r>
            <a:endParaRPr lang="en-US" sz="730" dirty="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E7CED642-588B-54C3-5E87-0EFE3FE56B82}"/>
              </a:ext>
            </a:extLst>
          </p:cNvPr>
          <p:cNvSpPr/>
          <p:nvPr/>
        </p:nvSpPr>
        <p:spPr>
          <a:xfrm>
            <a:off x="4680645" y="2328118"/>
            <a:ext cx="817811" cy="212988"/>
          </a:xfrm>
          <a:prstGeom prst="roundRect">
            <a:avLst>
              <a:gd name="adj" fmla="val 26832"/>
            </a:avLst>
          </a:prstGeom>
          <a:solidFill>
            <a:srgbClr val="BC9000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D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−0.09 → −0.14</a:t>
            </a:r>
            <a:endParaRPr lang="en-US" sz="790" dirty="0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93DAF42D-C1B1-5541-D71D-332BBB10CB29}"/>
              </a:ext>
            </a:extLst>
          </p:cNvPr>
          <p:cNvSpPr/>
          <p:nvPr/>
        </p:nvSpPr>
        <p:spPr>
          <a:xfrm>
            <a:off x="3414861" y="2752725"/>
            <a:ext cx="2183904" cy="411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models heavily depend on difficulty-weighted features for strong classification.</a:t>
            </a:r>
            <a:endParaRPr lang="en-US" sz="730" dirty="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A94B9CBC-7D71-160D-249B-C4D018733799}"/>
              </a:ext>
            </a:extLst>
          </p:cNvPr>
          <p:cNvSpPr/>
          <p:nvPr/>
        </p:nvSpPr>
        <p:spPr>
          <a:xfrm>
            <a:off x="3414861" y="2752725"/>
            <a:ext cx="2183904" cy="9525"/>
          </a:xfrm>
          <a:prstGeom prst="rect">
            <a:avLst/>
          </a:prstGeom>
          <a:solidFill>
            <a:srgbClr val="A8C4A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B55DF860-A54F-19DC-D0A0-F8875CA001E9}"/>
              </a:ext>
            </a:extLst>
          </p:cNvPr>
          <p:cNvSpPr/>
          <p:nvPr/>
        </p:nvSpPr>
        <p:spPr>
          <a:xfrm>
            <a:off x="5980361" y="1103412"/>
            <a:ext cx="2734419" cy="2450902"/>
          </a:xfrm>
          <a:prstGeom prst="roundRect">
            <a:avLst>
              <a:gd name="adj" fmla="val 4094"/>
            </a:avLst>
          </a:prstGeom>
          <a:solidFill>
            <a:srgbClr val="3D6B4A"/>
          </a:solidFill>
          <a:ln w="9525">
            <a:solidFill>
              <a:srgbClr val="A8C4AF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2" descr="preencoded.png">
            <a:extLst>
              <a:ext uri="{FF2B5EF4-FFF2-40B4-BE49-F238E27FC236}">
                <a16:creationId xmlns:a16="http://schemas.microsoft.com/office/drawing/2014/main" id="{3DEE504F-2533-E7B0-3592-03B82252F3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6206" y="1199257"/>
            <a:ext cx="2542729" cy="2259211"/>
          </a:xfrm>
          <a:prstGeom prst="rect">
            <a:avLst/>
          </a:prstGeom>
        </p:spPr>
      </p:pic>
      <p:sp>
        <p:nvSpPr>
          <p:cNvPr id="39" name="Text 34">
            <a:extLst>
              <a:ext uri="{FF2B5EF4-FFF2-40B4-BE49-F238E27FC236}">
                <a16:creationId xmlns:a16="http://schemas.microsoft.com/office/drawing/2014/main" id="{8D5C3413-7C0C-E65A-7129-C48D0B2E0C01}"/>
              </a:ext>
            </a:extLst>
          </p:cNvPr>
          <p:cNvSpPr/>
          <p:nvPr/>
        </p:nvSpPr>
        <p:spPr>
          <a:xfrm>
            <a:off x="429220" y="3697784"/>
            <a:ext cx="8285559" cy="550962"/>
          </a:xfrm>
          <a:prstGeom prst="roundRect">
            <a:avLst>
              <a:gd name="adj" fmla="val 15674"/>
            </a:avLst>
          </a:prstGeom>
          <a:gradFill rotWithShape="1">
            <a:gsLst>
              <a:gs pos="0">
                <a:srgbClr val="BC9000">
                  <a:alpha val="8000"/>
                </a:srgbClr>
              </a:gs>
              <a:gs pos="100000">
                <a:srgbClr val="BC9000">
                  <a:alpha val="8000"/>
                </a:srgbClr>
              </a:gs>
            </a:gsLst>
            <a:lin ang="2700000" scaled="1"/>
          </a:gradFill>
          <a:ln w="9525">
            <a:solidFill>
              <a:srgbClr val="A8C4AF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3" descr="preencoded.png">
            <a:extLst>
              <a:ext uri="{FF2B5EF4-FFF2-40B4-BE49-F238E27FC236}">
                <a16:creationId xmlns:a16="http://schemas.microsoft.com/office/drawing/2014/main" id="{F6A16141-430E-2CA8-E7B1-9D3772C6C1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2082" y="3906896"/>
            <a:ext cx="132588" cy="132588"/>
          </a:xfrm>
          <a:prstGeom prst="rect">
            <a:avLst/>
          </a:prstGeom>
        </p:spPr>
      </p:pic>
      <p:sp>
        <p:nvSpPr>
          <p:cNvPr id="41" name="Text 35">
            <a:extLst>
              <a:ext uri="{FF2B5EF4-FFF2-40B4-BE49-F238E27FC236}">
                <a16:creationId xmlns:a16="http://schemas.microsoft.com/office/drawing/2014/main" id="{4EC312B6-1611-B050-3356-D51C69788CB5}"/>
              </a:ext>
            </a:extLst>
          </p:cNvPr>
          <p:cNvSpPr/>
          <p:nvPr/>
        </p:nvSpPr>
        <p:spPr>
          <a:xfrm>
            <a:off x="871686" y="3807619"/>
            <a:ext cx="7785607" cy="34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Tree-based models leverage difficulty features heavily, while linear/kernel models achieve comparable or better performance with behavioral signals alone.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37618521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2B52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4DFAB1-0CF7-3A25-F66D-49A1C2826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94A55CC-0B93-22A4-C035-E7378C9A9077}"/>
              </a:ext>
            </a:extLst>
          </p:cNvPr>
          <p:cNvSpPr/>
          <p:nvPr/>
        </p:nvSpPr>
        <p:spPr>
          <a:xfrm>
            <a:off x="6428780" y="0"/>
            <a:ext cx="2715220" cy="2143720"/>
          </a:xfrm>
          <a:prstGeom prst="ellipse">
            <a:avLst/>
          </a:prstGeom>
          <a:gradFill rotWithShape="1">
            <a:gsLst>
              <a:gs pos="0">
                <a:srgbClr val="BC9000">
                  <a:alpha val="8000"/>
                </a:srgbClr>
              </a:gs>
              <a:gs pos="70000">
                <a:srgbClr val="1A1A1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C8A8190D-9B8F-ED92-9818-1F9672CB6231}"/>
              </a:ext>
            </a:extLst>
          </p:cNvPr>
          <p:cNvSpPr/>
          <p:nvPr/>
        </p:nvSpPr>
        <p:spPr>
          <a:xfrm>
            <a:off x="0" y="3643610"/>
            <a:ext cx="1929110" cy="1499890"/>
          </a:xfrm>
          <a:prstGeom prst="ellipse">
            <a:avLst/>
          </a:prstGeom>
          <a:gradFill rotWithShape="1">
            <a:gsLst>
              <a:gs pos="0">
                <a:srgbClr val="BC9000">
                  <a:alpha val="5000"/>
                </a:srgbClr>
              </a:gs>
              <a:gs pos="70000">
                <a:srgbClr val="1A1A1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1F2086D-48D3-A4E8-8C28-435DED84FB1A}"/>
              </a:ext>
            </a:extLst>
          </p:cNvPr>
          <p:cNvSpPr/>
          <p:nvPr/>
        </p:nvSpPr>
        <p:spPr>
          <a:xfrm>
            <a:off x="400050" y="314920"/>
            <a:ext cx="9178290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620" b="1" kern="0" spc="93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INTERPRETABILITY</a:t>
            </a:r>
            <a:endParaRPr lang="en-US" sz="12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67F42DF-3A7F-C139-4327-64EC6BD17691}"/>
              </a:ext>
            </a:extLst>
          </p:cNvPr>
          <p:cNvSpPr/>
          <p:nvPr/>
        </p:nvSpPr>
        <p:spPr>
          <a:xfrm>
            <a:off x="400050" y="490091"/>
            <a:ext cx="8927973" cy="312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61"/>
              </a:lnSpc>
              <a:spcAft>
                <a:spcPts val="340"/>
              </a:spcAft>
              <a:buNone/>
            </a:pPr>
            <a:r>
              <a:rPr lang="en-US" sz="214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Drives Predictions?</a:t>
            </a:r>
            <a:endParaRPr lang="en-US" sz="214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B0591EE-BF99-BBC6-2AE5-C820CA865584}"/>
              </a:ext>
            </a:extLst>
          </p:cNvPr>
          <p:cNvSpPr/>
          <p:nvPr/>
        </p:nvSpPr>
        <p:spPr>
          <a:xfrm>
            <a:off x="400050" y="845641"/>
            <a:ext cx="429220" cy="291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BC9000"/>
              </a:gs>
              <a:gs pos="100000">
                <a:srgbClr val="A0780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A9AD55E6-201E-D2BE-1D70-CE75FD23DD38}"/>
              </a:ext>
            </a:extLst>
          </p:cNvPr>
          <p:cNvSpPr/>
          <p:nvPr/>
        </p:nvSpPr>
        <p:spPr>
          <a:xfrm>
            <a:off x="400050" y="1046262"/>
            <a:ext cx="4086225" cy="4097238"/>
          </a:xfrm>
          <a:prstGeom prst="roundRect">
            <a:avLst>
              <a:gd name="adj" fmla="val 2797"/>
            </a:avLst>
          </a:prstGeom>
          <a:solidFill>
            <a:srgbClr val="3D6B4A"/>
          </a:solidFill>
          <a:ln w="9525">
            <a:solidFill>
              <a:srgbClr val="A8C4AF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0FAE310-9D72-63B2-67E3-C859B8342536}"/>
              </a:ext>
            </a:extLst>
          </p:cNvPr>
          <p:cNvSpPr/>
          <p:nvPr/>
        </p:nvSpPr>
        <p:spPr>
          <a:xfrm>
            <a:off x="553045" y="1257746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BC9000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04AF0E97-4724-D67A-E194-C984F0D83D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5562" y="1320263"/>
            <a:ext cx="132588" cy="132588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0284200B-E72D-1459-7777-C4BC3C88AAE7}"/>
              </a:ext>
            </a:extLst>
          </p:cNvPr>
          <p:cNvSpPr/>
          <p:nvPr/>
        </p:nvSpPr>
        <p:spPr>
          <a:xfrm>
            <a:off x="881807" y="1199257"/>
            <a:ext cx="2041312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Random Forest Gini Importance</a:t>
            </a:r>
            <a:endParaRPr lang="en-US" sz="96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6AC1F8B-65C4-659F-237B-4042348E77A5}"/>
              </a:ext>
            </a:extLst>
          </p:cNvPr>
          <p:cNvSpPr/>
          <p:nvPr/>
        </p:nvSpPr>
        <p:spPr>
          <a:xfrm>
            <a:off x="881807" y="1431131"/>
            <a:ext cx="632415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Features</a:t>
            </a:r>
            <a:endParaRPr lang="en-US" sz="68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C3A95CD-173C-E2C4-ACAF-2764BFB8724E}"/>
              </a:ext>
            </a:extLst>
          </p:cNvPr>
          <p:cNvSpPr/>
          <p:nvPr/>
        </p:nvSpPr>
        <p:spPr>
          <a:xfrm>
            <a:off x="553045" y="2089547"/>
            <a:ext cx="3780234" cy="9525"/>
          </a:xfrm>
          <a:prstGeom prst="rect">
            <a:avLst/>
          </a:prstGeom>
          <a:solidFill>
            <a:srgbClr val="A8C4AF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85BFE330-F51E-9271-EA46-2D967370C935}"/>
              </a:ext>
            </a:extLst>
          </p:cNvPr>
          <p:cNvSpPr/>
          <p:nvPr/>
        </p:nvSpPr>
        <p:spPr>
          <a:xfrm>
            <a:off x="553045" y="1831777"/>
            <a:ext cx="200620" cy="220682"/>
          </a:xfrm>
          <a:prstGeom prst="roundRect">
            <a:avLst>
              <a:gd name="adj" fmla="val 28487"/>
            </a:avLst>
          </a:prstGeom>
          <a:solidFill>
            <a:srgbClr val="BC9000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3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80C5F7D-7324-F162-84DB-9E433BD6E7A4}"/>
              </a:ext>
            </a:extLst>
          </p:cNvPr>
          <p:cNvSpPr/>
          <p:nvPr/>
        </p:nvSpPr>
        <p:spPr>
          <a:xfrm>
            <a:off x="839986" y="1856780"/>
            <a:ext cx="3690372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Difficulty Correct</a:t>
            </a:r>
            <a:endParaRPr lang="en-US" sz="79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2BEC916C-52FF-2CF5-EF25-55EC7ED87B5E}"/>
              </a:ext>
            </a:extLst>
          </p:cNvPr>
          <p:cNvSpPr/>
          <p:nvPr/>
        </p:nvSpPr>
        <p:spPr>
          <a:xfrm>
            <a:off x="4281190" y="1867346"/>
            <a:ext cx="5729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68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5BD1E46C-F05B-0118-B893-691BE7C792C1}"/>
              </a:ext>
            </a:extLst>
          </p:cNvPr>
          <p:cNvSpPr/>
          <p:nvPr/>
        </p:nvSpPr>
        <p:spPr>
          <a:xfrm>
            <a:off x="553045" y="2427833"/>
            <a:ext cx="3780234" cy="9525"/>
          </a:xfrm>
          <a:prstGeom prst="rect">
            <a:avLst/>
          </a:prstGeom>
          <a:solidFill>
            <a:srgbClr val="A8C4AF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8C8CFC62-EBBA-46BA-A002-B597287BC6DA}"/>
              </a:ext>
            </a:extLst>
          </p:cNvPr>
          <p:cNvSpPr/>
          <p:nvPr/>
        </p:nvSpPr>
        <p:spPr>
          <a:xfrm>
            <a:off x="553045" y="2170063"/>
            <a:ext cx="200620" cy="220682"/>
          </a:xfrm>
          <a:prstGeom prst="roundRect">
            <a:avLst>
              <a:gd name="adj" fmla="val 28487"/>
            </a:avLst>
          </a:prstGeom>
          <a:solidFill>
            <a:srgbClr val="BC9000">
              <a:alpha val="15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3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99F98AE8-DE49-3D29-C0ED-FF22DEF407C2}"/>
              </a:ext>
            </a:extLst>
          </p:cNvPr>
          <p:cNvSpPr/>
          <p:nvPr/>
        </p:nvSpPr>
        <p:spPr>
          <a:xfrm>
            <a:off x="839986" y="2195066"/>
            <a:ext cx="3690372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Difficulty Incorrect</a:t>
            </a:r>
            <a:endParaRPr lang="en-US" sz="790" dirty="0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493819DC-568A-BF4B-B884-0E77E7A9E3A4}"/>
              </a:ext>
            </a:extLst>
          </p:cNvPr>
          <p:cNvSpPr/>
          <p:nvPr/>
        </p:nvSpPr>
        <p:spPr>
          <a:xfrm>
            <a:off x="4281190" y="2205633"/>
            <a:ext cx="5729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68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58D0E24E-EDD9-8E24-7279-F7E9E8DE8C8B}"/>
              </a:ext>
            </a:extLst>
          </p:cNvPr>
          <p:cNvSpPr/>
          <p:nvPr/>
        </p:nvSpPr>
        <p:spPr>
          <a:xfrm>
            <a:off x="553045" y="2766120"/>
            <a:ext cx="3780234" cy="9525"/>
          </a:xfrm>
          <a:prstGeom prst="rect">
            <a:avLst/>
          </a:prstGeom>
          <a:solidFill>
            <a:srgbClr val="A8C4AF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675CDDBB-4B1A-155E-0C2A-C248E069BC05}"/>
              </a:ext>
            </a:extLst>
          </p:cNvPr>
          <p:cNvSpPr/>
          <p:nvPr/>
        </p:nvSpPr>
        <p:spPr>
          <a:xfrm>
            <a:off x="553045" y="2508349"/>
            <a:ext cx="200620" cy="220682"/>
          </a:xfrm>
          <a:prstGeom prst="roundRect">
            <a:avLst>
              <a:gd name="adj" fmla="val 28487"/>
            </a:avLst>
          </a:prstGeom>
          <a:solidFill>
            <a:srgbClr val="BC9000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3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E86E52B4-65B6-A2E3-163F-C3F4F65F4BCB}"/>
              </a:ext>
            </a:extLst>
          </p:cNvPr>
          <p:cNvSpPr/>
          <p:nvPr/>
        </p:nvSpPr>
        <p:spPr>
          <a:xfrm>
            <a:off x="839986" y="2533352"/>
            <a:ext cx="3690372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Seconds</a:t>
            </a:r>
            <a:endParaRPr lang="en-US" sz="79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82AED0C4-0BC5-D296-AD7A-1DD85B55CD79}"/>
              </a:ext>
            </a:extLst>
          </p:cNvPr>
          <p:cNvSpPr/>
          <p:nvPr/>
        </p:nvSpPr>
        <p:spPr>
          <a:xfrm>
            <a:off x="4281190" y="2543919"/>
            <a:ext cx="5729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680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1F075927-370C-D4CA-05AF-744D83CE5F8A}"/>
              </a:ext>
            </a:extLst>
          </p:cNvPr>
          <p:cNvSpPr/>
          <p:nvPr/>
        </p:nvSpPr>
        <p:spPr>
          <a:xfrm>
            <a:off x="553045" y="3104406"/>
            <a:ext cx="3780234" cy="9525"/>
          </a:xfrm>
          <a:prstGeom prst="rect">
            <a:avLst/>
          </a:prstGeom>
          <a:solidFill>
            <a:srgbClr val="A8C4AF">
              <a:alpha val="8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E460DE29-3055-FFEE-7C14-BE9E6701948C}"/>
              </a:ext>
            </a:extLst>
          </p:cNvPr>
          <p:cNvSpPr/>
          <p:nvPr/>
        </p:nvSpPr>
        <p:spPr>
          <a:xfrm>
            <a:off x="553045" y="2846636"/>
            <a:ext cx="200620" cy="220682"/>
          </a:xfrm>
          <a:prstGeom prst="roundRect">
            <a:avLst>
              <a:gd name="adj" fmla="val 28487"/>
            </a:avLst>
          </a:prstGeom>
          <a:solidFill>
            <a:srgbClr val="A8C4AF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3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62F26526-AD76-F8F3-8E21-FA5F2F184E9A}"/>
              </a:ext>
            </a:extLst>
          </p:cNvPr>
          <p:cNvSpPr/>
          <p:nvPr/>
        </p:nvSpPr>
        <p:spPr>
          <a:xfrm>
            <a:off x="839986" y="2871639"/>
            <a:ext cx="3690372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Messages</a:t>
            </a:r>
            <a:endParaRPr lang="en-US" sz="79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76462A04-CDA6-756F-8396-B300A34A701B}"/>
              </a:ext>
            </a:extLst>
          </p:cNvPr>
          <p:cNvSpPr/>
          <p:nvPr/>
        </p:nvSpPr>
        <p:spPr>
          <a:xfrm>
            <a:off x="4281190" y="2882205"/>
            <a:ext cx="5729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680" dirty="0"/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E361F5CB-8A17-C302-451A-837D8386BB7B}"/>
              </a:ext>
            </a:extLst>
          </p:cNvPr>
          <p:cNvSpPr/>
          <p:nvPr/>
        </p:nvSpPr>
        <p:spPr>
          <a:xfrm>
            <a:off x="553045" y="3184922"/>
            <a:ext cx="200620" cy="220682"/>
          </a:xfrm>
          <a:prstGeom prst="roundRect">
            <a:avLst>
              <a:gd name="adj" fmla="val 28487"/>
            </a:avLst>
          </a:prstGeom>
          <a:solidFill>
            <a:srgbClr val="A8C4AF">
              <a:alpha val="1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30" b="1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30" dirty="0"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5F83FD54-7A68-FD72-6870-D62FDCBC25C3}"/>
              </a:ext>
            </a:extLst>
          </p:cNvPr>
          <p:cNvSpPr/>
          <p:nvPr/>
        </p:nvSpPr>
        <p:spPr>
          <a:xfrm>
            <a:off x="839986" y="3209925"/>
            <a:ext cx="3690372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85"/>
              </a:lnSpc>
              <a:buNone/>
            </a:pPr>
            <a:r>
              <a:rPr lang="en-US" sz="79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Response Time</a:t>
            </a:r>
            <a:endParaRPr lang="en-US" sz="790" dirty="0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86A5B61D-9311-6E60-36C2-B7589AF011C0}"/>
              </a:ext>
            </a:extLst>
          </p:cNvPr>
          <p:cNvSpPr/>
          <p:nvPr/>
        </p:nvSpPr>
        <p:spPr>
          <a:xfrm>
            <a:off x="4281190" y="3220492"/>
            <a:ext cx="57299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b="1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680" dirty="0"/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1E26CFD2-C414-F175-C2DA-91C731D20A8A}"/>
              </a:ext>
            </a:extLst>
          </p:cNvPr>
          <p:cNvSpPr/>
          <p:nvPr/>
        </p:nvSpPr>
        <p:spPr>
          <a:xfrm>
            <a:off x="4657725" y="1046262"/>
            <a:ext cx="4086225" cy="4097238"/>
          </a:xfrm>
          <a:prstGeom prst="roundRect">
            <a:avLst>
              <a:gd name="adj" fmla="val 2797"/>
            </a:avLst>
          </a:prstGeom>
          <a:solidFill>
            <a:srgbClr val="3D6B4A"/>
          </a:solidFill>
          <a:ln w="9525">
            <a:solidFill>
              <a:srgbClr val="A8C4AF">
                <a:alpha val="12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7AEEC16A-669A-171E-1AC0-046AF2B323C9}"/>
              </a:ext>
            </a:extLst>
          </p:cNvPr>
          <p:cNvSpPr/>
          <p:nvPr/>
        </p:nvSpPr>
        <p:spPr>
          <a:xfrm>
            <a:off x="4810720" y="1257746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6A9E73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5" name="Image 2" descr="preencoded.png">
            <a:extLst>
              <a:ext uri="{FF2B5EF4-FFF2-40B4-BE49-F238E27FC236}">
                <a16:creationId xmlns:a16="http://schemas.microsoft.com/office/drawing/2014/main" id="{BD2C43F6-1F33-15CB-D9D4-DFC3A568CB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73237" y="1320263"/>
            <a:ext cx="132588" cy="132588"/>
          </a:xfrm>
          <a:prstGeom prst="rect">
            <a:avLst/>
          </a:prstGeom>
        </p:spPr>
      </p:pic>
      <p:sp>
        <p:nvSpPr>
          <p:cNvPr id="36" name="Text 31">
            <a:extLst>
              <a:ext uri="{FF2B5EF4-FFF2-40B4-BE49-F238E27FC236}">
                <a16:creationId xmlns:a16="http://schemas.microsoft.com/office/drawing/2014/main" id="{CA98D331-BECD-F279-0BEC-9EFE4B2F37B5}"/>
              </a:ext>
            </a:extLst>
          </p:cNvPr>
          <p:cNvSpPr/>
          <p:nvPr/>
        </p:nvSpPr>
        <p:spPr>
          <a:xfrm>
            <a:off x="5139482" y="1199257"/>
            <a:ext cx="1355854" cy="14614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152"/>
              </a:lnSpc>
              <a:buNone/>
            </a:pPr>
            <a:r>
              <a:rPr lang="en-US" sz="96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SHAP Analysis</a:t>
            </a:r>
            <a:endParaRPr lang="en-US" sz="960" dirty="0"/>
          </a:p>
        </p:txBody>
      </p:sp>
      <p:sp>
        <p:nvSpPr>
          <p:cNvPr id="37" name="Text 32">
            <a:extLst>
              <a:ext uri="{FF2B5EF4-FFF2-40B4-BE49-F238E27FC236}">
                <a16:creationId xmlns:a16="http://schemas.microsoft.com/office/drawing/2014/main" id="{B71B6496-B7DD-4F02-1549-D01326096B10}"/>
              </a:ext>
            </a:extLst>
          </p:cNvPr>
          <p:cNvSpPr/>
          <p:nvPr/>
        </p:nvSpPr>
        <p:spPr>
          <a:xfrm>
            <a:off x="5139482" y="1431131"/>
            <a:ext cx="1355854" cy="952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20"/>
              </a:lnSpc>
              <a:buNone/>
            </a:pPr>
            <a:r>
              <a:rPr lang="en-US" sz="68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Contributors (Mean |SHAP|)</a:t>
            </a:r>
            <a:endParaRPr lang="en-US" sz="680" dirty="0"/>
          </a:p>
        </p:txBody>
      </p:sp>
      <p:sp>
        <p:nvSpPr>
          <p:cNvPr id="38" name="Text 33">
            <a:extLst>
              <a:ext uri="{FF2B5EF4-FFF2-40B4-BE49-F238E27FC236}">
                <a16:creationId xmlns:a16="http://schemas.microsoft.com/office/drawing/2014/main" id="{38DDF7D6-AE92-4BF9-8D5A-B2E21917446D}"/>
              </a:ext>
            </a:extLst>
          </p:cNvPr>
          <p:cNvSpPr/>
          <p:nvPr/>
        </p:nvSpPr>
        <p:spPr>
          <a:xfrm>
            <a:off x="4810720" y="1774627"/>
            <a:ext cx="871433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Seconds</a:t>
            </a:r>
            <a:endParaRPr lang="en-US" sz="730" dirty="0"/>
          </a:p>
        </p:txBody>
      </p:sp>
      <p:sp>
        <p:nvSpPr>
          <p:cNvPr id="39" name="Text 34">
            <a:extLst>
              <a:ext uri="{FF2B5EF4-FFF2-40B4-BE49-F238E27FC236}">
                <a16:creationId xmlns:a16="http://schemas.microsoft.com/office/drawing/2014/main" id="{7D5FAD04-C8FF-872D-A134-72E05B0D6858}"/>
              </a:ext>
            </a:extLst>
          </p:cNvPr>
          <p:cNvSpPr/>
          <p:nvPr/>
        </p:nvSpPr>
        <p:spPr>
          <a:xfrm>
            <a:off x="8410724" y="1774627"/>
            <a:ext cx="19825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7.26</a:t>
            </a:r>
            <a:endParaRPr lang="en-US" sz="730" dirty="0"/>
          </a:p>
        </p:txBody>
      </p:sp>
      <p:sp>
        <p:nvSpPr>
          <p:cNvPr id="40" name="Text 35">
            <a:extLst>
              <a:ext uri="{FF2B5EF4-FFF2-40B4-BE49-F238E27FC236}">
                <a16:creationId xmlns:a16="http://schemas.microsoft.com/office/drawing/2014/main" id="{E2CD7552-51E3-9B48-CADB-E6BF9E7A54CD}"/>
              </a:ext>
            </a:extLst>
          </p:cNvPr>
          <p:cNvSpPr/>
          <p:nvPr/>
        </p:nvSpPr>
        <p:spPr>
          <a:xfrm>
            <a:off x="4810720" y="1942802"/>
            <a:ext cx="3780234" cy="157460"/>
          </a:xfrm>
          <a:prstGeom prst="roundRect">
            <a:avLst>
              <a:gd name="adj" fmla="val 27423"/>
            </a:avLst>
          </a:prstGeom>
          <a:solidFill>
            <a:srgbClr val="FFFFFF">
              <a:alpha val="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6">
            <a:extLst>
              <a:ext uri="{FF2B5EF4-FFF2-40B4-BE49-F238E27FC236}">
                <a16:creationId xmlns:a16="http://schemas.microsoft.com/office/drawing/2014/main" id="{511C5036-3AA2-9C96-BD02-DFC4FB68CA24}"/>
              </a:ext>
            </a:extLst>
          </p:cNvPr>
          <p:cNvSpPr/>
          <p:nvPr/>
        </p:nvSpPr>
        <p:spPr>
          <a:xfrm>
            <a:off x="4810720" y="1942802"/>
            <a:ext cx="3780234" cy="157460"/>
          </a:xfrm>
          <a:prstGeom prst="roundRect">
            <a:avLst>
              <a:gd name="adj" fmla="val 27423"/>
            </a:avLst>
          </a:prstGeom>
          <a:gradFill rotWithShape="1">
            <a:gsLst>
              <a:gs pos="0">
                <a:srgbClr val="6A9E73"/>
              </a:gs>
              <a:gs pos="100000">
                <a:srgbClr val="A78BF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7">
            <a:extLst>
              <a:ext uri="{FF2B5EF4-FFF2-40B4-BE49-F238E27FC236}">
                <a16:creationId xmlns:a16="http://schemas.microsoft.com/office/drawing/2014/main" id="{53A06AB7-1E46-A494-E11F-1B133FD304AB}"/>
              </a:ext>
            </a:extLst>
          </p:cNvPr>
          <p:cNvSpPr/>
          <p:nvPr/>
        </p:nvSpPr>
        <p:spPr>
          <a:xfrm>
            <a:off x="4810720" y="2171254"/>
            <a:ext cx="64895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Type</a:t>
            </a:r>
            <a:endParaRPr lang="en-US" sz="730" dirty="0"/>
          </a:p>
        </p:txBody>
      </p:sp>
      <p:sp>
        <p:nvSpPr>
          <p:cNvPr id="43" name="Text 38">
            <a:extLst>
              <a:ext uri="{FF2B5EF4-FFF2-40B4-BE49-F238E27FC236}">
                <a16:creationId xmlns:a16="http://schemas.microsoft.com/office/drawing/2014/main" id="{D407EBE1-4F2C-6746-0A47-9B046D70F00C}"/>
              </a:ext>
            </a:extLst>
          </p:cNvPr>
          <p:cNvSpPr/>
          <p:nvPr/>
        </p:nvSpPr>
        <p:spPr>
          <a:xfrm>
            <a:off x="8410724" y="2171254"/>
            <a:ext cx="19825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5.22</a:t>
            </a:r>
            <a:endParaRPr lang="en-US" sz="730" dirty="0"/>
          </a:p>
        </p:txBody>
      </p:sp>
      <p:sp>
        <p:nvSpPr>
          <p:cNvPr id="44" name="Text 39">
            <a:extLst>
              <a:ext uri="{FF2B5EF4-FFF2-40B4-BE49-F238E27FC236}">
                <a16:creationId xmlns:a16="http://schemas.microsoft.com/office/drawing/2014/main" id="{2E84310A-98E9-8ACB-76DA-C5834D621339}"/>
              </a:ext>
            </a:extLst>
          </p:cNvPr>
          <p:cNvSpPr/>
          <p:nvPr/>
        </p:nvSpPr>
        <p:spPr>
          <a:xfrm>
            <a:off x="4810720" y="2339429"/>
            <a:ext cx="3780234" cy="157460"/>
          </a:xfrm>
          <a:prstGeom prst="roundRect">
            <a:avLst>
              <a:gd name="adj" fmla="val 27423"/>
            </a:avLst>
          </a:prstGeom>
          <a:solidFill>
            <a:srgbClr val="FFFFFF">
              <a:alpha val="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0">
            <a:extLst>
              <a:ext uri="{FF2B5EF4-FFF2-40B4-BE49-F238E27FC236}">
                <a16:creationId xmlns:a16="http://schemas.microsoft.com/office/drawing/2014/main" id="{4BD5D431-E063-5B58-F41A-20B38FFC7F93}"/>
              </a:ext>
            </a:extLst>
          </p:cNvPr>
          <p:cNvSpPr/>
          <p:nvPr/>
        </p:nvSpPr>
        <p:spPr>
          <a:xfrm>
            <a:off x="4810720" y="2339429"/>
            <a:ext cx="2717899" cy="157460"/>
          </a:xfrm>
          <a:prstGeom prst="roundRect">
            <a:avLst>
              <a:gd name="adj" fmla="val 27423"/>
            </a:avLst>
          </a:prstGeom>
          <a:gradFill rotWithShape="1">
            <a:gsLst>
              <a:gs pos="0">
                <a:srgbClr val="6A9E73"/>
              </a:gs>
              <a:gs pos="100000">
                <a:srgbClr val="A78BF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1">
            <a:extLst>
              <a:ext uri="{FF2B5EF4-FFF2-40B4-BE49-F238E27FC236}">
                <a16:creationId xmlns:a16="http://schemas.microsoft.com/office/drawing/2014/main" id="{38170E9A-514D-EB07-410F-BC8B12779652}"/>
              </a:ext>
            </a:extLst>
          </p:cNvPr>
          <p:cNvSpPr/>
          <p:nvPr/>
        </p:nvSpPr>
        <p:spPr>
          <a:xfrm>
            <a:off x="4810720" y="2567880"/>
            <a:ext cx="47508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730" dirty="0"/>
          </a:p>
        </p:txBody>
      </p:sp>
      <p:sp>
        <p:nvSpPr>
          <p:cNvPr id="47" name="Text 42">
            <a:extLst>
              <a:ext uri="{FF2B5EF4-FFF2-40B4-BE49-F238E27FC236}">
                <a16:creationId xmlns:a16="http://schemas.microsoft.com/office/drawing/2014/main" id="{3F9A7D49-8947-7242-BBEE-DC83711C0731}"/>
              </a:ext>
            </a:extLst>
          </p:cNvPr>
          <p:cNvSpPr/>
          <p:nvPr/>
        </p:nvSpPr>
        <p:spPr>
          <a:xfrm>
            <a:off x="8410724" y="2567880"/>
            <a:ext cx="19825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2.27</a:t>
            </a:r>
            <a:endParaRPr lang="en-US" sz="730" dirty="0"/>
          </a:p>
        </p:txBody>
      </p:sp>
      <p:sp>
        <p:nvSpPr>
          <p:cNvPr id="48" name="Text 43">
            <a:extLst>
              <a:ext uri="{FF2B5EF4-FFF2-40B4-BE49-F238E27FC236}">
                <a16:creationId xmlns:a16="http://schemas.microsoft.com/office/drawing/2014/main" id="{5459C07E-0B3B-DBFF-B2E9-EF057CDE6832}"/>
              </a:ext>
            </a:extLst>
          </p:cNvPr>
          <p:cNvSpPr/>
          <p:nvPr/>
        </p:nvSpPr>
        <p:spPr>
          <a:xfrm>
            <a:off x="4810720" y="2736056"/>
            <a:ext cx="3780234" cy="157460"/>
          </a:xfrm>
          <a:prstGeom prst="roundRect">
            <a:avLst>
              <a:gd name="adj" fmla="val 27423"/>
            </a:avLst>
          </a:prstGeom>
          <a:solidFill>
            <a:srgbClr val="FFFFFF">
              <a:alpha val="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9" name="Text 44">
            <a:extLst>
              <a:ext uri="{FF2B5EF4-FFF2-40B4-BE49-F238E27FC236}">
                <a16:creationId xmlns:a16="http://schemas.microsoft.com/office/drawing/2014/main" id="{CAA1C1ED-D902-672D-7E4E-B70DBC9EFB61}"/>
              </a:ext>
            </a:extLst>
          </p:cNvPr>
          <p:cNvSpPr/>
          <p:nvPr/>
        </p:nvSpPr>
        <p:spPr>
          <a:xfrm>
            <a:off x="4810720" y="2736056"/>
            <a:ext cx="1183184" cy="157460"/>
          </a:xfrm>
          <a:prstGeom prst="roundRect">
            <a:avLst>
              <a:gd name="adj" fmla="val 27423"/>
            </a:avLst>
          </a:prstGeom>
          <a:gradFill rotWithShape="1">
            <a:gsLst>
              <a:gs pos="0">
                <a:srgbClr val="4A7A55"/>
              </a:gs>
              <a:gs pos="100000">
                <a:srgbClr val="A78BF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5">
            <a:extLst>
              <a:ext uri="{FF2B5EF4-FFF2-40B4-BE49-F238E27FC236}">
                <a16:creationId xmlns:a16="http://schemas.microsoft.com/office/drawing/2014/main" id="{FF2C9F71-3139-1FC1-6E01-0A59715A7E22}"/>
              </a:ext>
            </a:extLst>
          </p:cNvPr>
          <p:cNvSpPr/>
          <p:nvPr/>
        </p:nvSpPr>
        <p:spPr>
          <a:xfrm>
            <a:off x="4810720" y="2964507"/>
            <a:ext cx="96769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Response Time</a:t>
            </a:r>
            <a:endParaRPr lang="en-US" sz="730" dirty="0"/>
          </a:p>
        </p:txBody>
      </p:sp>
      <p:sp>
        <p:nvSpPr>
          <p:cNvPr id="51" name="Text 46">
            <a:extLst>
              <a:ext uri="{FF2B5EF4-FFF2-40B4-BE49-F238E27FC236}">
                <a16:creationId xmlns:a16="http://schemas.microsoft.com/office/drawing/2014/main" id="{3A1AD8CC-BC02-9D71-E293-940E2B1A4515}"/>
              </a:ext>
            </a:extLst>
          </p:cNvPr>
          <p:cNvSpPr/>
          <p:nvPr/>
        </p:nvSpPr>
        <p:spPr>
          <a:xfrm>
            <a:off x="8410724" y="2964507"/>
            <a:ext cx="19825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1.98</a:t>
            </a:r>
            <a:endParaRPr lang="en-US" sz="730" dirty="0"/>
          </a:p>
        </p:txBody>
      </p:sp>
      <p:sp>
        <p:nvSpPr>
          <p:cNvPr id="52" name="Text 47">
            <a:extLst>
              <a:ext uri="{FF2B5EF4-FFF2-40B4-BE49-F238E27FC236}">
                <a16:creationId xmlns:a16="http://schemas.microsoft.com/office/drawing/2014/main" id="{090F995F-37CC-B5F9-6552-B6D271BE7EBD}"/>
              </a:ext>
            </a:extLst>
          </p:cNvPr>
          <p:cNvSpPr/>
          <p:nvPr/>
        </p:nvSpPr>
        <p:spPr>
          <a:xfrm>
            <a:off x="4810720" y="3132683"/>
            <a:ext cx="3780234" cy="157460"/>
          </a:xfrm>
          <a:prstGeom prst="roundRect">
            <a:avLst>
              <a:gd name="adj" fmla="val 27423"/>
            </a:avLst>
          </a:prstGeom>
          <a:solidFill>
            <a:srgbClr val="FFFFFF">
              <a:alpha val="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48">
            <a:extLst>
              <a:ext uri="{FF2B5EF4-FFF2-40B4-BE49-F238E27FC236}">
                <a16:creationId xmlns:a16="http://schemas.microsoft.com/office/drawing/2014/main" id="{3588BB01-2206-CA84-6948-ADFB24C7BC00}"/>
              </a:ext>
            </a:extLst>
          </p:cNvPr>
          <p:cNvSpPr/>
          <p:nvPr/>
        </p:nvSpPr>
        <p:spPr>
          <a:xfrm>
            <a:off x="4810720" y="3132683"/>
            <a:ext cx="1031974" cy="157460"/>
          </a:xfrm>
          <a:prstGeom prst="roundRect">
            <a:avLst>
              <a:gd name="adj" fmla="val 27423"/>
            </a:avLst>
          </a:prstGeom>
          <a:gradFill rotWithShape="1">
            <a:gsLst>
              <a:gs pos="0">
                <a:srgbClr val="4A7A55"/>
              </a:gs>
              <a:gs pos="100000">
                <a:srgbClr val="A78BF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49">
            <a:extLst>
              <a:ext uri="{FF2B5EF4-FFF2-40B4-BE49-F238E27FC236}">
                <a16:creationId xmlns:a16="http://schemas.microsoft.com/office/drawing/2014/main" id="{041E01CD-F85F-FA88-7ED1-3CBE8EBE5C31}"/>
              </a:ext>
            </a:extLst>
          </p:cNvPr>
          <p:cNvSpPr/>
          <p:nvPr/>
        </p:nvSpPr>
        <p:spPr>
          <a:xfrm>
            <a:off x="4810720" y="3361134"/>
            <a:ext cx="75077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Messages</a:t>
            </a:r>
            <a:endParaRPr lang="en-US" sz="730" dirty="0"/>
          </a:p>
        </p:txBody>
      </p:sp>
      <p:sp>
        <p:nvSpPr>
          <p:cNvPr id="55" name="Text 50">
            <a:extLst>
              <a:ext uri="{FF2B5EF4-FFF2-40B4-BE49-F238E27FC236}">
                <a16:creationId xmlns:a16="http://schemas.microsoft.com/office/drawing/2014/main" id="{819C79D3-D8F0-ABFE-8AC0-79F76F9131A9}"/>
              </a:ext>
            </a:extLst>
          </p:cNvPr>
          <p:cNvSpPr/>
          <p:nvPr/>
        </p:nvSpPr>
        <p:spPr>
          <a:xfrm>
            <a:off x="8410724" y="3361134"/>
            <a:ext cx="198254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1.76</a:t>
            </a:r>
            <a:endParaRPr lang="en-US" sz="730" dirty="0"/>
          </a:p>
        </p:txBody>
      </p:sp>
      <p:sp>
        <p:nvSpPr>
          <p:cNvPr id="56" name="Text 51">
            <a:extLst>
              <a:ext uri="{FF2B5EF4-FFF2-40B4-BE49-F238E27FC236}">
                <a16:creationId xmlns:a16="http://schemas.microsoft.com/office/drawing/2014/main" id="{9D541C8E-CA05-89A6-7CE8-BF810E501286}"/>
              </a:ext>
            </a:extLst>
          </p:cNvPr>
          <p:cNvSpPr/>
          <p:nvPr/>
        </p:nvSpPr>
        <p:spPr>
          <a:xfrm>
            <a:off x="4810720" y="3529310"/>
            <a:ext cx="3780234" cy="157460"/>
          </a:xfrm>
          <a:prstGeom prst="roundRect">
            <a:avLst>
              <a:gd name="adj" fmla="val 27423"/>
            </a:avLst>
          </a:prstGeom>
          <a:solidFill>
            <a:srgbClr val="FFFFFF">
              <a:alpha val="4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7" name="Text 52">
            <a:extLst>
              <a:ext uri="{FF2B5EF4-FFF2-40B4-BE49-F238E27FC236}">
                <a16:creationId xmlns:a16="http://schemas.microsoft.com/office/drawing/2014/main" id="{BFDFFA7C-C138-83BF-FCB3-482FEA6F8A4C}"/>
              </a:ext>
            </a:extLst>
          </p:cNvPr>
          <p:cNvSpPr/>
          <p:nvPr/>
        </p:nvSpPr>
        <p:spPr>
          <a:xfrm>
            <a:off x="4810720" y="3529310"/>
            <a:ext cx="914698" cy="157460"/>
          </a:xfrm>
          <a:prstGeom prst="roundRect">
            <a:avLst>
              <a:gd name="adj" fmla="val 27423"/>
            </a:avLst>
          </a:prstGeom>
          <a:gradFill rotWithShape="1">
            <a:gsLst>
              <a:gs pos="0">
                <a:srgbClr val="4A7A55"/>
              </a:gs>
              <a:gs pos="100000">
                <a:srgbClr val="A78BFA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3">
            <a:extLst>
              <a:ext uri="{FF2B5EF4-FFF2-40B4-BE49-F238E27FC236}">
                <a16:creationId xmlns:a16="http://schemas.microsoft.com/office/drawing/2014/main" id="{B551FD4E-356A-940D-CC3B-6A936E0E9E6B}"/>
              </a:ext>
            </a:extLst>
          </p:cNvPr>
          <p:cNvSpPr/>
          <p:nvPr/>
        </p:nvSpPr>
        <p:spPr>
          <a:xfrm>
            <a:off x="5039320" y="5875734"/>
            <a:ext cx="1007313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930"/>
              </a:lnSpc>
              <a:buNone/>
            </a:pPr>
            <a:r>
              <a:rPr lang="en-US" sz="620" b="1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CONVERGENCE</a:t>
            </a:r>
            <a:endParaRPr lang="en-US" sz="620" dirty="0"/>
          </a:p>
        </p:txBody>
      </p:sp>
      <p:sp>
        <p:nvSpPr>
          <p:cNvPr id="59" name="Text 54">
            <a:extLst>
              <a:ext uri="{FF2B5EF4-FFF2-40B4-BE49-F238E27FC236}">
                <a16:creationId xmlns:a16="http://schemas.microsoft.com/office/drawing/2014/main" id="{941DA9DC-94B2-CB40-8306-D71E4B0C7F89}"/>
              </a:ext>
            </a:extLst>
          </p:cNvPr>
          <p:cNvSpPr/>
          <p:nvPr/>
        </p:nvSpPr>
        <p:spPr>
          <a:xfrm>
            <a:off x="4810720" y="6050905"/>
            <a:ext cx="3780234" cy="508626"/>
          </a:xfrm>
          <a:prstGeom prst="roundRect">
            <a:avLst>
              <a:gd name="adj" fmla="val 11236"/>
            </a:avLst>
          </a:prstGeom>
          <a:solidFill>
            <a:srgbClr val="BC9000">
              <a:alpha val="8000"/>
            </a:srgbClr>
          </a:solidFill>
          <a:ln w="9525">
            <a:solidFill>
              <a:srgbClr val="BC9000">
                <a:alpha val="15000"/>
              </a:srgbClr>
            </a:solidFill>
          </a:ln>
        </p:spPr>
        <p:txBody>
          <a:bodyPr wrap="square" lIns="100330" tIns="57150" rIns="100330" bIns="57150" rtlCol="0" anchor="t"/>
          <a:lstStyle/>
          <a:p>
            <a:pPr marL="0" indent="0" algn="ctr">
              <a:buNone/>
            </a:pPr>
            <a:r>
              <a:rPr lang="en-US" sz="62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methods agree on</a:t>
            </a:r>
            <a:endParaRPr lang="en-US" sz="620" dirty="0"/>
          </a:p>
          <a:p>
            <a:pPr marL="0" indent="0" algn="ctr">
              <a:buNone/>
            </a:pPr>
            <a:r>
              <a:rPr lang="en-US" sz="79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 &amp; Total Messages</a:t>
            </a:r>
            <a:endParaRPr lang="en-US" sz="620" dirty="0"/>
          </a:p>
        </p:txBody>
      </p:sp>
      <p:sp>
        <p:nvSpPr>
          <p:cNvPr id="60" name="Text 55">
            <a:extLst>
              <a:ext uri="{FF2B5EF4-FFF2-40B4-BE49-F238E27FC236}">
                <a16:creationId xmlns:a16="http://schemas.microsoft.com/office/drawing/2014/main" id="{146EECB4-1BBF-CC29-3557-1ED6B7B2C1E8}"/>
              </a:ext>
            </a:extLst>
          </p:cNvPr>
          <p:cNvSpPr/>
          <p:nvPr/>
        </p:nvSpPr>
        <p:spPr>
          <a:xfrm>
            <a:off x="400050" y="4506069"/>
            <a:ext cx="8343900" cy="379661"/>
          </a:xfrm>
          <a:prstGeom prst="roundRect">
            <a:avLst>
              <a:gd name="adj" fmla="val 22747"/>
            </a:avLst>
          </a:prstGeom>
          <a:gradFill rotWithShape="1">
            <a:gsLst>
              <a:gs pos="0">
                <a:srgbClr val="BC9000">
                  <a:alpha val="12000"/>
                </a:srgbClr>
              </a:gs>
              <a:gs pos="100000">
                <a:srgbClr val="BC9000">
                  <a:alpha val="4000"/>
                </a:srgbClr>
              </a:gs>
            </a:gsLst>
            <a:lin ang="2700000" scaled="1"/>
          </a:gradFill>
          <a:ln w="9525">
            <a:solidFill>
              <a:srgbClr val="BC9000">
                <a:alpha val="3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61" name="Image 3" descr="preencoded.png">
            <a:extLst>
              <a:ext uri="{FF2B5EF4-FFF2-40B4-BE49-F238E27FC236}">
                <a16:creationId xmlns:a16="http://schemas.microsoft.com/office/drawing/2014/main" id="{E187B735-3B0D-2D81-1E55-60205411AD1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5762" y="4616211"/>
            <a:ext cx="132588" cy="132588"/>
          </a:xfrm>
          <a:prstGeom prst="rect">
            <a:avLst/>
          </a:prstGeom>
        </p:spPr>
      </p:pic>
      <p:sp>
        <p:nvSpPr>
          <p:cNvPr id="62" name="Text 56">
            <a:extLst>
              <a:ext uri="{FF2B5EF4-FFF2-40B4-BE49-F238E27FC236}">
                <a16:creationId xmlns:a16="http://schemas.microsoft.com/office/drawing/2014/main" id="{1C740D54-10CE-BF44-D2F7-705FAC0BA3D6}"/>
              </a:ext>
            </a:extLst>
          </p:cNvPr>
          <p:cNvSpPr/>
          <p:nvPr/>
        </p:nvSpPr>
        <p:spPr>
          <a:xfrm>
            <a:off x="757386" y="4615904"/>
            <a:ext cx="5789637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r>
              <a:rPr lang="en-US" sz="84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How students interact — timing, pacing, cognitive effort — matters as much as what they get right.</a:t>
            </a:r>
            <a:endParaRPr lang="en-US" sz="840" dirty="0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606E64CA-B172-7814-82C7-EF80F3D97A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165" y="1032177"/>
            <a:ext cx="3998215" cy="2770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9799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2B5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000280" y="0"/>
            <a:ext cx="2143720" cy="1857970"/>
          </a:xfrm>
          <a:prstGeom prst="ellipse">
            <a:avLst/>
          </a:prstGeom>
          <a:solidFill>
            <a:srgbClr val="BC9000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0" y="3714750"/>
            <a:ext cx="1571030" cy="1428750"/>
          </a:xfrm>
          <a:prstGeom prst="ellipse">
            <a:avLst/>
          </a:prstGeom>
          <a:solidFill>
            <a:srgbClr val="BC9000">
              <a:alpha val="4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38745" y="1112937"/>
            <a:ext cx="2584999" cy="29170"/>
          </a:xfrm>
          <a:custGeom>
            <a:avLst/>
            <a:gdLst/>
            <a:ahLst/>
            <a:cxnLst/>
            <a:rect l="l" t="t" r="r" b="b"/>
            <a:pathLst>
              <a:path w="2584999" h="29170">
                <a:moveTo>
                  <a:pt x="114300" y="0"/>
                </a:moveTo>
                <a:lnTo>
                  <a:pt x="2470699" y="0"/>
                </a:lnTo>
                <a:lnTo>
                  <a:pt x="2499339" y="3646"/>
                </a:lnTo>
                <a:lnTo>
                  <a:pt x="2510873" y="7293"/>
                </a:lnTo>
                <a:lnTo>
                  <a:pt x="2519494" y="10939"/>
                </a:lnTo>
                <a:lnTo>
                  <a:pt x="2526569" y="14585"/>
                </a:lnTo>
                <a:lnTo>
                  <a:pt x="2532629" y="18231"/>
                </a:lnTo>
                <a:lnTo>
                  <a:pt x="2537950" y="21878"/>
                </a:lnTo>
                <a:lnTo>
                  <a:pt x="2542695" y="25524"/>
                </a:lnTo>
                <a:lnTo>
                  <a:pt x="2546971" y="29170"/>
                </a:lnTo>
                <a:lnTo>
                  <a:pt x="38028" y="29170"/>
                </a:lnTo>
                <a:lnTo>
                  <a:pt x="42305" y="25524"/>
                </a:lnTo>
                <a:lnTo>
                  <a:pt x="47050" y="21878"/>
                </a:lnTo>
                <a:lnTo>
                  <a:pt x="52370" y="18231"/>
                </a:lnTo>
                <a:lnTo>
                  <a:pt x="58430" y="14585"/>
                </a:lnTo>
                <a:lnTo>
                  <a:pt x="65505" y="10939"/>
                </a:lnTo>
                <a:lnTo>
                  <a:pt x="74127" y="7293"/>
                </a:lnTo>
                <a:lnTo>
                  <a:pt x="85660" y="3646"/>
                </a:lnTo>
                <a:close/>
              </a:path>
            </a:pathLst>
          </a:custGeom>
          <a:gradFill rotWithShape="1">
            <a:gsLst>
              <a:gs pos="0">
                <a:srgbClr val="BC9000"/>
              </a:gs>
              <a:gs pos="100000">
                <a:srgbClr val="D4A80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14241" y="1112937"/>
            <a:ext cx="2585142" cy="29170"/>
          </a:xfrm>
          <a:custGeom>
            <a:avLst/>
            <a:gdLst/>
            <a:ahLst/>
            <a:cxnLst/>
            <a:rect l="l" t="t" r="r" b="b"/>
            <a:pathLst>
              <a:path w="2585142" h="29170">
                <a:moveTo>
                  <a:pt x="114300" y="0"/>
                </a:moveTo>
                <a:lnTo>
                  <a:pt x="2470842" y="0"/>
                </a:lnTo>
                <a:lnTo>
                  <a:pt x="2499482" y="3646"/>
                </a:lnTo>
                <a:lnTo>
                  <a:pt x="2511016" y="7293"/>
                </a:lnTo>
                <a:lnTo>
                  <a:pt x="2519637" y="10939"/>
                </a:lnTo>
                <a:lnTo>
                  <a:pt x="2526712" y="14585"/>
                </a:lnTo>
                <a:lnTo>
                  <a:pt x="2532772" y="18231"/>
                </a:lnTo>
                <a:lnTo>
                  <a:pt x="2538093" y="21878"/>
                </a:lnTo>
                <a:lnTo>
                  <a:pt x="2542837" y="25524"/>
                </a:lnTo>
                <a:lnTo>
                  <a:pt x="2547114" y="29170"/>
                </a:lnTo>
                <a:lnTo>
                  <a:pt x="38028" y="29170"/>
                </a:lnTo>
                <a:lnTo>
                  <a:pt x="42305" y="25524"/>
                </a:lnTo>
                <a:lnTo>
                  <a:pt x="47050" y="21878"/>
                </a:lnTo>
                <a:lnTo>
                  <a:pt x="52370" y="18231"/>
                </a:lnTo>
                <a:lnTo>
                  <a:pt x="58430" y="14585"/>
                </a:lnTo>
                <a:lnTo>
                  <a:pt x="65505" y="10939"/>
                </a:lnTo>
                <a:lnTo>
                  <a:pt x="74127" y="7293"/>
                </a:lnTo>
                <a:lnTo>
                  <a:pt x="85660" y="3646"/>
                </a:lnTo>
                <a:close/>
              </a:path>
            </a:pathLst>
          </a:custGeom>
          <a:gradFill rotWithShape="1">
            <a:gsLst>
              <a:gs pos="0">
                <a:srgbClr val="BC9000"/>
              </a:gs>
              <a:gs pos="100000">
                <a:srgbClr val="D4A80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29220" y="342900"/>
            <a:ext cx="9114115" cy="11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30"/>
              </a:lnSpc>
              <a:spcAft>
                <a:spcPts val="340"/>
              </a:spcAft>
              <a:buNone/>
            </a:pPr>
            <a:r>
              <a:rPr lang="en-US" sz="620" b="1" kern="0" spc="93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 STUDY</a:t>
            </a:r>
            <a:endParaRPr lang="en-US" sz="620" dirty="0"/>
          </a:p>
        </p:txBody>
      </p:sp>
      <p:sp>
        <p:nvSpPr>
          <p:cNvPr id="7" name="Text 5"/>
          <p:cNvSpPr/>
          <p:nvPr/>
        </p:nvSpPr>
        <p:spPr>
          <a:xfrm>
            <a:off x="429220" y="504081"/>
            <a:ext cx="8865549" cy="312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61"/>
              </a:lnSpc>
              <a:spcAft>
                <a:spcPts val="230"/>
              </a:spcAft>
              <a:buNone/>
            </a:pPr>
            <a:r>
              <a:rPr lang="en-US" sz="214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Behavioral Features vs. All Features</a:t>
            </a:r>
            <a:endParaRPr lang="en-US" sz="2140" dirty="0"/>
          </a:p>
        </p:txBody>
      </p:sp>
      <p:sp>
        <p:nvSpPr>
          <p:cNvPr id="8" name="Text 6"/>
          <p:cNvSpPr/>
          <p:nvPr/>
        </p:nvSpPr>
        <p:spPr>
          <a:xfrm>
            <a:off x="429220" y="873621"/>
            <a:ext cx="429220" cy="29170"/>
          </a:xfrm>
          <a:prstGeom prst="roundRect">
            <a:avLst>
              <a:gd name="adj" fmla="val 47892"/>
            </a:avLst>
          </a:prstGeom>
          <a:gradFill rotWithShape="1">
            <a:gsLst>
              <a:gs pos="0">
                <a:srgbClr val="BC9000"/>
              </a:gs>
              <a:gs pos="100000">
                <a:srgbClr val="BC9000"/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29220" y="1103412"/>
            <a:ext cx="2604046" cy="2450902"/>
          </a:xfrm>
          <a:prstGeom prst="roundRect">
            <a:avLst>
              <a:gd name="adj" fmla="val 4664"/>
            </a:avLst>
          </a:prstGeom>
          <a:solidFill>
            <a:srgbClr val="3D6B4A"/>
          </a:solidFill>
          <a:ln w="9525">
            <a:solidFill>
              <a:srgbClr val="BC9000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39366" y="1367433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BC9000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1882" y="1429950"/>
            <a:ext cx="132588" cy="13258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68127" y="1313557"/>
            <a:ext cx="1892094" cy="383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BC9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Improve Without Difficulty Features</a:t>
            </a:r>
            <a:endParaRPr lang="en-US" sz="960" dirty="0"/>
          </a:p>
        </p:txBody>
      </p:sp>
      <p:sp>
        <p:nvSpPr>
          <p:cNvPr id="13" name="Text 10"/>
          <p:cNvSpPr/>
          <p:nvPr/>
        </p:nvSpPr>
        <p:spPr>
          <a:xfrm>
            <a:off x="639366" y="1793379"/>
            <a:ext cx="2183755" cy="454819"/>
          </a:xfrm>
          <a:prstGeom prst="roundRect">
            <a:avLst>
              <a:gd name="adj" fmla="val 15637"/>
            </a:avLst>
          </a:prstGeom>
          <a:solidFill>
            <a:srgbClr val="BC9000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739676" y="1864370"/>
            <a:ext cx="117151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739676" y="2038201"/>
            <a:ext cx="117151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spcBef>
                <a:spcPts val="110"/>
              </a:spcBef>
              <a:buNone/>
            </a:pPr>
            <a:r>
              <a:rPr lang="en-US" sz="73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across all metrics</a:t>
            </a:r>
            <a:endParaRPr lang="en-US" sz="730" dirty="0"/>
          </a:p>
        </p:txBody>
      </p:sp>
      <p:sp>
        <p:nvSpPr>
          <p:cNvPr id="16" name="Text 13"/>
          <p:cNvSpPr/>
          <p:nvPr/>
        </p:nvSpPr>
        <p:spPr>
          <a:xfrm>
            <a:off x="1905000" y="1923901"/>
            <a:ext cx="817811" cy="212988"/>
          </a:xfrm>
          <a:prstGeom prst="roundRect">
            <a:avLst>
              <a:gd name="adj" fmla="val 26832"/>
            </a:avLst>
          </a:prstGeom>
          <a:solidFill>
            <a:srgbClr val="BC9000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D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+0.03 → +0.10</a:t>
            </a:r>
            <a:endParaRPr lang="en-US" sz="790" dirty="0"/>
          </a:p>
        </p:txBody>
      </p:sp>
      <p:sp>
        <p:nvSpPr>
          <p:cNvPr id="17" name="Text 14"/>
          <p:cNvSpPr/>
          <p:nvPr/>
        </p:nvSpPr>
        <p:spPr>
          <a:xfrm>
            <a:off x="639366" y="2305348"/>
            <a:ext cx="2183755" cy="454819"/>
          </a:xfrm>
          <a:prstGeom prst="roundRect">
            <a:avLst>
              <a:gd name="adj" fmla="val 15637"/>
            </a:avLst>
          </a:prstGeom>
          <a:solidFill>
            <a:srgbClr val="BC9000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739676" y="2376339"/>
            <a:ext cx="1171515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(RBF)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739676" y="2550170"/>
            <a:ext cx="1171515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spcBef>
                <a:spcPts val="110"/>
              </a:spcBef>
              <a:buNone/>
            </a:pPr>
            <a:r>
              <a:rPr lang="en-US" sz="73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across all metrics</a:t>
            </a:r>
            <a:endParaRPr lang="en-US" sz="730" dirty="0"/>
          </a:p>
        </p:txBody>
      </p:sp>
      <p:sp>
        <p:nvSpPr>
          <p:cNvPr id="20" name="Text 17"/>
          <p:cNvSpPr/>
          <p:nvPr/>
        </p:nvSpPr>
        <p:spPr>
          <a:xfrm>
            <a:off x="1905000" y="2435870"/>
            <a:ext cx="817811" cy="212988"/>
          </a:xfrm>
          <a:prstGeom prst="roundRect">
            <a:avLst>
              <a:gd name="adj" fmla="val 26832"/>
            </a:avLst>
          </a:prstGeom>
          <a:solidFill>
            <a:srgbClr val="BC9000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D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+0.04 → +0.08</a:t>
            </a:r>
            <a:endParaRPr lang="en-US" sz="790" dirty="0"/>
          </a:p>
        </p:txBody>
      </p:sp>
      <p:sp>
        <p:nvSpPr>
          <p:cNvPr id="21" name="Text 18"/>
          <p:cNvSpPr/>
          <p:nvPr/>
        </p:nvSpPr>
        <p:spPr>
          <a:xfrm>
            <a:off x="639366" y="2860477"/>
            <a:ext cx="2183755" cy="564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&amp; kernel models perform better with behavioral signals alone — difficulty features add noise.</a:t>
            </a:r>
            <a:endParaRPr lang="en-US" sz="730" dirty="0"/>
          </a:p>
        </p:txBody>
      </p:sp>
      <p:sp>
        <p:nvSpPr>
          <p:cNvPr id="22" name="Text 19"/>
          <p:cNvSpPr/>
          <p:nvPr/>
        </p:nvSpPr>
        <p:spPr>
          <a:xfrm>
            <a:off x="639366" y="2860477"/>
            <a:ext cx="2183755" cy="9525"/>
          </a:xfrm>
          <a:prstGeom prst="rect">
            <a:avLst/>
          </a:prstGeom>
          <a:solidFill>
            <a:srgbClr val="A8C4A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0"/>
          <p:cNvSpPr/>
          <p:nvPr/>
        </p:nvSpPr>
        <p:spPr>
          <a:xfrm>
            <a:off x="3204716" y="1103412"/>
            <a:ext cx="2604195" cy="2450902"/>
          </a:xfrm>
          <a:prstGeom prst="roundRect">
            <a:avLst>
              <a:gd name="adj" fmla="val 4664"/>
            </a:avLst>
          </a:prstGeom>
          <a:solidFill>
            <a:srgbClr val="3D6B4A"/>
          </a:solidFill>
          <a:ln w="9525">
            <a:solidFill>
              <a:srgbClr val="BC9000">
                <a:alpha val="2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3414861" y="1313557"/>
            <a:ext cx="257770" cy="257770"/>
          </a:xfrm>
          <a:prstGeom prst="roundRect">
            <a:avLst>
              <a:gd name="adj" fmla="val 27590"/>
            </a:avLst>
          </a:prstGeom>
          <a:solidFill>
            <a:srgbClr val="BC9000">
              <a:alpha val="15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7378" y="1376074"/>
            <a:ext cx="132588" cy="13258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3743623" y="1351062"/>
            <a:ext cx="1534954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960" b="1" dirty="0">
                <a:solidFill>
                  <a:srgbClr val="BC9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Need Difficulty Features</a:t>
            </a:r>
            <a:endParaRPr lang="en-US" sz="960" dirty="0"/>
          </a:p>
        </p:txBody>
      </p:sp>
      <p:sp>
        <p:nvSpPr>
          <p:cNvPr id="27" name="Text 23"/>
          <p:cNvSpPr/>
          <p:nvPr/>
        </p:nvSpPr>
        <p:spPr>
          <a:xfrm>
            <a:off x="3414861" y="1685627"/>
            <a:ext cx="2183904" cy="454819"/>
          </a:xfrm>
          <a:prstGeom prst="roundRect">
            <a:avLst>
              <a:gd name="adj" fmla="val 15637"/>
            </a:avLst>
          </a:prstGeom>
          <a:solidFill>
            <a:srgbClr val="BC9000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3515171" y="1756618"/>
            <a:ext cx="1171679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840" dirty="0"/>
          </a:p>
        </p:txBody>
      </p:sp>
      <p:sp>
        <p:nvSpPr>
          <p:cNvPr id="29" name="Text 25"/>
          <p:cNvSpPr/>
          <p:nvPr/>
        </p:nvSpPr>
        <p:spPr>
          <a:xfrm>
            <a:off x="3515171" y="1930450"/>
            <a:ext cx="117167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spcBef>
                <a:spcPts val="110"/>
              </a:spcBef>
              <a:buNone/>
            </a:pPr>
            <a:r>
              <a:rPr lang="en-US" sz="73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Significant drops without</a:t>
            </a:r>
            <a:endParaRPr lang="en-US" sz="730" dirty="0"/>
          </a:p>
        </p:txBody>
      </p:sp>
      <p:sp>
        <p:nvSpPr>
          <p:cNvPr id="30" name="Text 26"/>
          <p:cNvSpPr/>
          <p:nvPr/>
        </p:nvSpPr>
        <p:spPr>
          <a:xfrm>
            <a:off x="4680645" y="1816150"/>
            <a:ext cx="817811" cy="212988"/>
          </a:xfrm>
          <a:prstGeom prst="roundRect">
            <a:avLst>
              <a:gd name="adj" fmla="val 26832"/>
            </a:avLst>
          </a:prstGeom>
          <a:solidFill>
            <a:srgbClr val="BC9000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D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−0.14 → −0.29</a:t>
            </a:r>
            <a:endParaRPr lang="en-US" sz="790" dirty="0"/>
          </a:p>
        </p:txBody>
      </p:sp>
      <p:sp>
        <p:nvSpPr>
          <p:cNvPr id="31" name="Text 27"/>
          <p:cNvSpPr/>
          <p:nvPr/>
        </p:nvSpPr>
        <p:spPr>
          <a:xfrm>
            <a:off x="3414861" y="2197596"/>
            <a:ext cx="2183904" cy="454819"/>
          </a:xfrm>
          <a:prstGeom prst="roundRect">
            <a:avLst>
              <a:gd name="adj" fmla="val 15637"/>
            </a:avLst>
          </a:prstGeom>
          <a:solidFill>
            <a:srgbClr val="BC9000">
              <a:alpha val="15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3515171" y="2268587"/>
            <a:ext cx="1171679" cy="15999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8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840" dirty="0"/>
          </a:p>
        </p:txBody>
      </p:sp>
      <p:sp>
        <p:nvSpPr>
          <p:cNvPr id="33" name="Text 29"/>
          <p:cNvSpPr/>
          <p:nvPr/>
        </p:nvSpPr>
        <p:spPr>
          <a:xfrm>
            <a:off x="3515171" y="2442418"/>
            <a:ext cx="1171679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spcBef>
                <a:spcPts val="110"/>
              </a:spcBef>
              <a:buNone/>
            </a:pPr>
            <a:r>
              <a:rPr lang="en-US" sz="73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drops without</a:t>
            </a:r>
            <a:endParaRPr lang="en-US" sz="730" dirty="0"/>
          </a:p>
        </p:txBody>
      </p:sp>
      <p:sp>
        <p:nvSpPr>
          <p:cNvPr id="34" name="Text 30"/>
          <p:cNvSpPr/>
          <p:nvPr/>
        </p:nvSpPr>
        <p:spPr>
          <a:xfrm>
            <a:off x="4680645" y="2328118"/>
            <a:ext cx="817811" cy="212988"/>
          </a:xfrm>
          <a:prstGeom prst="roundRect">
            <a:avLst>
              <a:gd name="adj" fmla="val 26832"/>
            </a:avLst>
          </a:prstGeom>
          <a:solidFill>
            <a:srgbClr val="BC9000">
              <a:alpha val="20000"/>
            </a:srgbClr>
          </a:solidFill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790" b="1" dirty="0">
                <a:solidFill>
                  <a:srgbClr val="D4A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−0.09 → −0.14</a:t>
            </a:r>
            <a:endParaRPr lang="en-US" sz="790" dirty="0"/>
          </a:p>
        </p:txBody>
      </p:sp>
      <p:sp>
        <p:nvSpPr>
          <p:cNvPr id="35" name="Text 31"/>
          <p:cNvSpPr/>
          <p:nvPr/>
        </p:nvSpPr>
        <p:spPr>
          <a:xfrm>
            <a:off x="3414861" y="2752725"/>
            <a:ext cx="2183904" cy="4112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73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Tree-based models heavily depend on difficulty-weighted features for strong classification.</a:t>
            </a:r>
            <a:endParaRPr lang="en-US" sz="730" dirty="0"/>
          </a:p>
        </p:txBody>
      </p:sp>
      <p:sp>
        <p:nvSpPr>
          <p:cNvPr id="36" name="Text 32"/>
          <p:cNvSpPr/>
          <p:nvPr/>
        </p:nvSpPr>
        <p:spPr>
          <a:xfrm>
            <a:off x="3414861" y="2752725"/>
            <a:ext cx="2183904" cy="9525"/>
          </a:xfrm>
          <a:prstGeom prst="rect">
            <a:avLst/>
          </a:prstGeom>
          <a:solidFill>
            <a:srgbClr val="A8C4AF">
              <a:alpha val="1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5980361" y="1103412"/>
            <a:ext cx="2734419" cy="2450902"/>
          </a:xfrm>
          <a:prstGeom prst="roundRect">
            <a:avLst>
              <a:gd name="adj" fmla="val 4094"/>
            </a:avLst>
          </a:prstGeom>
          <a:solidFill>
            <a:srgbClr val="3D6B4A"/>
          </a:solidFill>
          <a:ln w="9525">
            <a:solidFill>
              <a:srgbClr val="A8C4AF">
                <a:alpha val="10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6206" y="1199257"/>
            <a:ext cx="2542729" cy="2259211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429220" y="3697784"/>
            <a:ext cx="8285559" cy="550962"/>
          </a:xfrm>
          <a:prstGeom prst="roundRect">
            <a:avLst>
              <a:gd name="adj" fmla="val 15674"/>
            </a:avLst>
          </a:prstGeom>
          <a:gradFill rotWithShape="1">
            <a:gsLst>
              <a:gs pos="0">
                <a:srgbClr val="BC9000">
                  <a:alpha val="8000"/>
                </a:srgbClr>
              </a:gs>
              <a:gs pos="100000">
                <a:srgbClr val="BC9000">
                  <a:alpha val="8000"/>
                </a:srgbClr>
              </a:gs>
            </a:gsLst>
            <a:lin ang="2700000" scaled="1"/>
          </a:gradFill>
          <a:ln w="9525">
            <a:solidFill>
              <a:srgbClr val="A8C4AF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2082" y="3906896"/>
            <a:ext cx="132588" cy="132588"/>
          </a:xfrm>
          <a:prstGeom prst="rect">
            <a:avLst/>
          </a:prstGeom>
        </p:spPr>
      </p:pic>
      <p:sp>
        <p:nvSpPr>
          <p:cNvPr id="41" name="Text 35"/>
          <p:cNvSpPr/>
          <p:nvPr/>
        </p:nvSpPr>
        <p:spPr>
          <a:xfrm>
            <a:off x="871686" y="3807619"/>
            <a:ext cx="7785607" cy="347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90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</a:t>
            </a: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Tree-based models leverage difficulty features heavily, while linear/kernel models achieve comparable or better performance with behavioral signals alone.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B5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71780" y="0"/>
            <a:ext cx="857250" cy="571500"/>
          </a:xfrm>
          <a:prstGeom prst="ellipse">
            <a:avLst/>
          </a:prstGeom>
          <a:gradFill rotWithShape="1">
            <a:gsLst>
              <a:gs pos="0">
                <a:srgbClr val="BC9000">
                  <a:alpha val="7000"/>
                </a:srgbClr>
              </a:gs>
              <a:gs pos="70000">
                <a:srgbClr val="1A1A1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29220" y="4500860"/>
            <a:ext cx="857250" cy="642640"/>
          </a:xfrm>
          <a:prstGeom prst="ellipse">
            <a:avLst/>
          </a:prstGeom>
          <a:gradFill rotWithShape="1">
            <a:gsLst>
              <a:gs pos="0">
                <a:srgbClr val="BC9000">
                  <a:alpha val="7000"/>
                </a:srgbClr>
              </a:gs>
              <a:gs pos="70000">
                <a:srgbClr val="1A1A1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486221"/>
            <a:ext cx="43160" cy="314920"/>
          </a:xfrm>
          <a:prstGeom prst="roundRect">
            <a:avLst>
              <a:gd name="adj" fmla="val 50023"/>
            </a:avLst>
          </a:prstGeom>
          <a:solidFill>
            <a:srgbClr val="BC900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4660" y="372070"/>
            <a:ext cx="3387642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587"/>
              </a:lnSpc>
              <a:buNone/>
            </a:pPr>
            <a:r>
              <a:rPr lang="en-US" sz="2250" kern="0" spc="-3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Makes This </a:t>
            </a:r>
            <a:r>
              <a:rPr lang="en-US" sz="2250" b="1" kern="0" spc="-30" dirty="0">
                <a:solidFill>
                  <a:srgbClr val="BC9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Unique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614660" y="743843"/>
            <a:ext cx="3482623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350"/>
              </a:lnSpc>
              <a:spcBef>
                <a:spcPts val="340"/>
              </a:spcBef>
              <a:buNone/>
            </a:pPr>
            <a:r>
              <a:rPr lang="en-US" sz="900" kern="0" spc="3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UNIQUENESS &amp; IMPLICATIONS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1173063"/>
            <a:ext cx="4029075" cy="1728043"/>
          </a:xfrm>
          <a:prstGeom prst="roundRect">
            <a:avLst>
              <a:gd name="adj" fmla="val 6614"/>
            </a:avLst>
          </a:prstGeom>
          <a:solidFill>
            <a:srgbClr val="3D6B4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961358" y="1301204"/>
            <a:ext cx="40051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BC9000">
                    <a:alpha val="8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57820" y="1401663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BC9000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8986" y="1492829"/>
            <a:ext cx="132588" cy="1325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57820" y="1802904"/>
            <a:ext cx="3990618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buNone/>
            </a:pPr>
            <a:r>
              <a:rPr lang="en-US" sz="1130" b="1" dirty="0">
                <a:solidFill>
                  <a:srgbClr val="BC9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Reframing</a:t>
            </a:r>
            <a:endParaRPr lang="en-US" sz="1130" dirty="0"/>
          </a:p>
        </p:txBody>
      </p:sp>
      <p:sp>
        <p:nvSpPr>
          <p:cNvPr id="12" name="Text 9"/>
          <p:cNvSpPr/>
          <p:nvPr/>
        </p:nvSpPr>
        <p:spPr>
          <a:xfrm>
            <a:off x="657820" y="2061270"/>
            <a:ext cx="3700391" cy="371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395"/>
              </a:lnSpc>
            </a:pPr>
            <a:r>
              <a:rPr lang="en-US" sz="90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a real study with live CofC students into a supervised ML problem using this semester’s primary data.  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4657725" y="1173063"/>
            <a:ext cx="4029075" cy="1728043"/>
          </a:xfrm>
          <a:prstGeom prst="roundRect">
            <a:avLst>
              <a:gd name="adj" fmla="val 6614"/>
            </a:avLst>
          </a:prstGeom>
          <a:solidFill>
            <a:srgbClr val="3D6B4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8161883" y="1301204"/>
            <a:ext cx="40051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BC9000">
                    <a:alpha val="8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2700" dirty="0"/>
          </a:p>
        </p:txBody>
      </p:sp>
      <p:sp>
        <p:nvSpPr>
          <p:cNvPr id="15" name="Text 12"/>
          <p:cNvSpPr/>
          <p:nvPr/>
        </p:nvSpPr>
        <p:spPr>
          <a:xfrm>
            <a:off x="4858345" y="1401663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BC9000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49511" y="1492829"/>
            <a:ext cx="132588" cy="1325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858345" y="1802904"/>
            <a:ext cx="3990618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buNone/>
            </a:pPr>
            <a:r>
              <a:rPr lang="en-US" sz="1130" b="1" dirty="0">
                <a:solidFill>
                  <a:srgbClr val="BC9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Interaction Logs as Features</a:t>
            </a:r>
            <a:endParaRPr lang="en-US" sz="1130" dirty="0"/>
          </a:p>
        </p:txBody>
      </p:sp>
      <p:sp>
        <p:nvSpPr>
          <p:cNvPr id="18" name="Text 14"/>
          <p:cNvSpPr/>
          <p:nvPr/>
        </p:nvSpPr>
        <p:spPr>
          <a:xfrm>
            <a:off x="4858345" y="2061270"/>
            <a:ext cx="3700391" cy="371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interaction log was generated by real students this semester. Demonstrates that behavioral traces from live sessions, not just grades, can predict learning outcomes.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457200" y="3072557"/>
            <a:ext cx="4029075" cy="1728043"/>
          </a:xfrm>
          <a:prstGeom prst="roundRect">
            <a:avLst>
              <a:gd name="adj" fmla="val 6614"/>
            </a:avLst>
          </a:prstGeom>
          <a:solidFill>
            <a:srgbClr val="3D6B4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3961358" y="3200698"/>
            <a:ext cx="40051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BC9000">
                    <a:alpha val="8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2700" dirty="0"/>
          </a:p>
        </p:txBody>
      </p:sp>
      <p:sp>
        <p:nvSpPr>
          <p:cNvPr id="21" name="Text 17"/>
          <p:cNvSpPr/>
          <p:nvPr/>
        </p:nvSpPr>
        <p:spPr>
          <a:xfrm>
            <a:off x="657820" y="3301157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BC9000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8986" y="3392323"/>
            <a:ext cx="132588" cy="1325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57820" y="3702397"/>
            <a:ext cx="3990618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buNone/>
            </a:pPr>
            <a:r>
              <a:rPr lang="en-US" sz="1130" b="1" dirty="0">
                <a:solidFill>
                  <a:srgbClr val="BC9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Ablation Insight</a:t>
            </a:r>
            <a:endParaRPr lang="en-US" sz="1130" dirty="0"/>
          </a:p>
        </p:txBody>
      </p:sp>
      <p:sp>
        <p:nvSpPr>
          <p:cNvPr id="24" name="Text 19"/>
          <p:cNvSpPr/>
          <p:nvPr/>
        </p:nvSpPr>
        <p:spPr>
          <a:xfrm>
            <a:off x="657820" y="3960763"/>
            <a:ext cx="3700391" cy="371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which feature categories drive model performance through systematic feature removal, isolating behavioral vs. difficulty signals.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4657725" y="3072557"/>
            <a:ext cx="4029075" cy="1728043"/>
          </a:xfrm>
          <a:prstGeom prst="roundRect">
            <a:avLst>
              <a:gd name="adj" fmla="val 6614"/>
            </a:avLst>
          </a:prstGeom>
          <a:solidFill>
            <a:srgbClr val="3D6B4A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1"/>
          <p:cNvSpPr/>
          <p:nvPr/>
        </p:nvSpPr>
        <p:spPr>
          <a:xfrm>
            <a:off x="8161883" y="3200698"/>
            <a:ext cx="400519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BC9000">
                    <a:alpha val="8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2700" dirty="0"/>
          </a:p>
        </p:txBody>
      </p:sp>
      <p:sp>
        <p:nvSpPr>
          <p:cNvPr id="27" name="Text 22"/>
          <p:cNvSpPr/>
          <p:nvPr/>
        </p:nvSpPr>
        <p:spPr>
          <a:xfrm>
            <a:off x="4858345" y="3301157"/>
            <a:ext cx="314920" cy="314920"/>
          </a:xfrm>
          <a:prstGeom prst="roundRect">
            <a:avLst>
              <a:gd name="adj" fmla="val 27423"/>
            </a:avLst>
          </a:prstGeom>
          <a:solidFill>
            <a:srgbClr val="BC9000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49511" y="3392323"/>
            <a:ext cx="132588" cy="13258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858345" y="3702397"/>
            <a:ext cx="3990618" cy="1720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6"/>
              </a:lnSpc>
              <a:buNone/>
            </a:pPr>
            <a:r>
              <a:rPr lang="en-US" sz="1130" b="1" dirty="0">
                <a:solidFill>
                  <a:srgbClr val="BC9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Practical Impact</a:t>
            </a:r>
            <a:endParaRPr lang="en-US" sz="1130" dirty="0"/>
          </a:p>
        </p:txBody>
      </p:sp>
      <p:sp>
        <p:nvSpPr>
          <p:cNvPr id="30" name="Text 24"/>
          <p:cNvSpPr/>
          <p:nvPr/>
        </p:nvSpPr>
        <p:spPr>
          <a:xfrm>
            <a:off x="4858345" y="3960763"/>
            <a:ext cx="3700391" cy="371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5"/>
              </a:lnSpc>
              <a:buNone/>
            </a:pPr>
            <a:r>
              <a:rPr lang="en-US" sz="90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real-time adaptive tutoring: detect rushing, adjust scaffolding depth, and trigger metacognitive prompts when pacing becomes erratic.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457200" y="1173063"/>
            <a:ext cx="4029075" cy="29170"/>
          </a:xfrm>
          <a:custGeom>
            <a:avLst/>
            <a:gdLst/>
            <a:ahLst/>
            <a:cxnLst/>
            <a:rect l="l" t="t" r="r" b="b"/>
            <a:pathLst>
              <a:path w="4029075" h="29170">
                <a:moveTo>
                  <a:pt x="114300" y="0"/>
                </a:moveTo>
                <a:lnTo>
                  <a:pt x="3914775" y="0"/>
                </a:lnTo>
                <a:lnTo>
                  <a:pt x="3943415" y="3646"/>
                </a:lnTo>
                <a:lnTo>
                  <a:pt x="3954948" y="7293"/>
                </a:lnTo>
                <a:lnTo>
                  <a:pt x="3963570" y="10939"/>
                </a:lnTo>
                <a:lnTo>
                  <a:pt x="3970645" y="14585"/>
                </a:lnTo>
                <a:lnTo>
                  <a:pt x="3976705" y="18231"/>
                </a:lnTo>
                <a:lnTo>
                  <a:pt x="3982025" y="21878"/>
                </a:lnTo>
                <a:lnTo>
                  <a:pt x="3986770" y="25524"/>
                </a:lnTo>
                <a:lnTo>
                  <a:pt x="3991047" y="29170"/>
                </a:lnTo>
                <a:lnTo>
                  <a:pt x="38028" y="29170"/>
                </a:lnTo>
                <a:lnTo>
                  <a:pt x="42305" y="25524"/>
                </a:lnTo>
                <a:lnTo>
                  <a:pt x="47050" y="21878"/>
                </a:lnTo>
                <a:lnTo>
                  <a:pt x="52370" y="18231"/>
                </a:lnTo>
                <a:lnTo>
                  <a:pt x="58430" y="14585"/>
                </a:lnTo>
                <a:lnTo>
                  <a:pt x="65505" y="10939"/>
                </a:lnTo>
                <a:lnTo>
                  <a:pt x="74127" y="7293"/>
                </a:lnTo>
                <a:lnTo>
                  <a:pt x="85660" y="3646"/>
                </a:lnTo>
                <a:close/>
              </a:path>
            </a:pathLst>
          </a:custGeom>
          <a:solidFill>
            <a:srgbClr val="BC900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6"/>
          <p:cNvSpPr/>
          <p:nvPr/>
        </p:nvSpPr>
        <p:spPr>
          <a:xfrm>
            <a:off x="4657725" y="1173063"/>
            <a:ext cx="4029075" cy="29170"/>
          </a:xfrm>
          <a:custGeom>
            <a:avLst/>
            <a:gdLst/>
            <a:ahLst/>
            <a:cxnLst/>
            <a:rect l="l" t="t" r="r" b="b"/>
            <a:pathLst>
              <a:path w="4029075" h="29170">
                <a:moveTo>
                  <a:pt x="114300" y="0"/>
                </a:moveTo>
                <a:lnTo>
                  <a:pt x="3914775" y="0"/>
                </a:lnTo>
                <a:lnTo>
                  <a:pt x="3943415" y="3646"/>
                </a:lnTo>
                <a:lnTo>
                  <a:pt x="3954948" y="7293"/>
                </a:lnTo>
                <a:lnTo>
                  <a:pt x="3963570" y="10939"/>
                </a:lnTo>
                <a:lnTo>
                  <a:pt x="3970645" y="14585"/>
                </a:lnTo>
                <a:lnTo>
                  <a:pt x="3976705" y="18231"/>
                </a:lnTo>
                <a:lnTo>
                  <a:pt x="3982025" y="21878"/>
                </a:lnTo>
                <a:lnTo>
                  <a:pt x="3986770" y="25524"/>
                </a:lnTo>
                <a:lnTo>
                  <a:pt x="3991047" y="29170"/>
                </a:lnTo>
                <a:lnTo>
                  <a:pt x="38028" y="29170"/>
                </a:lnTo>
                <a:lnTo>
                  <a:pt x="42305" y="25524"/>
                </a:lnTo>
                <a:lnTo>
                  <a:pt x="47050" y="21878"/>
                </a:lnTo>
                <a:lnTo>
                  <a:pt x="52370" y="18231"/>
                </a:lnTo>
                <a:lnTo>
                  <a:pt x="58430" y="14585"/>
                </a:lnTo>
                <a:lnTo>
                  <a:pt x="65505" y="10939"/>
                </a:lnTo>
                <a:lnTo>
                  <a:pt x="74127" y="7293"/>
                </a:lnTo>
                <a:lnTo>
                  <a:pt x="85660" y="3646"/>
                </a:lnTo>
                <a:close/>
              </a:path>
            </a:pathLst>
          </a:custGeom>
          <a:solidFill>
            <a:srgbClr val="BC900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7"/>
          <p:cNvSpPr/>
          <p:nvPr/>
        </p:nvSpPr>
        <p:spPr>
          <a:xfrm>
            <a:off x="457200" y="3072557"/>
            <a:ext cx="4029075" cy="29170"/>
          </a:xfrm>
          <a:custGeom>
            <a:avLst/>
            <a:gdLst/>
            <a:ahLst/>
            <a:cxnLst/>
            <a:rect l="l" t="t" r="r" b="b"/>
            <a:pathLst>
              <a:path w="4029075" h="29170">
                <a:moveTo>
                  <a:pt x="114300" y="0"/>
                </a:moveTo>
                <a:lnTo>
                  <a:pt x="3914775" y="0"/>
                </a:lnTo>
                <a:lnTo>
                  <a:pt x="3943415" y="3646"/>
                </a:lnTo>
                <a:lnTo>
                  <a:pt x="3954948" y="7293"/>
                </a:lnTo>
                <a:lnTo>
                  <a:pt x="3963570" y="10939"/>
                </a:lnTo>
                <a:lnTo>
                  <a:pt x="3970645" y="14585"/>
                </a:lnTo>
                <a:lnTo>
                  <a:pt x="3976705" y="18231"/>
                </a:lnTo>
                <a:lnTo>
                  <a:pt x="3982025" y="21878"/>
                </a:lnTo>
                <a:lnTo>
                  <a:pt x="3986770" y="25524"/>
                </a:lnTo>
                <a:lnTo>
                  <a:pt x="3991047" y="29170"/>
                </a:lnTo>
                <a:lnTo>
                  <a:pt x="38028" y="29170"/>
                </a:lnTo>
                <a:lnTo>
                  <a:pt x="42305" y="25524"/>
                </a:lnTo>
                <a:lnTo>
                  <a:pt x="47050" y="21878"/>
                </a:lnTo>
                <a:lnTo>
                  <a:pt x="52370" y="18231"/>
                </a:lnTo>
                <a:lnTo>
                  <a:pt x="58430" y="14585"/>
                </a:lnTo>
                <a:lnTo>
                  <a:pt x="65505" y="10939"/>
                </a:lnTo>
                <a:lnTo>
                  <a:pt x="74127" y="7293"/>
                </a:lnTo>
                <a:lnTo>
                  <a:pt x="85660" y="3646"/>
                </a:lnTo>
                <a:close/>
              </a:path>
            </a:pathLst>
          </a:custGeom>
          <a:solidFill>
            <a:srgbClr val="BC900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Text 28"/>
          <p:cNvSpPr/>
          <p:nvPr/>
        </p:nvSpPr>
        <p:spPr>
          <a:xfrm>
            <a:off x="4657725" y="3072557"/>
            <a:ext cx="4029075" cy="29170"/>
          </a:xfrm>
          <a:custGeom>
            <a:avLst/>
            <a:gdLst/>
            <a:ahLst/>
            <a:cxnLst/>
            <a:rect l="l" t="t" r="r" b="b"/>
            <a:pathLst>
              <a:path w="4029075" h="29170">
                <a:moveTo>
                  <a:pt x="114300" y="0"/>
                </a:moveTo>
                <a:lnTo>
                  <a:pt x="3914775" y="0"/>
                </a:lnTo>
                <a:lnTo>
                  <a:pt x="3943415" y="3646"/>
                </a:lnTo>
                <a:lnTo>
                  <a:pt x="3954948" y="7293"/>
                </a:lnTo>
                <a:lnTo>
                  <a:pt x="3963570" y="10939"/>
                </a:lnTo>
                <a:lnTo>
                  <a:pt x="3970645" y="14585"/>
                </a:lnTo>
                <a:lnTo>
                  <a:pt x="3976705" y="18231"/>
                </a:lnTo>
                <a:lnTo>
                  <a:pt x="3982025" y="21878"/>
                </a:lnTo>
                <a:lnTo>
                  <a:pt x="3986770" y="25524"/>
                </a:lnTo>
                <a:lnTo>
                  <a:pt x="3991047" y="29170"/>
                </a:lnTo>
                <a:lnTo>
                  <a:pt x="38028" y="29170"/>
                </a:lnTo>
                <a:lnTo>
                  <a:pt x="42305" y="25524"/>
                </a:lnTo>
                <a:lnTo>
                  <a:pt x="47050" y="21878"/>
                </a:lnTo>
                <a:lnTo>
                  <a:pt x="52370" y="18231"/>
                </a:lnTo>
                <a:lnTo>
                  <a:pt x="58430" y="14585"/>
                </a:lnTo>
                <a:lnTo>
                  <a:pt x="65505" y="10939"/>
                </a:lnTo>
                <a:lnTo>
                  <a:pt x="74127" y="7293"/>
                </a:lnTo>
                <a:lnTo>
                  <a:pt x="85660" y="3646"/>
                </a:lnTo>
                <a:close/>
              </a:path>
            </a:pathLst>
          </a:custGeom>
          <a:solidFill>
            <a:srgbClr val="BC900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197"/>
    </mc:Choice>
    <mc:Fallback>
      <p:transition spd="slow" advTm="21197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3">
    <p:bg>
      <p:bgPr>
        <a:solidFill>
          <a:srgbClr val="2B5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9941" y="3133279"/>
            <a:ext cx="3401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250" dirty="0">
                <a:gradFill rotWithShape="1">
                  <a:gsLst>
                    <a:gs pos="0">
                      <a:srgbClr val="BC9000"/>
                    </a:gs>
                    <a:gs pos="100000">
                      <a:srgbClr val="5C8A65"/>
                    </a:gs>
                  </a:gsLst>
                  <a:lin ang="2700000" scaled="1"/>
                </a:gra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66725" y="1137047"/>
            <a:ext cx="4024017" cy="21580"/>
          </a:xfrm>
          <a:custGeom>
            <a:avLst/>
            <a:gdLst/>
            <a:ahLst/>
            <a:cxnLst/>
            <a:rect l="l" t="t" r="r" b="b"/>
            <a:pathLst>
              <a:path w="4024017" h="21580">
                <a:moveTo>
                  <a:pt x="86360" y="0"/>
                </a:moveTo>
                <a:lnTo>
                  <a:pt x="3937657" y="0"/>
                </a:lnTo>
                <a:lnTo>
                  <a:pt x="3959073" y="2698"/>
                </a:lnTo>
                <a:lnTo>
                  <a:pt x="3967702" y="5395"/>
                </a:lnTo>
                <a:lnTo>
                  <a:pt x="3974157" y="8093"/>
                </a:lnTo>
                <a:lnTo>
                  <a:pt x="3979457" y="10790"/>
                </a:lnTo>
                <a:lnTo>
                  <a:pt x="3984000" y="13488"/>
                </a:lnTo>
                <a:lnTo>
                  <a:pt x="3987991" y="16185"/>
                </a:lnTo>
                <a:lnTo>
                  <a:pt x="3991554" y="18883"/>
                </a:lnTo>
                <a:lnTo>
                  <a:pt x="3994768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BC900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653260" y="1137047"/>
            <a:ext cx="4024017" cy="21580"/>
          </a:xfrm>
          <a:custGeom>
            <a:avLst/>
            <a:gdLst/>
            <a:ahLst/>
            <a:cxnLst/>
            <a:rect l="l" t="t" r="r" b="b"/>
            <a:pathLst>
              <a:path w="4024017" h="21580">
                <a:moveTo>
                  <a:pt x="86360" y="0"/>
                </a:moveTo>
                <a:lnTo>
                  <a:pt x="3937657" y="0"/>
                </a:lnTo>
                <a:lnTo>
                  <a:pt x="3959073" y="2698"/>
                </a:lnTo>
                <a:lnTo>
                  <a:pt x="3967702" y="5395"/>
                </a:lnTo>
                <a:lnTo>
                  <a:pt x="3974157" y="8093"/>
                </a:lnTo>
                <a:lnTo>
                  <a:pt x="3979457" y="10790"/>
                </a:lnTo>
                <a:lnTo>
                  <a:pt x="3984000" y="13488"/>
                </a:lnTo>
                <a:lnTo>
                  <a:pt x="3987991" y="16185"/>
                </a:lnTo>
                <a:lnTo>
                  <a:pt x="3991554" y="18883"/>
                </a:lnTo>
                <a:lnTo>
                  <a:pt x="3994768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BC900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66725" y="2932658"/>
            <a:ext cx="4024017" cy="21580"/>
          </a:xfrm>
          <a:custGeom>
            <a:avLst/>
            <a:gdLst/>
            <a:ahLst/>
            <a:cxnLst/>
            <a:rect l="l" t="t" r="r" b="b"/>
            <a:pathLst>
              <a:path w="4024017" h="21580">
                <a:moveTo>
                  <a:pt x="86360" y="0"/>
                </a:moveTo>
                <a:lnTo>
                  <a:pt x="3937657" y="0"/>
                </a:lnTo>
                <a:lnTo>
                  <a:pt x="3959073" y="2698"/>
                </a:lnTo>
                <a:lnTo>
                  <a:pt x="3967702" y="5395"/>
                </a:lnTo>
                <a:lnTo>
                  <a:pt x="3974157" y="8093"/>
                </a:lnTo>
                <a:lnTo>
                  <a:pt x="3979457" y="10790"/>
                </a:lnTo>
                <a:lnTo>
                  <a:pt x="3984000" y="13488"/>
                </a:lnTo>
                <a:lnTo>
                  <a:pt x="3987991" y="16185"/>
                </a:lnTo>
                <a:lnTo>
                  <a:pt x="3991554" y="18883"/>
                </a:lnTo>
                <a:lnTo>
                  <a:pt x="3994768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BC900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653260" y="2932658"/>
            <a:ext cx="4024017" cy="21580"/>
          </a:xfrm>
          <a:custGeom>
            <a:avLst/>
            <a:gdLst/>
            <a:ahLst/>
            <a:cxnLst/>
            <a:rect l="l" t="t" r="r" b="b"/>
            <a:pathLst>
              <a:path w="4024017" h="21580">
                <a:moveTo>
                  <a:pt x="86360" y="0"/>
                </a:moveTo>
                <a:lnTo>
                  <a:pt x="3937657" y="0"/>
                </a:lnTo>
                <a:lnTo>
                  <a:pt x="3959073" y="2698"/>
                </a:lnTo>
                <a:lnTo>
                  <a:pt x="3967702" y="5395"/>
                </a:lnTo>
                <a:lnTo>
                  <a:pt x="3974157" y="8093"/>
                </a:lnTo>
                <a:lnTo>
                  <a:pt x="3979457" y="10790"/>
                </a:lnTo>
                <a:lnTo>
                  <a:pt x="3984000" y="13488"/>
                </a:lnTo>
                <a:lnTo>
                  <a:pt x="3987991" y="16185"/>
                </a:lnTo>
                <a:lnTo>
                  <a:pt x="3991554" y="18883"/>
                </a:lnTo>
                <a:lnTo>
                  <a:pt x="3994768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BC9000">
                  <a:alpha val="70000"/>
                </a:srgbClr>
              </a:gs>
              <a:gs pos="100000">
                <a:srgbClr val="5C8A65">
                  <a:alpha val="7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BC9000">
                  <a:alpha val="4000"/>
                </a:srgbClr>
              </a:gs>
              <a:gs pos="100000">
                <a:srgbClr val="1A1A1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0" y="0"/>
            <a:ext cx="2286000" cy="2286000"/>
          </a:xfrm>
          <a:prstGeom prst="rect">
            <a:avLst/>
          </a:prstGeom>
          <a:gradFill rotWithShape="1">
            <a:gsLst>
              <a:gs pos="0">
                <a:srgbClr val="BC9000">
                  <a:alpha val="8000"/>
                </a:srgbClr>
              </a:gs>
              <a:gs pos="70000">
                <a:srgbClr val="1A1A1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57200" y="342900"/>
            <a:ext cx="905256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70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730" dirty="0"/>
          </a:p>
        </p:txBody>
      </p:sp>
      <p:sp>
        <p:nvSpPr>
          <p:cNvPr id="10" name="Text 8"/>
          <p:cNvSpPr/>
          <p:nvPr/>
        </p:nvSpPr>
        <p:spPr>
          <a:xfrm>
            <a:off x="457200" y="525066"/>
            <a:ext cx="8805672" cy="344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14"/>
              </a:lnSpc>
              <a:spcAft>
                <a:spcPts val="2030"/>
              </a:spcAft>
              <a:buNone/>
            </a:pPr>
            <a:r>
              <a:rPr lang="en-US" sz="236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Takeaways</a:t>
            </a:r>
            <a:endParaRPr lang="en-US" sz="2360" dirty="0"/>
          </a:p>
        </p:txBody>
      </p:sp>
      <p:sp>
        <p:nvSpPr>
          <p:cNvPr id="11" name="Text 9"/>
          <p:cNvSpPr/>
          <p:nvPr/>
        </p:nvSpPr>
        <p:spPr>
          <a:xfrm>
            <a:off x="457200" y="1127522"/>
            <a:ext cx="4043065" cy="1652141"/>
          </a:xfrm>
          <a:prstGeom prst="roundRect">
            <a:avLst>
              <a:gd name="adj" fmla="val 5227"/>
            </a:avLst>
          </a:prstGeom>
          <a:solidFill>
            <a:srgbClr val="3D6B4A"/>
          </a:solidFill>
          <a:ln w="9525">
            <a:solidFill>
              <a:srgbClr val="A8C4AF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67345" y="1337667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BC9000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852" y="1414174"/>
            <a:ext cx="132588" cy="13258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053405" y="1337667"/>
            <a:ext cx="3401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dirty="0">
                <a:solidFill>
                  <a:srgbClr val="BC9000">
                    <a:alpha val="9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01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667345" y="1723727"/>
            <a:ext cx="3695230" cy="396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8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28,600 lines of raw interaction logs from real CofC students </a:t>
            </a:r>
            <a:r>
              <a:rPr lang="en-US" sz="96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reliably predict quiz performance</a:t>
            </a: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behavioral fingerprint of scaffolded learning is not just observable, it’s predictable.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>
            <a:off x="4643735" y="1127522"/>
            <a:ext cx="4043065" cy="1652141"/>
          </a:xfrm>
          <a:prstGeom prst="roundRect">
            <a:avLst>
              <a:gd name="adj" fmla="val 5227"/>
            </a:avLst>
          </a:prstGeom>
          <a:solidFill>
            <a:srgbClr val="3D6B4A"/>
          </a:solidFill>
          <a:ln w="9525">
            <a:solidFill>
              <a:srgbClr val="A8C4AF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4853880" y="1337667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BC9000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30387" y="1414174"/>
            <a:ext cx="132588" cy="13258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239941" y="1337667"/>
            <a:ext cx="3401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dirty="0">
                <a:solidFill>
                  <a:srgbClr val="BC9000">
                    <a:alpha val="9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02</a:t>
            </a:r>
            <a:endParaRPr lang="en-US" sz="2250" dirty="0"/>
          </a:p>
        </p:txBody>
      </p:sp>
      <p:sp>
        <p:nvSpPr>
          <p:cNvPr id="20" name="Text 16"/>
          <p:cNvSpPr/>
          <p:nvPr/>
        </p:nvSpPr>
        <p:spPr>
          <a:xfrm>
            <a:off x="4853880" y="1723727"/>
            <a:ext cx="3695230" cy="396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8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achieves best performance: </a:t>
            </a:r>
            <a:r>
              <a:rPr lang="en-US" sz="96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 test accuracy</a:t>
            </a: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6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 AUC-ROC</a:t>
            </a: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5 engineered features.</a:t>
            </a:r>
            <a:endParaRPr lang="en-US" sz="960" dirty="0"/>
          </a:p>
        </p:txBody>
      </p:sp>
      <p:sp>
        <p:nvSpPr>
          <p:cNvPr id="21" name="Text 17"/>
          <p:cNvSpPr/>
          <p:nvPr/>
        </p:nvSpPr>
        <p:spPr>
          <a:xfrm>
            <a:off x="457200" y="2923133"/>
            <a:ext cx="4043065" cy="1652141"/>
          </a:xfrm>
          <a:prstGeom prst="roundRect">
            <a:avLst>
              <a:gd name="adj" fmla="val 5227"/>
            </a:avLst>
          </a:prstGeom>
          <a:solidFill>
            <a:srgbClr val="3D6B4A"/>
          </a:solidFill>
          <a:ln w="9525">
            <a:solidFill>
              <a:srgbClr val="A8C4AF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/>
          <p:cNvSpPr/>
          <p:nvPr/>
        </p:nvSpPr>
        <p:spPr>
          <a:xfrm>
            <a:off x="667345" y="3133279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BC9000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3852" y="3209785"/>
            <a:ext cx="132588" cy="13258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53405" y="3133279"/>
            <a:ext cx="3401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dirty="0">
                <a:solidFill>
                  <a:srgbClr val="BC9000">
                    <a:alpha val="9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03</a:t>
            </a:r>
            <a:endParaRPr lang="en-US" sz="2250" dirty="0"/>
          </a:p>
        </p:txBody>
      </p:sp>
      <p:sp>
        <p:nvSpPr>
          <p:cNvPr id="25" name="Text 20"/>
          <p:cNvSpPr/>
          <p:nvPr/>
        </p:nvSpPr>
        <p:spPr>
          <a:xfrm>
            <a:off x="667345" y="3519339"/>
            <a:ext cx="3695230" cy="396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8"/>
              </a:lnSpc>
              <a:buNone/>
            </a:pPr>
            <a:r>
              <a:rPr lang="en-US" sz="96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6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correctness</a:t>
            </a: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and </a:t>
            </a:r>
            <a:r>
              <a:rPr lang="en-US" sz="96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timing</a:t>
            </a: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emerge as the strongest predictors of student outcomes.</a:t>
            </a:r>
            <a:endParaRPr lang="en-US" sz="960" dirty="0"/>
          </a:p>
        </p:txBody>
      </p:sp>
      <p:sp>
        <p:nvSpPr>
          <p:cNvPr id="26" name="Text 21"/>
          <p:cNvSpPr/>
          <p:nvPr/>
        </p:nvSpPr>
        <p:spPr>
          <a:xfrm>
            <a:off x="4643735" y="2923133"/>
            <a:ext cx="4043065" cy="1652141"/>
          </a:xfrm>
          <a:prstGeom prst="roundRect">
            <a:avLst>
              <a:gd name="adj" fmla="val 5227"/>
            </a:avLst>
          </a:prstGeom>
          <a:solidFill>
            <a:srgbClr val="3D6B4A"/>
          </a:solidFill>
          <a:ln w="9525">
            <a:solidFill>
              <a:srgbClr val="A8C4AF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2"/>
          <p:cNvSpPr/>
          <p:nvPr/>
        </p:nvSpPr>
        <p:spPr>
          <a:xfrm>
            <a:off x="4853880" y="3133279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5C8A65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30387" y="3209785"/>
            <a:ext cx="132588" cy="132588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4853880" y="3519339"/>
            <a:ext cx="3695230" cy="594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8"/>
              </a:lnSpc>
              <a:buNone/>
            </a:pPr>
            <a:r>
              <a:rPr lang="en-US" sz="96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directions:</a:t>
            </a: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sequence models (LSTM/Transformers) for temporal dynamics, larger datasets, and real-time intervention systems.</a:t>
            </a:r>
            <a:endParaRPr lang="en-US" sz="960" dirty="0"/>
          </a:p>
        </p:txBody>
      </p:sp>
      <p:sp>
        <p:nvSpPr>
          <p:cNvPr id="30" name="Text 24"/>
          <p:cNvSpPr/>
          <p:nvPr/>
        </p:nvSpPr>
        <p:spPr>
          <a:xfrm>
            <a:off x="457200" y="4781252"/>
            <a:ext cx="342900" cy="13841"/>
          </a:xfrm>
          <a:prstGeom prst="roundRect">
            <a:avLst>
              <a:gd name="adj" fmla="val 55054"/>
            </a:avLst>
          </a:prstGeom>
          <a:solidFill>
            <a:srgbClr val="BC900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5"/>
          <p:cNvSpPr/>
          <p:nvPr/>
        </p:nvSpPr>
        <p:spPr>
          <a:xfrm>
            <a:off x="886420" y="4718745"/>
            <a:ext cx="366679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Novice Programmer Performance from AI-Tutor Interaction Logs</a:t>
            </a:r>
            <a:endParaRPr lang="en-US" sz="73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5702"/>
    </mc:Choice>
    <mc:Fallback>
      <p:transition spd="slow" advTm="65702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B523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F90D70-EBA3-C15A-9F0F-458B094E2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2C31A12-DD8B-1C48-DFB1-B959B5F3F8ED}"/>
              </a:ext>
            </a:extLst>
          </p:cNvPr>
          <p:cNvSpPr/>
          <p:nvPr/>
        </p:nvSpPr>
        <p:spPr>
          <a:xfrm>
            <a:off x="5239941" y="3133279"/>
            <a:ext cx="3401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2250" dirty="0">
                <a:gradFill rotWithShape="1">
                  <a:gsLst>
                    <a:gs pos="0">
                      <a:srgbClr val="BC9000"/>
                    </a:gs>
                    <a:gs pos="100000">
                      <a:srgbClr val="5C8A65"/>
                    </a:gs>
                  </a:gsLst>
                  <a:lin ang="2700000" scaled="1"/>
                </a:gra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04</a:t>
            </a:r>
            <a:endParaRPr lang="en-US" sz="225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807F37A-197E-7E84-31A0-53EE4391B10E}"/>
              </a:ext>
            </a:extLst>
          </p:cNvPr>
          <p:cNvSpPr/>
          <p:nvPr/>
        </p:nvSpPr>
        <p:spPr>
          <a:xfrm>
            <a:off x="466725" y="1137047"/>
            <a:ext cx="4024017" cy="21580"/>
          </a:xfrm>
          <a:custGeom>
            <a:avLst/>
            <a:gdLst/>
            <a:ahLst/>
            <a:cxnLst/>
            <a:rect l="l" t="t" r="r" b="b"/>
            <a:pathLst>
              <a:path w="4024017" h="21580">
                <a:moveTo>
                  <a:pt x="86360" y="0"/>
                </a:moveTo>
                <a:lnTo>
                  <a:pt x="3937657" y="0"/>
                </a:lnTo>
                <a:lnTo>
                  <a:pt x="3959073" y="2698"/>
                </a:lnTo>
                <a:lnTo>
                  <a:pt x="3967702" y="5395"/>
                </a:lnTo>
                <a:lnTo>
                  <a:pt x="3974157" y="8093"/>
                </a:lnTo>
                <a:lnTo>
                  <a:pt x="3979457" y="10790"/>
                </a:lnTo>
                <a:lnTo>
                  <a:pt x="3984000" y="13488"/>
                </a:lnTo>
                <a:lnTo>
                  <a:pt x="3987991" y="16185"/>
                </a:lnTo>
                <a:lnTo>
                  <a:pt x="3991554" y="18883"/>
                </a:lnTo>
                <a:lnTo>
                  <a:pt x="3994768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BC900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03D743B-5A7E-6CA9-9099-9BBBD5EE727B}"/>
              </a:ext>
            </a:extLst>
          </p:cNvPr>
          <p:cNvSpPr/>
          <p:nvPr/>
        </p:nvSpPr>
        <p:spPr>
          <a:xfrm>
            <a:off x="4653260" y="1137047"/>
            <a:ext cx="4024017" cy="21580"/>
          </a:xfrm>
          <a:custGeom>
            <a:avLst/>
            <a:gdLst/>
            <a:ahLst/>
            <a:cxnLst/>
            <a:rect l="l" t="t" r="r" b="b"/>
            <a:pathLst>
              <a:path w="4024017" h="21580">
                <a:moveTo>
                  <a:pt x="86360" y="0"/>
                </a:moveTo>
                <a:lnTo>
                  <a:pt x="3937657" y="0"/>
                </a:lnTo>
                <a:lnTo>
                  <a:pt x="3959073" y="2698"/>
                </a:lnTo>
                <a:lnTo>
                  <a:pt x="3967702" y="5395"/>
                </a:lnTo>
                <a:lnTo>
                  <a:pt x="3974157" y="8093"/>
                </a:lnTo>
                <a:lnTo>
                  <a:pt x="3979457" y="10790"/>
                </a:lnTo>
                <a:lnTo>
                  <a:pt x="3984000" y="13488"/>
                </a:lnTo>
                <a:lnTo>
                  <a:pt x="3987991" y="16185"/>
                </a:lnTo>
                <a:lnTo>
                  <a:pt x="3991554" y="18883"/>
                </a:lnTo>
                <a:lnTo>
                  <a:pt x="3994768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BC900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CC77869-408C-E915-A34D-6733C16026C1}"/>
              </a:ext>
            </a:extLst>
          </p:cNvPr>
          <p:cNvSpPr/>
          <p:nvPr/>
        </p:nvSpPr>
        <p:spPr>
          <a:xfrm>
            <a:off x="466725" y="2932658"/>
            <a:ext cx="4024017" cy="21580"/>
          </a:xfrm>
          <a:custGeom>
            <a:avLst/>
            <a:gdLst/>
            <a:ahLst/>
            <a:cxnLst/>
            <a:rect l="l" t="t" r="r" b="b"/>
            <a:pathLst>
              <a:path w="4024017" h="21580">
                <a:moveTo>
                  <a:pt x="86360" y="0"/>
                </a:moveTo>
                <a:lnTo>
                  <a:pt x="3937657" y="0"/>
                </a:lnTo>
                <a:lnTo>
                  <a:pt x="3959073" y="2698"/>
                </a:lnTo>
                <a:lnTo>
                  <a:pt x="3967702" y="5395"/>
                </a:lnTo>
                <a:lnTo>
                  <a:pt x="3974157" y="8093"/>
                </a:lnTo>
                <a:lnTo>
                  <a:pt x="3979457" y="10790"/>
                </a:lnTo>
                <a:lnTo>
                  <a:pt x="3984000" y="13488"/>
                </a:lnTo>
                <a:lnTo>
                  <a:pt x="3987991" y="16185"/>
                </a:lnTo>
                <a:lnTo>
                  <a:pt x="3991554" y="18883"/>
                </a:lnTo>
                <a:lnTo>
                  <a:pt x="3994768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solidFill>
            <a:srgbClr val="BC9000">
              <a:alpha val="7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084C6DF-0EBA-F14A-4F43-F6F01BB2FBFE}"/>
              </a:ext>
            </a:extLst>
          </p:cNvPr>
          <p:cNvSpPr/>
          <p:nvPr/>
        </p:nvSpPr>
        <p:spPr>
          <a:xfrm>
            <a:off x="4653260" y="2932658"/>
            <a:ext cx="4024017" cy="21580"/>
          </a:xfrm>
          <a:custGeom>
            <a:avLst/>
            <a:gdLst/>
            <a:ahLst/>
            <a:cxnLst/>
            <a:rect l="l" t="t" r="r" b="b"/>
            <a:pathLst>
              <a:path w="4024017" h="21580">
                <a:moveTo>
                  <a:pt x="86360" y="0"/>
                </a:moveTo>
                <a:lnTo>
                  <a:pt x="3937657" y="0"/>
                </a:lnTo>
                <a:lnTo>
                  <a:pt x="3959073" y="2698"/>
                </a:lnTo>
                <a:lnTo>
                  <a:pt x="3967702" y="5395"/>
                </a:lnTo>
                <a:lnTo>
                  <a:pt x="3974157" y="8093"/>
                </a:lnTo>
                <a:lnTo>
                  <a:pt x="3979457" y="10790"/>
                </a:lnTo>
                <a:lnTo>
                  <a:pt x="3984000" y="13488"/>
                </a:lnTo>
                <a:lnTo>
                  <a:pt x="3987991" y="16185"/>
                </a:lnTo>
                <a:lnTo>
                  <a:pt x="3991554" y="18883"/>
                </a:lnTo>
                <a:lnTo>
                  <a:pt x="3994768" y="21580"/>
                </a:lnTo>
                <a:lnTo>
                  <a:pt x="29250" y="21580"/>
                </a:lnTo>
                <a:lnTo>
                  <a:pt x="32463" y="18883"/>
                </a:lnTo>
                <a:lnTo>
                  <a:pt x="36026" y="16185"/>
                </a:lnTo>
                <a:lnTo>
                  <a:pt x="40017" y="13488"/>
                </a:lnTo>
                <a:lnTo>
                  <a:pt x="44560" y="10790"/>
                </a:lnTo>
                <a:lnTo>
                  <a:pt x="49860" y="8093"/>
                </a:lnTo>
                <a:lnTo>
                  <a:pt x="56315" y="5395"/>
                </a:lnTo>
                <a:lnTo>
                  <a:pt x="64944" y="2698"/>
                </a:lnTo>
                <a:close/>
              </a:path>
            </a:pathLst>
          </a:custGeom>
          <a:gradFill rotWithShape="1">
            <a:gsLst>
              <a:gs pos="0">
                <a:srgbClr val="BC9000">
                  <a:alpha val="70000"/>
                </a:srgbClr>
              </a:gs>
              <a:gs pos="100000">
                <a:srgbClr val="5C8A65">
                  <a:alpha val="70000"/>
                </a:srgbClr>
              </a:gs>
            </a:gsLst>
            <a:lin ang="0" scaled="1"/>
          </a:gra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766CFBA-50E0-569C-22D4-5B81F5D8C128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BC9000">
                  <a:alpha val="4000"/>
                </a:srgbClr>
              </a:gs>
              <a:gs pos="100000">
                <a:srgbClr val="1A1A1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12ADB75-EF05-6A51-761C-841DF306C0E3}"/>
              </a:ext>
            </a:extLst>
          </p:cNvPr>
          <p:cNvSpPr/>
          <p:nvPr/>
        </p:nvSpPr>
        <p:spPr>
          <a:xfrm>
            <a:off x="0" y="0"/>
            <a:ext cx="2286000" cy="2286000"/>
          </a:xfrm>
          <a:prstGeom prst="rect">
            <a:avLst/>
          </a:prstGeom>
          <a:gradFill rotWithShape="1">
            <a:gsLst>
              <a:gs pos="0">
                <a:srgbClr val="BC9000">
                  <a:alpha val="8000"/>
                </a:srgbClr>
              </a:gs>
              <a:gs pos="70000">
                <a:srgbClr val="1A1A1A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F857F40-7FD3-1626-87BF-20ADA46D761E}"/>
              </a:ext>
            </a:extLst>
          </p:cNvPr>
          <p:cNvSpPr/>
          <p:nvPr/>
        </p:nvSpPr>
        <p:spPr>
          <a:xfrm>
            <a:off x="457200" y="342900"/>
            <a:ext cx="9052560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b="1" kern="0" spc="170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WORK</a:t>
            </a:r>
            <a:endParaRPr lang="en-US" sz="73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1DC2368-C8AD-9C6A-71CC-EF32179B325E}"/>
              </a:ext>
            </a:extLst>
          </p:cNvPr>
          <p:cNvSpPr/>
          <p:nvPr/>
        </p:nvSpPr>
        <p:spPr>
          <a:xfrm>
            <a:off x="457200" y="525066"/>
            <a:ext cx="8805672" cy="344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14"/>
              </a:lnSpc>
              <a:spcAft>
                <a:spcPts val="2030"/>
              </a:spcAft>
              <a:buNone/>
            </a:pPr>
            <a:r>
              <a:rPr lang="en-US" sz="236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Key Takeaways</a:t>
            </a:r>
            <a:endParaRPr lang="en-US" sz="236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86C4446-CAA1-34D3-EC70-C7167B4D35DB}"/>
              </a:ext>
            </a:extLst>
          </p:cNvPr>
          <p:cNvSpPr/>
          <p:nvPr/>
        </p:nvSpPr>
        <p:spPr>
          <a:xfrm>
            <a:off x="457200" y="1127522"/>
            <a:ext cx="4043065" cy="1652141"/>
          </a:xfrm>
          <a:prstGeom prst="roundRect">
            <a:avLst>
              <a:gd name="adj" fmla="val 5227"/>
            </a:avLst>
          </a:prstGeom>
          <a:solidFill>
            <a:srgbClr val="3D6B4A"/>
          </a:solidFill>
          <a:ln w="9525">
            <a:solidFill>
              <a:srgbClr val="A8C4AF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FC971624-3DFC-5F1B-B317-678217E59B94}"/>
              </a:ext>
            </a:extLst>
          </p:cNvPr>
          <p:cNvSpPr/>
          <p:nvPr/>
        </p:nvSpPr>
        <p:spPr>
          <a:xfrm>
            <a:off x="667345" y="1337667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BC9000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0" descr="preencoded.png">
            <a:extLst>
              <a:ext uri="{FF2B5EF4-FFF2-40B4-BE49-F238E27FC236}">
                <a16:creationId xmlns:a16="http://schemas.microsoft.com/office/drawing/2014/main" id="{27B7847E-314D-340C-4B89-2B42730C36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43852" y="1414174"/>
            <a:ext cx="132588" cy="132588"/>
          </a:xfrm>
          <a:prstGeom prst="rect">
            <a:avLst/>
          </a:prstGeom>
        </p:spPr>
      </p:pic>
      <p:sp>
        <p:nvSpPr>
          <p:cNvPr id="14" name="Text 11">
            <a:extLst>
              <a:ext uri="{FF2B5EF4-FFF2-40B4-BE49-F238E27FC236}">
                <a16:creationId xmlns:a16="http://schemas.microsoft.com/office/drawing/2014/main" id="{3315EB84-3AAE-0CB8-C60F-6F406F94ED17}"/>
              </a:ext>
            </a:extLst>
          </p:cNvPr>
          <p:cNvSpPr/>
          <p:nvPr/>
        </p:nvSpPr>
        <p:spPr>
          <a:xfrm>
            <a:off x="1053405" y="1337667"/>
            <a:ext cx="3401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BC9000">
                    <a:alpha val="90000"/>
                  </a:srgbClr>
                </a:solidFill>
                <a:latin typeface="Calibri Light" pitchFamily="34" charset="0"/>
                <a:cs typeface="Calibri Light" pitchFamily="34" charset="-120"/>
              </a:rPr>
              <a:t>Behavioral data predicts outcomes</a:t>
            </a:r>
            <a:endParaRPr lang="en-US" sz="16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E919D39-9527-0213-10F4-D7DD64E6C454}"/>
              </a:ext>
            </a:extLst>
          </p:cNvPr>
          <p:cNvSpPr/>
          <p:nvPr/>
        </p:nvSpPr>
        <p:spPr>
          <a:xfrm>
            <a:off x="674204" y="1811335"/>
            <a:ext cx="3695230" cy="396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8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28,600 lines of real student interaction logs demonstrate that </a:t>
            </a:r>
            <a:r>
              <a:rPr lang="en-US" sz="960" b="1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scaffolded learning behavior is both observable and predictable</a:t>
            </a: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AUC confirms the model consistently ranks high- and low-performing student across all thresholds.</a:t>
            </a:r>
            <a:endParaRPr lang="en-US" sz="96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4F5E27A0-6B95-AADF-A0CE-5715C2044E02}"/>
              </a:ext>
            </a:extLst>
          </p:cNvPr>
          <p:cNvSpPr/>
          <p:nvPr/>
        </p:nvSpPr>
        <p:spPr>
          <a:xfrm>
            <a:off x="4643735" y="1127522"/>
            <a:ext cx="4043065" cy="1652141"/>
          </a:xfrm>
          <a:prstGeom prst="roundRect">
            <a:avLst>
              <a:gd name="adj" fmla="val 5227"/>
            </a:avLst>
          </a:prstGeom>
          <a:solidFill>
            <a:srgbClr val="3D6B4A"/>
          </a:solidFill>
          <a:ln w="9525">
            <a:solidFill>
              <a:srgbClr val="A8C4AF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E01374E5-90D9-15A3-264E-A716393F98AC}"/>
              </a:ext>
            </a:extLst>
          </p:cNvPr>
          <p:cNvSpPr/>
          <p:nvPr/>
        </p:nvSpPr>
        <p:spPr>
          <a:xfrm>
            <a:off x="4853880" y="1337667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BC9000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1" descr="preencoded.png">
            <a:extLst>
              <a:ext uri="{FF2B5EF4-FFF2-40B4-BE49-F238E27FC236}">
                <a16:creationId xmlns:a16="http://schemas.microsoft.com/office/drawing/2014/main" id="{D4E26E56-22FE-7A91-A15B-93E449052D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30387" y="1414174"/>
            <a:ext cx="132588" cy="132588"/>
          </a:xfrm>
          <a:prstGeom prst="rect">
            <a:avLst/>
          </a:prstGeom>
        </p:spPr>
      </p:pic>
      <p:sp>
        <p:nvSpPr>
          <p:cNvPr id="19" name="Text 15">
            <a:extLst>
              <a:ext uri="{FF2B5EF4-FFF2-40B4-BE49-F238E27FC236}">
                <a16:creationId xmlns:a16="http://schemas.microsoft.com/office/drawing/2014/main" id="{05ECC139-6798-EC83-14F6-D0B802BF6F0E}"/>
              </a:ext>
            </a:extLst>
          </p:cNvPr>
          <p:cNvSpPr/>
          <p:nvPr/>
        </p:nvSpPr>
        <p:spPr>
          <a:xfrm>
            <a:off x="5239941" y="1337667"/>
            <a:ext cx="3401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BC9000">
                    <a:alpha val="90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Boosting and SVM fit this dataset</a:t>
            </a:r>
            <a:endParaRPr lang="en-US" sz="16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6D2D259E-EE10-6720-66BA-23F974EBD693}"/>
              </a:ext>
            </a:extLst>
          </p:cNvPr>
          <p:cNvSpPr/>
          <p:nvPr/>
        </p:nvSpPr>
        <p:spPr>
          <a:xfrm>
            <a:off x="4853880" y="1723727"/>
            <a:ext cx="3695230" cy="396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8"/>
              </a:lnSpc>
              <a:buNone/>
            </a:pP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 achieves best performance: </a:t>
            </a:r>
            <a:r>
              <a:rPr lang="en-US" sz="96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0.67 test accuracy</a:t>
            </a: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96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 AUC-ROC</a:t>
            </a: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5 engineered features. SVM (RBG)  was the next best performer, by finding a nonlinear boundary with maximum margin. Because this dataset doesn’t have a linear boundary, Logistic Regression underperforms, and Random Forest needs more data for split stability.</a:t>
            </a:r>
            <a:endParaRPr lang="en-US" sz="960" dirty="0"/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2FD3C91E-178A-6829-E07A-214AFBF185B9}"/>
              </a:ext>
            </a:extLst>
          </p:cNvPr>
          <p:cNvSpPr/>
          <p:nvPr/>
        </p:nvSpPr>
        <p:spPr>
          <a:xfrm>
            <a:off x="457200" y="2923133"/>
            <a:ext cx="4043065" cy="1652141"/>
          </a:xfrm>
          <a:prstGeom prst="roundRect">
            <a:avLst>
              <a:gd name="adj" fmla="val 5227"/>
            </a:avLst>
          </a:prstGeom>
          <a:solidFill>
            <a:srgbClr val="3D6B4A"/>
          </a:solidFill>
          <a:ln w="9525">
            <a:solidFill>
              <a:srgbClr val="A8C4AF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5BFA11C6-BBE6-770D-F47C-0627BF974BD4}"/>
              </a:ext>
            </a:extLst>
          </p:cNvPr>
          <p:cNvSpPr/>
          <p:nvPr/>
        </p:nvSpPr>
        <p:spPr>
          <a:xfrm>
            <a:off x="667345" y="3133279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BC9000">
              <a:alpha val="10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2" descr="preencoded.png">
            <a:extLst>
              <a:ext uri="{FF2B5EF4-FFF2-40B4-BE49-F238E27FC236}">
                <a16:creationId xmlns:a16="http://schemas.microsoft.com/office/drawing/2014/main" id="{1BB7B49A-DBEF-C921-A96A-467456291D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3852" y="3209785"/>
            <a:ext cx="132588" cy="132588"/>
          </a:xfrm>
          <a:prstGeom prst="rect">
            <a:avLst/>
          </a:prstGeom>
        </p:spPr>
      </p:pic>
      <p:sp>
        <p:nvSpPr>
          <p:cNvPr id="24" name="Text 19">
            <a:extLst>
              <a:ext uri="{FF2B5EF4-FFF2-40B4-BE49-F238E27FC236}">
                <a16:creationId xmlns:a16="http://schemas.microsoft.com/office/drawing/2014/main" id="{EDAD3B32-F3B7-A6EC-8681-041B13BCE0BD}"/>
              </a:ext>
            </a:extLst>
          </p:cNvPr>
          <p:cNvSpPr/>
          <p:nvPr/>
        </p:nvSpPr>
        <p:spPr>
          <a:xfrm>
            <a:off x="1053405" y="3133279"/>
            <a:ext cx="3401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BC9000">
                    <a:alpha val="90000"/>
                  </a:srgbClr>
                </a:solidFill>
                <a:latin typeface="Calibri Light" pitchFamily="34" charset="0"/>
                <a:cs typeface="Calibri Light" pitchFamily="34" charset="-120"/>
              </a:rPr>
              <a:t>Duration, Timing &amp; Message Counts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en-US" sz="1600" dirty="0">
                <a:solidFill>
                  <a:srgbClr val="BC9000">
                    <a:alpha val="90000"/>
                  </a:srgbClr>
                </a:solidFill>
                <a:latin typeface="Calibri Light" pitchFamily="34" charset="0"/>
                <a:cs typeface="Calibri Light" pitchFamily="34" charset="-120"/>
              </a:rPr>
              <a:t>drive predictions</a:t>
            </a:r>
            <a:endParaRPr lang="en-US" sz="1600" dirty="0"/>
          </a:p>
        </p:txBody>
      </p:sp>
      <p:sp>
        <p:nvSpPr>
          <p:cNvPr id="25" name="Text 20">
            <a:extLst>
              <a:ext uri="{FF2B5EF4-FFF2-40B4-BE49-F238E27FC236}">
                <a16:creationId xmlns:a16="http://schemas.microsoft.com/office/drawing/2014/main" id="{A6A98A20-ED7E-883C-C582-07A9A6663D3C}"/>
              </a:ext>
            </a:extLst>
          </p:cNvPr>
          <p:cNvSpPr/>
          <p:nvPr/>
        </p:nvSpPr>
        <p:spPr>
          <a:xfrm>
            <a:off x="667345" y="3631125"/>
            <a:ext cx="3695230" cy="3966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8"/>
              </a:lnSpc>
              <a:buNone/>
            </a:pPr>
            <a:r>
              <a:rPr lang="en-US" sz="96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results reveal a consistent global pattern: these. 3 features affect predictions more than any others. </a:t>
            </a:r>
            <a:endParaRPr lang="en-US" sz="960" dirty="0"/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3B38E2D7-09A6-5E4B-3339-30C4B5549F23}"/>
              </a:ext>
            </a:extLst>
          </p:cNvPr>
          <p:cNvSpPr/>
          <p:nvPr/>
        </p:nvSpPr>
        <p:spPr>
          <a:xfrm>
            <a:off x="4653260" y="2966293"/>
            <a:ext cx="4043065" cy="1652141"/>
          </a:xfrm>
          <a:prstGeom prst="roundRect">
            <a:avLst>
              <a:gd name="adj" fmla="val 5227"/>
            </a:avLst>
          </a:prstGeom>
          <a:solidFill>
            <a:srgbClr val="3D6B4A"/>
          </a:solidFill>
          <a:ln w="9525">
            <a:solidFill>
              <a:srgbClr val="A8C4AF">
                <a:alpha val="8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4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       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Next: model sequences &amp; intervention</a:t>
            </a:r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D44F18AB-E875-8BEF-EAC5-99CA3905B906}"/>
              </a:ext>
            </a:extLst>
          </p:cNvPr>
          <p:cNvSpPr/>
          <p:nvPr/>
        </p:nvSpPr>
        <p:spPr>
          <a:xfrm>
            <a:off x="4853880" y="3133279"/>
            <a:ext cx="285750" cy="285750"/>
          </a:xfrm>
          <a:prstGeom prst="roundRect">
            <a:avLst>
              <a:gd name="adj" fmla="val 24889"/>
            </a:avLst>
          </a:prstGeom>
          <a:solidFill>
            <a:srgbClr val="5C8A65">
              <a:alpha val="12000"/>
            </a:srgbClr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8" name="Image 3" descr="preencoded.png">
            <a:extLst>
              <a:ext uri="{FF2B5EF4-FFF2-40B4-BE49-F238E27FC236}">
                <a16:creationId xmlns:a16="http://schemas.microsoft.com/office/drawing/2014/main" id="{CB62D4F5-8BCA-E56C-8320-A2E5A59E29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30387" y="3209785"/>
            <a:ext cx="132588" cy="132588"/>
          </a:xfrm>
          <a:prstGeom prst="rect">
            <a:avLst/>
          </a:prstGeom>
        </p:spPr>
      </p:pic>
      <p:sp>
        <p:nvSpPr>
          <p:cNvPr id="29" name="Text 23">
            <a:extLst>
              <a:ext uri="{FF2B5EF4-FFF2-40B4-BE49-F238E27FC236}">
                <a16:creationId xmlns:a16="http://schemas.microsoft.com/office/drawing/2014/main" id="{E3EEDCE1-B369-51C6-B1E8-1DCA9C7ED399}"/>
              </a:ext>
            </a:extLst>
          </p:cNvPr>
          <p:cNvSpPr/>
          <p:nvPr/>
        </p:nvSpPr>
        <p:spPr>
          <a:xfrm>
            <a:off x="4853880" y="3451744"/>
            <a:ext cx="3695230" cy="594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88"/>
              </a:lnSpc>
              <a:buNone/>
            </a:pPr>
            <a:r>
              <a:rPr lang="en-US" sz="960" b="1" dirty="0">
                <a:solidFill>
                  <a:srgbClr val="BC9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directions:</a:t>
            </a: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sequence models (LSTM/Transformers) for temporal dynamics, larger datasets, </a:t>
            </a:r>
            <a:r>
              <a:rPr lang="en-US" sz="960" dirty="0">
                <a:solidFill>
                  <a:schemeClr val="accent4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real-time intervention systems </a:t>
            </a:r>
            <a:r>
              <a:rPr lang="en-US" sz="96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respond to behavior as it is unfolding.</a:t>
            </a:r>
            <a:endParaRPr lang="en-US" sz="960" dirty="0"/>
          </a:p>
        </p:txBody>
      </p:sp>
      <p:sp>
        <p:nvSpPr>
          <p:cNvPr id="30" name="Text 24">
            <a:extLst>
              <a:ext uri="{FF2B5EF4-FFF2-40B4-BE49-F238E27FC236}">
                <a16:creationId xmlns:a16="http://schemas.microsoft.com/office/drawing/2014/main" id="{17540CBD-4F71-9FF7-75AD-0200ABF755CF}"/>
              </a:ext>
            </a:extLst>
          </p:cNvPr>
          <p:cNvSpPr/>
          <p:nvPr/>
        </p:nvSpPr>
        <p:spPr>
          <a:xfrm>
            <a:off x="457200" y="4781252"/>
            <a:ext cx="342900" cy="13841"/>
          </a:xfrm>
          <a:prstGeom prst="roundRect">
            <a:avLst>
              <a:gd name="adj" fmla="val 55054"/>
            </a:avLst>
          </a:prstGeom>
          <a:solidFill>
            <a:srgbClr val="BC9000"/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B41E34C9-74D0-D1C4-59CB-493A19330209}"/>
              </a:ext>
            </a:extLst>
          </p:cNvPr>
          <p:cNvSpPr/>
          <p:nvPr/>
        </p:nvSpPr>
        <p:spPr>
          <a:xfrm>
            <a:off x="886420" y="4718745"/>
            <a:ext cx="3666798" cy="139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1095"/>
              </a:lnSpc>
              <a:buNone/>
            </a:pPr>
            <a:r>
              <a:rPr lang="en-US" sz="73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Novice Programmer Performance from AI-Tutor Interaction Logs</a:t>
            </a:r>
            <a:endParaRPr lang="en-US" sz="730" dirty="0"/>
          </a:p>
        </p:txBody>
      </p:sp>
    </p:spTree>
    <p:extLst>
      <p:ext uri="{BB962C8B-B14F-4D97-AF65-F5344CB8AC3E}">
        <p14:creationId xmlns:p14="http://schemas.microsoft.com/office/powerpoint/2010/main" val="15133338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101"/>
    </mc:Choice>
    <mc:Fallback>
      <p:transition spd="slow" advTm="1710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52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BC9000">
                  <a:alpha val="4000"/>
                </a:srgbClr>
              </a:gs>
              <a:gs pos="50000">
                <a:srgbClr val="1A1A1A">
                  <a:alpha val="0"/>
                </a:srgbClr>
              </a:gs>
            </a:gsLst>
            <a:path path="circle">
              <a:fillToRect l="80000" t="20000" r="20000" b="8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26776" y="156865"/>
            <a:ext cx="9144000" cy="5143500"/>
          </a:xfrm>
          <a:prstGeom prst="rect">
            <a:avLst/>
          </a:prstGeom>
          <a:gradFill rotWithShape="1">
            <a:gsLst>
              <a:gs pos="0">
                <a:srgbClr val="BC9000">
                  <a:alpha val="3000"/>
                </a:srgbClr>
              </a:gs>
              <a:gs pos="50000">
                <a:srgbClr val="1A1A1A">
                  <a:alpha val="0"/>
                </a:srgbClr>
              </a:gs>
            </a:gsLst>
            <a:path path="circle">
              <a:fillToRect l="20000" t="80000" r="80000" b="20000"/>
            </a:path>
          </a:gra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873773" y="685800"/>
            <a:ext cx="1466277" cy="342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ts val="27000"/>
              </a:lnSpc>
              <a:buNone/>
            </a:pPr>
            <a:r>
              <a:rPr lang="en-US" sz="18000" b="1" dirty="0">
                <a:solidFill>
                  <a:srgbClr val="BC9000">
                    <a:alpha val="3000"/>
                  </a:srgbClr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?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8839200" y="4286250"/>
            <a:ext cx="19050" cy="571500"/>
          </a:xfrm>
          <a:prstGeom prst="rect">
            <a:avLst/>
          </a:prstGeom>
          <a:solidFill>
            <a:srgbClr val="BC9000"/>
          </a:solidFill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344194" y="1061293"/>
            <a:ext cx="2455463" cy="56569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4455"/>
              </a:lnSpc>
              <a:spcAft>
                <a:spcPts val="450"/>
              </a:spcAft>
              <a:buNone/>
            </a:pPr>
            <a:r>
              <a:rPr lang="en-US" sz="4050" kern="0" spc="-8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Thank You</a:t>
            </a:r>
            <a:endParaRPr lang="en-US" sz="4050" dirty="0"/>
          </a:p>
        </p:txBody>
      </p:sp>
      <p:sp>
        <p:nvSpPr>
          <p:cNvPr id="7" name="Text 5"/>
          <p:cNvSpPr/>
          <p:nvPr/>
        </p:nvSpPr>
        <p:spPr>
          <a:xfrm>
            <a:off x="4143375" y="1798439"/>
            <a:ext cx="857250" cy="29170"/>
          </a:xfrm>
          <a:prstGeom prst="roundRect">
            <a:avLst>
              <a:gd name="adj" fmla="val 47892"/>
            </a:avLst>
          </a:prstGeom>
          <a:solidFill>
            <a:srgbClr val="BC9000"/>
          </a:solidFill>
          <a:ln/>
          <a:effectLst>
            <a:outerShdw blurRad="143510" dist="50800" dir="16200000" algn="bl" rotWithShape="0">
              <a:srgbClr val="BC9000">
                <a:alpha val="50000"/>
              </a:srgbClr>
            </a:outerShdw>
          </a:effectLst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835174" y="1834837"/>
            <a:ext cx="1504876" cy="38665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3045"/>
              </a:lnSpc>
              <a:spcAft>
                <a:spcPts val="2700"/>
              </a:spcAft>
              <a:buNone/>
            </a:pPr>
            <a:r>
              <a:rPr lang="en-US" sz="2030" kern="0" spc="81" dirty="0">
                <a:solidFill>
                  <a:srgbClr val="BC9000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Questions?</a:t>
            </a:r>
            <a:endParaRPr lang="en-US" sz="2030" dirty="0"/>
          </a:p>
        </p:txBody>
      </p:sp>
      <p:sp>
        <p:nvSpPr>
          <p:cNvPr id="9" name="Text 7"/>
          <p:cNvSpPr/>
          <p:nvPr/>
        </p:nvSpPr>
        <p:spPr>
          <a:xfrm>
            <a:off x="2474863" y="2728615"/>
            <a:ext cx="4194274" cy="860227"/>
          </a:xfrm>
          <a:prstGeom prst="roundRect">
            <a:avLst>
              <a:gd name="adj" fmla="val 10039"/>
            </a:avLst>
          </a:prstGeom>
          <a:solidFill>
            <a:srgbClr val="3D6B4A"/>
          </a:solidFill>
          <a:ln w="9525">
            <a:solidFill>
              <a:srgbClr val="BC9000">
                <a:alpha val="15000"/>
              </a:srgbClr>
            </a:solidFill>
          </a:ln>
        </p:spPr>
        <p:txBody>
          <a:bodyPr wrap="squar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03622" y="2950824"/>
            <a:ext cx="132588" cy="1325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038057" y="2909590"/>
            <a:ext cx="1246331" cy="2152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695"/>
              </a:lnSpc>
              <a:buNone/>
            </a:pPr>
            <a:r>
              <a:rPr lang="en-US" sz="11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Anissa Williams</a:t>
            </a:r>
            <a:endParaRPr lang="en-US" sz="113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03856" y="3250192"/>
            <a:ext cx="132588" cy="1325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913645" y="3225105"/>
            <a:ext cx="1885131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6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anissawilliamschs@gmail.com</a:t>
            </a:r>
            <a:endParaRPr lang="en-US" sz="960" dirty="0"/>
          </a:p>
        </p:txBody>
      </p:sp>
      <p:sp>
        <p:nvSpPr>
          <p:cNvPr id="14" name="Text 10"/>
          <p:cNvSpPr/>
          <p:nvPr/>
        </p:nvSpPr>
        <p:spPr>
          <a:xfrm>
            <a:off x="4799409" y="3298775"/>
            <a:ext cx="35421" cy="35421"/>
          </a:xfrm>
          <a:prstGeom prst="ellipse">
            <a:avLst/>
          </a:prstGeom>
          <a:solidFill>
            <a:srgbClr val="BC9000">
              <a:alpha val="60000"/>
            </a:srgbClr>
          </a:solidFill>
          <a:ln/>
        </p:spPr>
        <p:txBody>
          <a:bodyPr wrap="none" rtlCol="0" anchor="t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97719" y="3250192"/>
            <a:ext cx="132588" cy="1325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032020" y="3225105"/>
            <a:ext cx="1345868" cy="1827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440"/>
              </a:lnSpc>
              <a:buNone/>
            </a:pPr>
            <a:r>
              <a:rPr lang="en-US" sz="960" dirty="0">
                <a:solidFill>
                  <a:srgbClr val="A8C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College of Charleston</a:t>
            </a:r>
            <a:endParaRPr lang="en-US" sz="960" dirty="0"/>
          </a:p>
        </p:txBody>
      </p:sp>
      <p:sp>
        <p:nvSpPr>
          <p:cNvPr id="17" name="Text 12"/>
          <p:cNvSpPr/>
          <p:nvPr/>
        </p:nvSpPr>
        <p:spPr>
          <a:xfrm>
            <a:off x="3551925" y="3931741"/>
            <a:ext cx="2040002" cy="15046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185"/>
              </a:lnSpc>
              <a:spcBef>
                <a:spcPts val="2700"/>
              </a:spcBef>
              <a:buNone/>
            </a:pPr>
            <a:r>
              <a:rPr lang="en-US" sz="790" kern="0" spc="63" dirty="0">
                <a:solidFill>
                  <a:srgbClr val="A8C4AF">
                    <a:alpha val="6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APRIL 2026</a:t>
            </a:r>
            <a:endParaRPr lang="en-US" sz="79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F00AFAF-C6C7-2854-18FC-681D4E2B0E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5806" y="4316063"/>
            <a:ext cx="412812" cy="41281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B681205-EB0F-D1B1-10D4-5F340FD790E9}"/>
              </a:ext>
            </a:extLst>
          </p:cNvPr>
          <p:cNvSpPr txBox="1"/>
          <p:nvPr/>
        </p:nvSpPr>
        <p:spPr>
          <a:xfrm>
            <a:off x="2803856" y="4399359"/>
            <a:ext cx="494423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chemeClr val="accent4"/>
                </a:solidFill>
              </a:rPr>
              <a:t>https://</a:t>
            </a:r>
            <a:r>
              <a:rPr lang="en-US" sz="1000" dirty="0" err="1">
                <a:solidFill>
                  <a:schemeClr val="accent4"/>
                </a:solidFill>
              </a:rPr>
              <a:t>github.com</a:t>
            </a:r>
            <a:r>
              <a:rPr lang="en-US" sz="1000" dirty="0">
                <a:solidFill>
                  <a:schemeClr val="accent4"/>
                </a:solidFill>
              </a:rPr>
              <a:t>/</a:t>
            </a:r>
            <a:r>
              <a:rPr lang="en-US" sz="1000" dirty="0" err="1">
                <a:solidFill>
                  <a:schemeClr val="accent4"/>
                </a:solidFill>
              </a:rPr>
              <a:t>anissawilliams</a:t>
            </a:r>
            <a:r>
              <a:rPr lang="en-US" sz="1000" dirty="0">
                <a:solidFill>
                  <a:schemeClr val="accent4"/>
                </a:solidFill>
              </a:rPr>
              <a:t>/</a:t>
            </a:r>
            <a:r>
              <a:rPr lang="en-US" sz="1000" dirty="0" err="1">
                <a:solidFill>
                  <a:schemeClr val="accent4"/>
                </a:solidFill>
              </a:rPr>
              <a:t>JavaTutorDataPredictiveModeling</a:t>
            </a:r>
            <a:endParaRPr lang="en-US" sz="1000" dirty="0">
              <a:solidFill>
                <a:schemeClr val="accent4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746"/>
    </mc:Choice>
    <mc:Fallback>
      <p:transition spd="slow" advTm="1746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10467</TotalTime>
  <Words>3904</Words>
  <Application>Microsoft Macintosh PowerPoint</Application>
  <PresentationFormat>On-screen Show (16:9)</PresentationFormat>
  <Paragraphs>482</Paragraphs>
  <Slides>20</Slides>
  <Notes>20</Notes>
  <HiddenSlides>5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-webkit-standard</vt:lpstr>
      <vt:lpstr>Arial</vt:lpstr>
      <vt:lpstr>Calibri</vt:lpstr>
      <vt:lpstr>Calibri Light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>PptxGenJS Presentation</dc:subject>
  <dc:creator>docgen</dc:creator>
  <cp:lastModifiedBy>Williams, Anissa (Student)</cp:lastModifiedBy>
  <cp:revision>15</cp:revision>
  <dcterms:created xsi:type="dcterms:W3CDTF">2026-04-11T02:57:25Z</dcterms:created>
  <dcterms:modified xsi:type="dcterms:W3CDTF">2026-04-22T00:29:19Z</dcterms:modified>
</cp:coreProperties>
</file>